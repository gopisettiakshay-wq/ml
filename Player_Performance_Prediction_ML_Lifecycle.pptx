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e969233-2030-46ed-7b57-069aba504a9b}">
          <p14:sldIdLst>
            <p14:sldId id="256"/>
            <p14:sldId id="257"/>
          </p14:sldIdLst>
        </p14:section>
        <p14:section name="Define and collect" id="{f2b0a66a-4b8d-84e5-c05e-f4714c16b345}">
          <p14:sldIdLst>
            <p14:sldId id="258"/>
            <p14:sldId id="259"/>
          </p14:sldIdLst>
        </p14:section>
        <p14:section name="Explore and prepare" id="{b775a8ea-f21f-8bdd-1dc6-941479150150}">
          <p14:sldIdLst>
            <p14:sldId id="260"/>
            <p14:sldId id="261"/>
            <p14:sldId id="262"/>
            <p14:sldId id="263"/>
          </p14:sldIdLst>
        </p14:section>
        <p14:section name="Model" id="{98a01e7f-5682-3aa1-b2a5-db06b76e9b3a}">
          <p14:sldIdLst>
            <p14:sldId id="264"/>
            <p14:sldId id="265"/>
          </p14:sldIdLst>
        </p14:section>
        <p14:section name="Evaluate" id="{780f6b06-a177-b786-907d-b46d373fb617}">
          <p14:sldIdLst>
            <p14:sldId id="266"/>
            <p14:sldId id="267"/>
            <p14:sldId id="268"/>
          </p14:sldIdLst>
        </p14:section>
        <p14:section name="Deploy and wrap up" id="{6e3429a0-5abd-a96e-743b-115967c71e7b}">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6ECE9"/>
                </a:solidFill>
                <a:latin typeface="+mn-lt"/>
              </a:defRPr>
            </a:pPr>
            <a:r>
              <a:rPr sz="1400" b="0" i="0" u="none" strike="noStrike">
                <a:solidFill>
                  <a:srgbClr val="E6ECE9"/>
                </a:solidFill>
                <a:latin typeface="+mn-lt"/>
              </a:rPr>
              <a:t>Innings scores in runs (15,466 player-innings)</a:t>
            </a:r>
          </a:p>
        </c:rich>
      </c:tx>
      <c:layout/>
      <c:overlay val="0"/>
    </c:title>
    <c:autoTitleDeleted val="0"/>
    <c:plotArea>
      <c:layout/>
      <c:barChart>
        <c:barDir val="col"/>
        <c:grouping val="clustered"/>
        <c:varyColors val="0"/>
        <c:ser>
          <c:idx val="0"/>
          <c:order val="0"/>
          <c:tx>
            <c:strRef>
              <c:f>Sheet1!$B$1</c:f>
              <c:strCache>
                <c:ptCount val="1"/>
                <c:pt idx="0">
                  <c:v>Innings</c:v>
                </c:pt>
              </c:strCache>
            </c:strRef>
          </c:tx>
          <c:spPr>
            <a:solidFill>
              <a:srgbClr val="4CC38A"/>
            </a:solidFill>
            <a:effectLst/>
          </c:spPr>
          <c:invertIfNegative val="0"/>
          <c:dLbls>
            <c:numFmt formatCode="#,##0" sourceLinked="0"/>
            <c:txPr>
              <a:bodyPr/>
              <a:lstStyle/>
              <a:p>
                <a:pPr>
                  <a:defRPr b="0" i="0" strike="noStrike" sz="1200" u="none">
                    <a:solidFill>
                      <a:srgbClr val="E6ECE9"/>
                    </a:solidFill>
                    <a:latin typeface="+mn-lt"/>
                  </a:defRPr>
                </a:pPr>
              </a:p>
            </c:txPr>
            <c:showLegendKey val="0"/>
            <c:showVal val="1"/>
            <c:showCatName val="0"/>
            <c:showSerName val="0"/>
            <c:showPercent val="0"/>
            <c:showBubbleSize val="0"/>
            <c:showLeaderLines val="0"/>
          </c:dLbls>
          <c:cat>
            <c:multiLvlStrRef>
              <c:f>Sheet1!$A$2:$A$9</c:f>
              <c:multiLvlStrCache>
                <c:ptCount val="8"/>
                <c:lvl>
                  <c:pt idx="0">
                    <c:v>0</c:v>
                  </c:pt>
                  <c:pt idx="1">
                    <c:v>1–9</c:v>
                  </c:pt>
                  <c:pt idx="2">
                    <c:v>10–19</c:v>
                  </c:pt>
                  <c:pt idx="3">
                    <c:v>20–29</c:v>
                  </c:pt>
                  <c:pt idx="4">
                    <c:v>30–39</c:v>
                  </c:pt>
                  <c:pt idx="5">
                    <c:v>40–49</c:v>
                  </c:pt>
                  <c:pt idx="6">
                    <c:v>50–59</c:v>
                  </c:pt>
                  <c:pt idx="7">
                    <c:v>60+</c:v>
                  </c:pt>
                </c:lvl>
              </c:multiLvlStrCache>
            </c:multiLvlStrRef>
          </c:cat>
          <c:val>
            <c:numRef>
              <c:f>Sheet1!$B$2:$B$9</c:f>
              <c:numCache>
                <c:formatCode>General</c:formatCode>
                <c:ptCount val="8"/>
                <c:pt idx="0">
                  <c:v>1368</c:v>
                </c:pt>
                <c:pt idx="1">
                  <c:v>5277</c:v>
                </c:pt>
                <c:pt idx="2">
                  <c:v>3075</c:v>
                </c:pt>
                <c:pt idx="3">
                  <c:v>1956</c:v>
                </c:pt>
                <c:pt idx="4">
                  <c:v>1280</c:v>
                </c:pt>
                <c:pt idx="5">
                  <c:v>860</c:v>
                </c:pt>
                <c:pt idx="6">
                  <c:v>672</c:v>
                </c:pt>
                <c:pt idx="7">
                  <c:v>978</c:v>
                </c:pt>
              </c:numCache>
            </c:numRef>
          </c:val>
        </c:ser>
        <c:dLbls>
          <c:numFmt formatCode="#,##0" sourceLinked="0"/>
          <c:txPr>
            <a:bodyPr/>
            <a:lstStyle/>
            <a:p>
              <a:pPr>
                <a:defRPr b="0" i="0" strike="noStrike" sz="1200" u="none">
                  <a:solidFill>
                    <a:srgbClr val="E6ECE9"/>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AB8B2"/>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26323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AB8B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6ECE9"/>
                </a:solidFill>
                <a:latin typeface="+mn-lt"/>
              </a:defRPr>
            </a:pPr>
            <a:r>
              <a:rPr sz="1400" b="0" i="0" u="none" strike="noStrike">
                <a:solidFill>
                  <a:srgbClr val="E6ECE9"/>
                </a:solidFill>
                <a:latin typeface="+mn-lt"/>
              </a:rPr>
              <a:t>Test error in runs (lower is better)</a:t>
            </a:r>
          </a:p>
        </c:rich>
      </c:tx>
      <c:layout/>
      <c:overlay val="0"/>
    </c:title>
    <c:autoTitleDeleted val="0"/>
    <c:plotArea>
      <c:layout/>
      <c:barChart>
        <c:barDir val="col"/>
        <c:grouping val="clustered"/>
        <c:varyColors val="0"/>
        <c:ser>
          <c:idx val="0"/>
          <c:order val="0"/>
          <c:tx>
            <c:strRef>
              <c:f>Sheet1!$B$1</c:f>
              <c:strCache>
                <c:ptCount val="1"/>
                <c:pt idx="0">
                  <c:v>MAE</c:v>
                </c:pt>
              </c:strCache>
            </c:strRef>
          </c:tx>
          <c:spPr>
            <a:solidFill>
              <a:srgbClr val="4CC38A"/>
            </a:solidFill>
            <a:effectLst/>
          </c:spPr>
          <c:invertIfNegative val="0"/>
          <c:dLbls>
            <c:numFmt formatCode="0.0" sourceLinked="0"/>
            <c:txPr>
              <a:bodyPr/>
              <a:lstStyle/>
              <a:p>
                <a:pPr>
                  <a:defRPr b="0" i="0" strike="noStrike" sz="1200" u="none">
                    <a:solidFill>
                      <a:srgbClr val="E6ECE9"/>
                    </a:solidFill>
                    <a:latin typeface="+mn-lt"/>
                  </a:defRPr>
                </a:pPr>
              </a:p>
            </c:txPr>
            <c:showLegendKey val="0"/>
            <c:showVal val="1"/>
            <c:showCatName val="0"/>
            <c:showSerName val="0"/>
            <c:showPercent val="0"/>
            <c:showBubbleSize val="0"/>
            <c:showLeaderLines val="0"/>
          </c:dLbls>
          <c:cat>
            <c:multiLvlStrRef>
              <c:f>Sheet1!$A$2:$A$4</c:f>
              <c:multiLvlStrCache>
                <c:ptCount val="3"/>
                <c:lvl>
                  <c:pt idx="0">
                    <c:v>Ridge</c:v>
                  </c:pt>
                  <c:pt idx="1">
                    <c:v>Lasso</c:v>
                  </c:pt>
                  <c:pt idx="2">
                    <c:v>Baseline</c:v>
                  </c:pt>
                </c:lvl>
              </c:multiLvlStrCache>
            </c:multiLvlStrRef>
          </c:cat>
          <c:val>
            <c:numRef>
              <c:f>Sheet1!$B$2:$B$4</c:f>
              <c:numCache>
                <c:formatCode>General</c:formatCode>
                <c:ptCount val="3"/>
                <c:pt idx="0">
                  <c:v>16.018</c:v>
                </c:pt>
                <c:pt idx="1">
                  <c:v>16.011</c:v>
                </c:pt>
                <c:pt idx="2">
                  <c:v>17.455</c:v>
                </c:pt>
              </c:numCache>
            </c:numRef>
          </c:val>
        </c:ser>
        <c:ser>
          <c:idx val="1"/>
          <c:order val="1"/>
          <c:tx>
            <c:strRef>
              <c:f>Sheet1!$C$1</c:f>
              <c:strCache>
                <c:ptCount val="1"/>
                <c:pt idx="0">
                  <c:v>RMSE</c:v>
                </c:pt>
              </c:strCache>
            </c:strRef>
          </c:tx>
          <c:spPr>
            <a:solidFill>
              <a:srgbClr val="E3A73B"/>
            </a:solidFill>
            <a:effectLst/>
          </c:spPr>
          <c:invertIfNegative val="0"/>
          <c:dLbls>
            <c:numFmt formatCode="0.0" sourceLinked="0"/>
            <c:txPr>
              <a:bodyPr/>
              <a:lstStyle/>
              <a:p>
                <a:pPr>
                  <a:defRPr b="0" i="0" strike="noStrike" sz="1200" u="none">
                    <a:solidFill>
                      <a:srgbClr val="E6ECE9"/>
                    </a:solidFill>
                    <a:latin typeface="+mn-lt"/>
                  </a:defRPr>
                </a:pPr>
              </a:p>
            </c:txPr>
            <c:showLegendKey val="0"/>
            <c:showVal val="1"/>
            <c:showCatName val="0"/>
            <c:showSerName val="0"/>
            <c:showPercent val="0"/>
            <c:showBubbleSize val="0"/>
            <c:showLeaderLines val="0"/>
          </c:dLbls>
          <c:cat>
            <c:multiLvlStrRef>
              <c:f>Sheet1!$A$2:$A$4</c:f>
              <c:multiLvlStrCache>
                <c:ptCount val="3"/>
                <c:lvl>
                  <c:pt idx="0">
                    <c:v>Ridge</c:v>
                  </c:pt>
                  <c:pt idx="1">
                    <c:v>Lasso</c:v>
                  </c:pt>
                  <c:pt idx="2">
                    <c:v>Baseline</c:v>
                  </c:pt>
                </c:lvl>
              </c:multiLvlStrCache>
            </c:multiLvlStrRef>
          </c:cat>
          <c:val>
            <c:numRef>
              <c:f>Sheet1!$C$2:$C$4</c:f>
              <c:numCache>
                <c:formatCode>General</c:formatCode>
                <c:ptCount val="3"/>
                <c:pt idx="0">
                  <c:v>21.273</c:v>
                </c:pt>
                <c:pt idx="1">
                  <c:v>21.267</c:v>
                </c:pt>
                <c:pt idx="2">
                  <c:v>22.669</c:v>
                </c:pt>
              </c:numCache>
            </c:numRef>
          </c:val>
        </c:ser>
        <c:dLbls>
          <c:numFmt formatCode="0.0" sourceLinked="0"/>
          <c:txPr>
            <a:bodyPr/>
            <a:lstStyle/>
            <a:p>
              <a:pPr>
                <a:defRPr b="0" i="0" strike="noStrike" sz="1200" u="none">
                  <a:solidFill>
                    <a:srgbClr val="E6ECE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AB8B2"/>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26323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AB8B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AAB8B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predicting a batter's runs in an IPL innings with Ridge and Lasso regression. The talk follows the machine learning life cycle from problem definition to monitoring, using this project as the running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life cycle has eight stages. Each one maps to a slide in this deck. The cycle is a loop: monitoring tells us when to collect new data and retrain.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before touching data. The target is runs off the bat in one innings. The model must beat a trivial baseline: always predicting the average, which is off by about 17.5 runs on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is ball-by-ball IPL data: 243,817 deliveries across 1,024 matches and 16 seasons. Ball-by-ball records can be rolled up to any unit, which is why we chose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findings from all 15,466 player-innings: scores are right-skewed (median 12, mean 19.8, skew 1.58). 8.8 percent are zero and 10.7 percent reach 50. First and second innings are similar. Career average has the strongest simple link to the score at r = 0.32 in the modelled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turns deliveries into player-innings. The target sums runs off the bat only. Zeros are kept because they are genuine outcomes. No outliers are removed because a score of 175 really happened. Rows need at least three earlier innings so history features are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come in four groups: career form, recent form, experience and rest, and match context. That is 17 numeric features plus 84 one-hot columns, 101 inputs in total. The key rule is that every history feature is shifted by one innings first, so the innings being predicted never feeds its own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random split would let future innings train the model and give optimistic scores. We split by date: everything before 1 January 2022 trains, 2022 to 2023 tests. The scaler and encoder sit inside the pipeline and are fitted on training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contenders. The baseline predicts the mean. Ridge adds an L2 penalty that shrinks all coefficients. Lasso adds an L1 penalty that sets weak coefficients exactly to zero. We use regularised linear models because there are 101 inputs and many are correlated, and they are interpretable and fast to retrain.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runs inside one pipeline: scale numeric features, one-hot encode categories, then fit Ridge or Lasso with a cross-validated search over 25 alpha values from 0.01 to 10,000. The chosen alpha is 56.2 for Ridge and 0.0316 for Lasso, and Lasso keeps 34 of the 101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2,117 unseen innings from 2022 and 2023, both regularised models beat the baseline on every metric. Lasso edges Ridge: MAE 16.011 against 16.018. The MAE drop against the baseline is 8.3 percent. R-squared is 0.119, which is modest, and we say so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 shows predictions staying in a band of roughly 2 to 40 runs while actual scores run to 140. The models pull toward the middle and under-predict big innings. That is expected: a single innings is noisy, and history features cannot see the pitch or the bowler on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Lasso keeps 34 of 101 inputs and sets the rest to exactly zero, yet matches Ridge on accuracy. The largest weights belong to the innings number, career average and career runs, plus a few venues. Where both models keep a feature, the sign 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a small Flask service. train.py writes the fitted models and metrics to disk, the API serves metadata, players and predictions, and the web app calls it. Monitoring means checking error against the baseline every season and retraining as new matches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regularised linear models beat the baseline by 8.3 percent on MAE, but R-squared is only about 0.12, so single innings stay hard to call. Lasso matches Ridge with a third of the inputs. Next steps add richer context features, try boosted trees, and automate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6400800" cy="2103120"/>
          </a:xfrm>
          <a:prstGeom prst="rect">
            <a:avLst/>
          </a:prstGeom>
          <a:noFill/>
          <a:ln/>
        </p:spPr>
        <p:txBody>
          <a:bodyPr wrap="square" rtlCol="0"/>
          <a:lstStyle>
            <a:lvl1pPr algn="l" indent="0" marL="0">
              <a:buNone/>
              <a:defRPr lang="en-US" sz="4600" b="1" dirty="0">
                <a:solidFill>
                  <a:schemeClr val="tx1"/>
                </a:solidFill>
              </a:defRPr>
            </a:lvl1pPr>
          </a:lstStyle>
          <a:p>
            <a:pPr algn="l" indent="0" marL="0">
              <a:buNone/>
            </a:pPr>
            <a:endParaRPr lang="en-US" sz="4600" dirty="0"/>
          </a:p>
        </p:txBody>
      </p:sp>
      <p:sp>
        <p:nvSpPr>
          <p:cNvPr id="3" name="Text 0"/>
          <p:cNvSpPr/>
          <p:nvPr>
            <p:ph idx="101" type="body" hasCustomPrompt="1"/>
          </p:nvPr>
        </p:nvSpPr>
        <p:spPr>
          <a:xfrm>
            <a:off x="731520" y="3429000"/>
            <a:ext cx="6400800" cy="640080"/>
          </a:xfrm>
          <a:prstGeom prst="rect">
            <a:avLst/>
          </a:prstGeom>
          <a:noFill/>
          <a:ln/>
        </p:spPr>
        <p:txBody>
          <a:bodyPr wrap="square" rtlCol="0"/>
          <a:lstStyle>
            <a:lvl1pPr algn="l" indent="0" marL="0">
              <a:buNone/>
              <a:defRPr lang="en-US" sz="2400" dirty="0">
                <a:solidFill>
                  <a:schemeClr val="accent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Player Performance Prediction · Ridge and Lasso Regression</a:t>
            </a:r>
            <a:endParaRPr lang="en-US" sz="1000" dirty="0"/>
          </a:p>
        </p:txBody>
      </p:sp>
      <p:sp>
        <p:nvSpPr>
          <p:cNvPr id="3" name="Text 1"/>
          <p:cNvSpPr/>
          <p:nvPr>
            <p:ph idx="101" type="title" hasCustomPrompt="1"/>
          </p:nvPr>
        </p:nvSpPr>
        <p:spPr>
          <a:xfrm>
            <a:off x="548640" y="365760"/>
            <a:ext cx="813816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731520" y="1188720"/>
            <a:ext cx="6400800" cy="2103120"/>
          </a:xfrm>
          <a:prstGeom prst="rect">
            <a:avLst/>
          </a:prstGeom>
          <a:noFill/>
          <a:ln/>
        </p:spPr>
        <p:txBody>
          <a:bodyPr wrap="square" lIns="0" tIns="0" rIns="0" bIns="0" rtlCol="0" anchor="b"/>
          <a:lstStyle/>
          <a:p>
            <a:pPr algn="l" indent="0" marL="0">
              <a:buNone/>
            </a:pPr>
            <a:r>
              <a:rPr lang="en-US" sz="4600" b="1" dirty="0">
                <a:solidFill>
                  <a:schemeClr val="tx1"/>
                </a:solidFill>
              </a:rPr>
              <a:t>Player Performance Prediction</a:t>
            </a:r>
            <a:endParaRPr lang="en-US" sz="4600" dirty="0"/>
          </a:p>
        </p:txBody>
      </p:sp>
      <p:sp>
        <p:nvSpPr>
          <p:cNvPr id="4" name="Text 0"/>
          <p:cNvSpPr/>
          <p:nvPr>
            <p:ph idx="101" type="body" hasCustomPrompt="1"/>
          </p:nvPr>
        </p:nvSpPr>
        <p:spPr>
          <a:xfrm>
            <a:off x="731520" y="3429000"/>
            <a:ext cx="6400800" cy="640080"/>
          </a:xfrm>
          <a:prstGeom prst="rect">
            <a:avLst/>
          </a:prstGeom>
          <a:noFill/>
          <a:ln/>
        </p:spPr>
        <p:txBody>
          <a:bodyPr wrap="square" lIns="0" tIns="0" rIns="0" bIns="0" rtlCol="0" anchor="t"/>
          <a:lstStyle/>
          <a:p>
            <a:pPr algn="l" indent="0" marL="0">
              <a:buNone/>
            </a:pPr>
            <a:r>
              <a:rPr lang="en-US" sz="2400" dirty="0">
                <a:solidFill>
                  <a:schemeClr val="accent1"/>
                </a:solidFill>
              </a:rPr>
              <a:t>Using Ridge and Lasso Regression</a:t>
            </a:r>
            <a:endParaRPr lang="en-US" sz="2400" dirty="0"/>
          </a:p>
        </p:txBody>
      </p:sp>
      <p:sp>
        <p:nvSpPr>
          <p:cNvPr id="5" name="Descriptor"/>
          <p:cNvSpPr txBox="1"/>
          <p:nvPr/>
        </p:nvSpPr>
        <p:spPr>
          <a:xfrm>
            <a:off x="731520" y="4206240"/>
            <a:ext cx="6400800" cy="685800"/>
          </a:xfrm>
          <a:prstGeom prst="rect">
            <a:avLst/>
          </a:prstGeom>
          <a:noFill/>
          <a:ln/>
        </p:spPr>
        <p:txBody>
          <a:bodyPr wrap="square" lIns="0" tIns="0" rIns="0" bIns="0" rtlCol="0" anchor="t"/>
          <a:lstStyle/>
          <a:p>
            <a:pPr indent="0" marL="0">
              <a:buNone/>
            </a:pPr>
            <a:r>
              <a:rPr lang="en-US" sz="1600" dirty="0">
                <a:solidFill>
                  <a:schemeClr val="tx2"/>
                </a:solidFill>
              </a:rPr>
              <a:t>A walk through the machine learning life cycle on IPL batting data</a:t>
            </a:r>
            <a:endParaRPr lang="en-US" sz="1600" dirty="0"/>
          </a:p>
        </p:txBody>
      </p:sp>
      <p:sp>
        <p:nvSpPr>
          <p:cNvPr id="6" name="Team members"/>
          <p:cNvSpPr txBox="1"/>
          <p:nvPr/>
        </p:nvSpPr>
        <p:spPr>
          <a:xfrm>
            <a:off x="731520" y="5394960"/>
            <a:ext cx="6035040" cy="320040"/>
          </a:xfrm>
          <a:prstGeom prst="rect">
            <a:avLst/>
          </a:prstGeom>
          <a:noFill/>
          <a:ln/>
        </p:spPr>
        <p:txBody>
          <a:bodyPr wrap="square" lIns="0" tIns="0" rIns="0" bIns="0" rtlCol="0" anchor="t"/>
          <a:lstStyle/>
          <a:p>
            <a:pPr indent="0" marL="0">
              <a:buNone/>
            </a:pPr>
            <a:r>
              <a:rPr lang="en-US" sz="1600" b="1" dirty="0">
                <a:solidFill>
                  <a:schemeClr val="tx1"/>
                </a:solidFill>
              </a:rPr>
              <a:t>M Jashwanth Reddy · G Akshay</a:t>
            </a:r>
            <a:endParaRPr lang="en-US" sz="1600" dirty="0"/>
          </a:p>
        </p:txBody>
      </p:sp>
      <p:sp>
        <p:nvSpPr>
          <p:cNvPr id="7" name="Guide and team"/>
          <p:cNvSpPr txBox="1"/>
          <p:nvPr/>
        </p:nvSpPr>
        <p:spPr>
          <a:xfrm>
            <a:off x="731520" y="5760720"/>
            <a:ext cx="6035040" cy="320040"/>
          </a:xfrm>
          <a:prstGeom prst="rect">
            <a:avLst/>
          </a:prstGeom>
          <a:noFill/>
          <a:ln/>
        </p:spPr>
        <p:txBody>
          <a:bodyPr wrap="square" lIns="0" tIns="0" rIns="0" bIns="0" rtlCol="0" anchor="t"/>
          <a:lstStyle/>
          <a:p>
            <a:pPr indent="0" marL="0">
              <a:buNone/>
            </a:pPr>
            <a:r>
              <a:rPr lang="en-US" sz="1400" dirty="0">
                <a:solidFill>
                  <a:schemeClr val="tx2"/>
                </a:solidFill>
              </a:rPr>
              <a:t>Guide: Rani M · Team 1 · Section 5</a:t>
            </a:r>
            <a:endParaRPr lang="en-US" sz="1400" dirty="0"/>
          </a:p>
        </p:txBody>
      </p:sp>
      <p:pic>
        <p:nvPicPr>
          <p:cNvPr id="8" name="Cricket ball" descr="Illustration of a red cricket ball with white stitching">    </p:cNvPr>
          <p:cNvPicPr>
            <a:picLocks noChangeAspect="1"/>
          </p:cNvPicPr>
          <p:nvPr/>
        </p:nvPicPr>
        <p:blipFill>
          <a:blip r:embed="rId1"/>
          <a:stretch>
            <a:fillRect/>
          </a:stretch>
        </p:blipFill>
        <p:spPr>
          <a:xfrm>
            <a:off x="7223760" y="100584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The machine learning life cycle</a:t>
            </a:r>
            <a:endParaRPr lang="en-US" sz="3200" dirty="0"/>
          </a:p>
        </p:txBody>
      </p:sp>
      <p:sp>
        <p:nvSpPr>
          <p:cNvPr id="4" name="Stage card 1"/>
          <p:cNvSpPr/>
          <p:nvPr/>
        </p:nvSpPr>
        <p:spPr>
          <a:xfrm>
            <a:off x="548640" y="1463040"/>
            <a:ext cx="2606040" cy="1874520"/>
          </a:xfrm>
          <a:prstGeom prst="roundRect">
            <a:avLst>
              <a:gd name="adj" fmla="val 4878"/>
            </a:avLst>
          </a:prstGeom>
          <a:solidFill>
            <a:schemeClr val="bg2"/>
          </a:solidFill>
          <a:ln w="9525">
            <a:solidFill>
              <a:schemeClr val="accent5"/>
            </a:solidFill>
            <a:prstDash val="solid"/>
          </a:ln>
        </p:spPr>
      </p:sp>
      <p:sp>
        <p:nvSpPr>
          <p:cNvPr id="5" name="Stage number 1"/>
          <p:cNvSpPr/>
          <p:nvPr/>
        </p:nvSpPr>
        <p:spPr>
          <a:xfrm>
            <a:off x="749808" y="1664208"/>
            <a:ext cx="475488" cy="475488"/>
          </a:xfrm>
          <a:prstGeom prst="ellipse">
            <a:avLst/>
          </a:prstGeom>
          <a:solidFill>
            <a:schemeClr val="accent1"/>
          </a:solidFill>
          <a:ln w="9525">
            <a:solidFill>
              <a:schemeClr val="accent1"/>
            </a:solidFill>
            <a:prstDash val="solid"/>
          </a:ln>
        </p:spPr>
      </p:sp>
      <p:sp>
        <p:nvSpPr>
          <p:cNvPr id="6" name="Stage digit 1"/>
          <p:cNvSpPr txBox="1"/>
          <p:nvPr/>
        </p:nvSpPr>
        <p:spPr>
          <a:xfrm>
            <a:off x="749808" y="16642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Stage slide ref 1"/>
          <p:cNvSpPr txBox="1"/>
          <p:nvPr/>
        </p:nvSpPr>
        <p:spPr>
          <a:xfrm>
            <a:off x="1463040" y="1755648"/>
            <a:ext cx="1508760" cy="274320"/>
          </a:xfrm>
          <a:prstGeom prst="rect">
            <a:avLst/>
          </a:prstGeom>
          <a:noFill/>
          <a:ln/>
        </p:spPr>
        <p:txBody>
          <a:bodyPr wrap="square" lIns="0" tIns="0" rIns="0" bIns="0" rtlCol="0" anchor="t"/>
          <a:lstStyle/>
          <a:p>
            <a:pPr algn="r" indent="0" marL="0">
              <a:buNone/>
            </a:pPr>
            <a:r>
              <a:rPr lang="en-US" sz="1200" dirty="0">
                <a:solidFill>
                  <a:schemeClr val="tx2"/>
                </a:solidFill>
              </a:rPr>
              <a:t>Slide 3</a:t>
            </a:r>
            <a:endParaRPr lang="en-US" sz="1200" dirty="0"/>
          </a:p>
        </p:txBody>
      </p:sp>
      <p:sp>
        <p:nvSpPr>
          <p:cNvPr id="8" name="Stage name 1"/>
          <p:cNvSpPr txBox="1"/>
          <p:nvPr/>
        </p:nvSpPr>
        <p:spPr>
          <a:xfrm>
            <a:off x="749808" y="2267712"/>
            <a:ext cx="219456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Define</a:t>
            </a:r>
            <a:endParaRPr lang="en-US" sz="2000" dirty="0"/>
          </a:p>
        </p:txBody>
      </p:sp>
      <p:sp>
        <p:nvSpPr>
          <p:cNvPr id="9" name="Stage text 1"/>
          <p:cNvSpPr txBox="1"/>
          <p:nvPr/>
        </p:nvSpPr>
        <p:spPr>
          <a:xfrm>
            <a:off x="749808" y="2651760"/>
            <a:ext cx="2240280" cy="594360"/>
          </a:xfrm>
          <a:prstGeom prst="rect">
            <a:avLst/>
          </a:prstGeom>
          <a:noFill/>
          <a:ln/>
        </p:spPr>
        <p:txBody>
          <a:bodyPr wrap="square" lIns="0" tIns="0" rIns="0" bIns="0" rtlCol="0" anchor="t"/>
          <a:lstStyle/>
          <a:p>
            <a:pPr indent="0" marL="0">
              <a:buNone/>
            </a:pPr>
            <a:r>
              <a:rPr lang="en-US" sz="1400" dirty="0">
                <a:solidFill>
                  <a:schemeClr val="tx2"/>
                </a:solidFill>
              </a:rPr>
              <a:t>Predict a batter's runs in one innings</a:t>
            </a:r>
            <a:endParaRPr lang="en-US" sz="1400" dirty="0"/>
          </a:p>
        </p:txBody>
      </p:sp>
      <p:sp>
        <p:nvSpPr>
          <p:cNvPr id="10" name="Stage card 2"/>
          <p:cNvSpPr/>
          <p:nvPr/>
        </p:nvSpPr>
        <p:spPr>
          <a:xfrm>
            <a:off x="3364992" y="1463040"/>
            <a:ext cx="2606040" cy="1874520"/>
          </a:xfrm>
          <a:prstGeom prst="roundRect">
            <a:avLst>
              <a:gd name="adj" fmla="val 4878"/>
            </a:avLst>
          </a:prstGeom>
          <a:solidFill>
            <a:schemeClr val="bg2"/>
          </a:solidFill>
          <a:ln w="9525">
            <a:solidFill>
              <a:schemeClr val="accent5"/>
            </a:solidFill>
            <a:prstDash val="solid"/>
          </a:ln>
        </p:spPr>
      </p:sp>
      <p:sp>
        <p:nvSpPr>
          <p:cNvPr id="11" name="Stage number 2"/>
          <p:cNvSpPr/>
          <p:nvPr/>
        </p:nvSpPr>
        <p:spPr>
          <a:xfrm>
            <a:off x="3566160" y="1664208"/>
            <a:ext cx="475488" cy="475488"/>
          </a:xfrm>
          <a:prstGeom prst="ellipse">
            <a:avLst/>
          </a:prstGeom>
          <a:solidFill>
            <a:schemeClr val="accent1"/>
          </a:solidFill>
          <a:ln w="9525">
            <a:solidFill>
              <a:schemeClr val="accent1"/>
            </a:solidFill>
            <a:prstDash val="solid"/>
          </a:ln>
        </p:spPr>
      </p:sp>
      <p:sp>
        <p:nvSpPr>
          <p:cNvPr id="12" name="Stage digit 2"/>
          <p:cNvSpPr txBox="1"/>
          <p:nvPr/>
        </p:nvSpPr>
        <p:spPr>
          <a:xfrm>
            <a:off x="3566160" y="16642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Stage slide ref 2"/>
          <p:cNvSpPr txBox="1"/>
          <p:nvPr/>
        </p:nvSpPr>
        <p:spPr>
          <a:xfrm>
            <a:off x="4279392" y="1755648"/>
            <a:ext cx="1508760" cy="274320"/>
          </a:xfrm>
          <a:prstGeom prst="rect">
            <a:avLst/>
          </a:prstGeom>
          <a:noFill/>
          <a:ln/>
        </p:spPr>
        <p:txBody>
          <a:bodyPr wrap="square" lIns="0" tIns="0" rIns="0" bIns="0" rtlCol="0" anchor="t"/>
          <a:lstStyle/>
          <a:p>
            <a:pPr algn="r" indent="0" marL="0">
              <a:buNone/>
            </a:pPr>
            <a:r>
              <a:rPr lang="en-US" sz="1200" dirty="0">
                <a:solidFill>
                  <a:schemeClr val="tx2"/>
                </a:solidFill>
              </a:rPr>
              <a:t>Slide 4</a:t>
            </a:r>
            <a:endParaRPr lang="en-US" sz="1200" dirty="0"/>
          </a:p>
        </p:txBody>
      </p:sp>
      <p:sp>
        <p:nvSpPr>
          <p:cNvPr id="14" name="Stage name 2"/>
          <p:cNvSpPr txBox="1"/>
          <p:nvPr/>
        </p:nvSpPr>
        <p:spPr>
          <a:xfrm>
            <a:off x="3566160" y="2267712"/>
            <a:ext cx="219456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Collect</a:t>
            </a:r>
            <a:endParaRPr lang="en-US" sz="2000" dirty="0"/>
          </a:p>
        </p:txBody>
      </p:sp>
      <p:sp>
        <p:nvSpPr>
          <p:cNvPr id="15" name="Stage text 2"/>
          <p:cNvSpPr txBox="1"/>
          <p:nvPr/>
        </p:nvSpPr>
        <p:spPr>
          <a:xfrm>
            <a:off x="3566160" y="2651760"/>
            <a:ext cx="2240280" cy="594360"/>
          </a:xfrm>
          <a:prstGeom prst="rect">
            <a:avLst/>
          </a:prstGeom>
          <a:noFill/>
          <a:ln/>
        </p:spPr>
        <p:txBody>
          <a:bodyPr wrap="square" lIns="0" tIns="0" rIns="0" bIns="0" rtlCol="0" anchor="t"/>
          <a:lstStyle/>
          <a:p>
            <a:pPr indent="0" marL="0">
              <a:buNone/>
            </a:pPr>
            <a:r>
              <a:rPr lang="en-US" sz="1400" dirty="0">
                <a:solidFill>
                  <a:schemeClr val="tx2"/>
                </a:solidFill>
              </a:rPr>
              <a:t>243,817 IPL deliveries from 2008 to 2023</a:t>
            </a:r>
            <a:endParaRPr lang="en-US" sz="1400" dirty="0"/>
          </a:p>
        </p:txBody>
      </p:sp>
      <p:sp>
        <p:nvSpPr>
          <p:cNvPr id="16" name="Stage card 3"/>
          <p:cNvSpPr/>
          <p:nvPr/>
        </p:nvSpPr>
        <p:spPr>
          <a:xfrm>
            <a:off x="6181344" y="1463040"/>
            <a:ext cx="2606040" cy="1874520"/>
          </a:xfrm>
          <a:prstGeom prst="roundRect">
            <a:avLst>
              <a:gd name="adj" fmla="val 4878"/>
            </a:avLst>
          </a:prstGeom>
          <a:solidFill>
            <a:schemeClr val="bg2"/>
          </a:solidFill>
          <a:ln w="9525">
            <a:solidFill>
              <a:schemeClr val="accent5"/>
            </a:solidFill>
            <a:prstDash val="solid"/>
          </a:ln>
        </p:spPr>
      </p:sp>
      <p:sp>
        <p:nvSpPr>
          <p:cNvPr id="17" name="Stage number 3"/>
          <p:cNvSpPr/>
          <p:nvPr/>
        </p:nvSpPr>
        <p:spPr>
          <a:xfrm>
            <a:off x="6382512" y="1664208"/>
            <a:ext cx="475488" cy="475488"/>
          </a:xfrm>
          <a:prstGeom prst="ellipse">
            <a:avLst/>
          </a:prstGeom>
          <a:solidFill>
            <a:schemeClr val="accent1"/>
          </a:solidFill>
          <a:ln w="9525">
            <a:solidFill>
              <a:schemeClr val="accent1"/>
            </a:solidFill>
            <a:prstDash val="solid"/>
          </a:ln>
        </p:spPr>
      </p:sp>
      <p:sp>
        <p:nvSpPr>
          <p:cNvPr id="18" name="Stage digit 3"/>
          <p:cNvSpPr txBox="1"/>
          <p:nvPr/>
        </p:nvSpPr>
        <p:spPr>
          <a:xfrm>
            <a:off x="6382512" y="16642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9" name="Stage slide ref 3"/>
          <p:cNvSpPr txBox="1"/>
          <p:nvPr/>
        </p:nvSpPr>
        <p:spPr>
          <a:xfrm>
            <a:off x="7095744" y="1755648"/>
            <a:ext cx="1508760" cy="274320"/>
          </a:xfrm>
          <a:prstGeom prst="rect">
            <a:avLst/>
          </a:prstGeom>
          <a:noFill/>
          <a:ln/>
        </p:spPr>
        <p:txBody>
          <a:bodyPr wrap="square" lIns="0" tIns="0" rIns="0" bIns="0" rtlCol="0" anchor="t"/>
          <a:lstStyle/>
          <a:p>
            <a:pPr algn="r" indent="0" marL="0">
              <a:buNone/>
            </a:pPr>
            <a:r>
              <a:rPr lang="en-US" sz="1200" dirty="0">
                <a:solidFill>
                  <a:schemeClr val="tx2"/>
                </a:solidFill>
              </a:rPr>
              <a:t>Slide 5</a:t>
            </a:r>
            <a:endParaRPr lang="en-US" sz="1200" dirty="0"/>
          </a:p>
        </p:txBody>
      </p:sp>
      <p:sp>
        <p:nvSpPr>
          <p:cNvPr id="20" name="Stage name 3"/>
          <p:cNvSpPr txBox="1"/>
          <p:nvPr/>
        </p:nvSpPr>
        <p:spPr>
          <a:xfrm>
            <a:off x="6382512" y="2267712"/>
            <a:ext cx="219456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Explore</a:t>
            </a:r>
            <a:endParaRPr lang="en-US" sz="2000" dirty="0"/>
          </a:p>
        </p:txBody>
      </p:sp>
      <p:sp>
        <p:nvSpPr>
          <p:cNvPr id="21" name="Stage text 3"/>
          <p:cNvSpPr txBox="1"/>
          <p:nvPr/>
        </p:nvSpPr>
        <p:spPr>
          <a:xfrm>
            <a:off x="6382512" y="2651760"/>
            <a:ext cx="2240280" cy="594360"/>
          </a:xfrm>
          <a:prstGeom prst="rect">
            <a:avLst/>
          </a:prstGeom>
          <a:noFill/>
          <a:ln/>
        </p:spPr>
        <p:txBody>
          <a:bodyPr wrap="square" lIns="0" tIns="0" rIns="0" bIns="0" rtlCol="0" anchor="t"/>
          <a:lstStyle/>
          <a:p>
            <a:pPr indent="0" marL="0">
              <a:buNone/>
            </a:pPr>
            <a:r>
              <a:rPr lang="en-US" sz="1400" dirty="0">
                <a:solidFill>
                  <a:schemeClr val="tx2"/>
                </a:solidFill>
              </a:rPr>
              <a:t>Skewed scores, stable seasons</a:t>
            </a:r>
            <a:endParaRPr lang="en-US" sz="1400" dirty="0"/>
          </a:p>
        </p:txBody>
      </p:sp>
      <p:sp>
        <p:nvSpPr>
          <p:cNvPr id="22" name="Stage card 4"/>
          <p:cNvSpPr/>
          <p:nvPr/>
        </p:nvSpPr>
        <p:spPr>
          <a:xfrm>
            <a:off x="8997696" y="1463040"/>
            <a:ext cx="2606040" cy="1874520"/>
          </a:xfrm>
          <a:prstGeom prst="roundRect">
            <a:avLst>
              <a:gd name="adj" fmla="val 4878"/>
            </a:avLst>
          </a:prstGeom>
          <a:solidFill>
            <a:schemeClr val="bg2"/>
          </a:solidFill>
          <a:ln w="9525">
            <a:solidFill>
              <a:schemeClr val="accent5"/>
            </a:solidFill>
            <a:prstDash val="solid"/>
          </a:ln>
        </p:spPr>
      </p:sp>
      <p:sp>
        <p:nvSpPr>
          <p:cNvPr id="23" name="Stage number 4"/>
          <p:cNvSpPr/>
          <p:nvPr/>
        </p:nvSpPr>
        <p:spPr>
          <a:xfrm>
            <a:off x="9198864" y="1664208"/>
            <a:ext cx="475488" cy="475488"/>
          </a:xfrm>
          <a:prstGeom prst="ellipse">
            <a:avLst/>
          </a:prstGeom>
          <a:solidFill>
            <a:schemeClr val="accent1"/>
          </a:solidFill>
          <a:ln w="9525">
            <a:solidFill>
              <a:schemeClr val="accent1"/>
            </a:solidFill>
            <a:prstDash val="solid"/>
          </a:ln>
        </p:spPr>
      </p:sp>
      <p:sp>
        <p:nvSpPr>
          <p:cNvPr id="24" name="Stage digit 4"/>
          <p:cNvSpPr txBox="1"/>
          <p:nvPr/>
        </p:nvSpPr>
        <p:spPr>
          <a:xfrm>
            <a:off x="9198864" y="16642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5" name="Stage slide ref 4"/>
          <p:cNvSpPr txBox="1"/>
          <p:nvPr/>
        </p:nvSpPr>
        <p:spPr>
          <a:xfrm>
            <a:off x="9912096" y="1755648"/>
            <a:ext cx="1508760" cy="274320"/>
          </a:xfrm>
          <a:prstGeom prst="rect">
            <a:avLst/>
          </a:prstGeom>
          <a:noFill/>
          <a:ln/>
        </p:spPr>
        <p:txBody>
          <a:bodyPr wrap="square" lIns="0" tIns="0" rIns="0" bIns="0" rtlCol="0" anchor="t"/>
          <a:lstStyle/>
          <a:p>
            <a:pPr algn="r" indent="0" marL="0">
              <a:buNone/>
            </a:pPr>
            <a:r>
              <a:rPr lang="en-US" sz="1200" dirty="0">
                <a:solidFill>
                  <a:schemeClr val="tx2"/>
                </a:solidFill>
              </a:rPr>
              <a:t>Slides 6–8</a:t>
            </a:r>
            <a:endParaRPr lang="en-US" sz="1200" dirty="0"/>
          </a:p>
        </p:txBody>
      </p:sp>
      <p:sp>
        <p:nvSpPr>
          <p:cNvPr id="26" name="Stage name 4"/>
          <p:cNvSpPr txBox="1"/>
          <p:nvPr/>
        </p:nvSpPr>
        <p:spPr>
          <a:xfrm>
            <a:off x="9198864" y="2267712"/>
            <a:ext cx="219456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Prepare</a:t>
            </a:r>
            <a:endParaRPr lang="en-US" sz="2000" dirty="0"/>
          </a:p>
        </p:txBody>
      </p:sp>
      <p:sp>
        <p:nvSpPr>
          <p:cNvPr id="27" name="Stage text 4"/>
          <p:cNvSpPr txBox="1"/>
          <p:nvPr/>
        </p:nvSpPr>
        <p:spPr>
          <a:xfrm>
            <a:off x="9198864" y="2651760"/>
            <a:ext cx="2240280" cy="594360"/>
          </a:xfrm>
          <a:prstGeom prst="rect">
            <a:avLst/>
          </a:prstGeom>
          <a:noFill/>
          <a:ln/>
        </p:spPr>
        <p:txBody>
          <a:bodyPr wrap="square" lIns="0" tIns="0" rIns="0" bIns="0" rtlCol="0" anchor="t"/>
          <a:lstStyle/>
          <a:p>
            <a:pPr indent="0" marL="0">
              <a:buNone/>
            </a:pPr>
            <a:r>
              <a:rPr lang="en-US" sz="1400" dirty="0">
                <a:solidFill>
                  <a:schemeClr val="tx2"/>
                </a:solidFill>
              </a:rPr>
              <a:t>Aggregate, clean, engineer features, split by time</a:t>
            </a:r>
            <a:endParaRPr lang="en-US" sz="1400" dirty="0"/>
          </a:p>
        </p:txBody>
      </p:sp>
      <p:sp>
        <p:nvSpPr>
          <p:cNvPr id="28" name="Stage card 5"/>
          <p:cNvSpPr/>
          <p:nvPr/>
        </p:nvSpPr>
        <p:spPr>
          <a:xfrm>
            <a:off x="548640" y="3520440"/>
            <a:ext cx="2606040" cy="1874520"/>
          </a:xfrm>
          <a:prstGeom prst="roundRect">
            <a:avLst>
              <a:gd name="adj" fmla="val 4878"/>
            </a:avLst>
          </a:prstGeom>
          <a:solidFill>
            <a:schemeClr val="bg2"/>
          </a:solidFill>
          <a:ln w="9525">
            <a:solidFill>
              <a:schemeClr val="accent5"/>
            </a:solidFill>
            <a:prstDash val="solid"/>
          </a:ln>
        </p:spPr>
      </p:sp>
      <p:sp>
        <p:nvSpPr>
          <p:cNvPr id="29" name="Stage number 5"/>
          <p:cNvSpPr/>
          <p:nvPr/>
        </p:nvSpPr>
        <p:spPr>
          <a:xfrm>
            <a:off x="749808" y="3721608"/>
            <a:ext cx="475488" cy="475488"/>
          </a:xfrm>
          <a:prstGeom prst="ellipse">
            <a:avLst/>
          </a:prstGeom>
          <a:solidFill>
            <a:schemeClr val="accent1"/>
          </a:solidFill>
          <a:ln w="9525">
            <a:solidFill>
              <a:schemeClr val="accent1"/>
            </a:solidFill>
            <a:prstDash val="solid"/>
          </a:ln>
        </p:spPr>
      </p:sp>
      <p:sp>
        <p:nvSpPr>
          <p:cNvPr id="30" name="Stage digit 5"/>
          <p:cNvSpPr txBox="1"/>
          <p:nvPr/>
        </p:nvSpPr>
        <p:spPr>
          <a:xfrm>
            <a:off x="749808" y="37216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1" name="Stage slide ref 5"/>
          <p:cNvSpPr txBox="1"/>
          <p:nvPr/>
        </p:nvSpPr>
        <p:spPr>
          <a:xfrm>
            <a:off x="1463040" y="3813048"/>
            <a:ext cx="1508760" cy="274320"/>
          </a:xfrm>
          <a:prstGeom prst="rect">
            <a:avLst/>
          </a:prstGeom>
          <a:noFill/>
          <a:ln/>
        </p:spPr>
        <p:txBody>
          <a:bodyPr wrap="square" lIns="0" tIns="0" rIns="0" bIns="0" rtlCol="0" anchor="t"/>
          <a:lstStyle/>
          <a:p>
            <a:pPr algn="r" indent="0" marL="0">
              <a:buNone/>
            </a:pPr>
            <a:r>
              <a:rPr lang="en-US" sz="1200" dirty="0">
                <a:solidFill>
                  <a:schemeClr val="tx2"/>
                </a:solidFill>
              </a:rPr>
              <a:t>Slides 9–10</a:t>
            </a:r>
            <a:endParaRPr lang="en-US" sz="1200" dirty="0"/>
          </a:p>
        </p:txBody>
      </p:sp>
      <p:sp>
        <p:nvSpPr>
          <p:cNvPr id="32" name="Stage name 5"/>
          <p:cNvSpPr txBox="1"/>
          <p:nvPr/>
        </p:nvSpPr>
        <p:spPr>
          <a:xfrm>
            <a:off x="749808" y="4325112"/>
            <a:ext cx="219456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Model</a:t>
            </a:r>
            <a:endParaRPr lang="en-US" sz="2000" dirty="0"/>
          </a:p>
        </p:txBody>
      </p:sp>
      <p:sp>
        <p:nvSpPr>
          <p:cNvPr id="33" name="Stage text 5"/>
          <p:cNvSpPr txBox="1"/>
          <p:nvPr/>
        </p:nvSpPr>
        <p:spPr>
          <a:xfrm>
            <a:off x="749808" y="4709160"/>
            <a:ext cx="2240280" cy="594360"/>
          </a:xfrm>
          <a:prstGeom prst="rect">
            <a:avLst/>
          </a:prstGeom>
          <a:noFill/>
          <a:ln/>
        </p:spPr>
        <p:txBody>
          <a:bodyPr wrap="square" lIns="0" tIns="0" rIns="0" bIns="0" rtlCol="0" anchor="t"/>
          <a:lstStyle/>
          <a:p>
            <a:pPr indent="0" marL="0">
              <a:buNone/>
            </a:pPr>
            <a:r>
              <a:rPr lang="en-US" sz="1400" dirty="0">
                <a:solidFill>
                  <a:schemeClr val="tx2"/>
                </a:solidFill>
              </a:rPr>
              <a:t>Ridge, Lasso and a mean baseline</a:t>
            </a:r>
            <a:endParaRPr lang="en-US" sz="1400" dirty="0"/>
          </a:p>
        </p:txBody>
      </p:sp>
      <p:sp>
        <p:nvSpPr>
          <p:cNvPr id="34" name="Stage card 6"/>
          <p:cNvSpPr/>
          <p:nvPr/>
        </p:nvSpPr>
        <p:spPr>
          <a:xfrm>
            <a:off x="3364992" y="3520440"/>
            <a:ext cx="2606040" cy="1874520"/>
          </a:xfrm>
          <a:prstGeom prst="roundRect">
            <a:avLst>
              <a:gd name="adj" fmla="val 4878"/>
            </a:avLst>
          </a:prstGeom>
          <a:solidFill>
            <a:schemeClr val="bg2"/>
          </a:solidFill>
          <a:ln w="9525">
            <a:solidFill>
              <a:schemeClr val="accent5"/>
            </a:solidFill>
            <a:prstDash val="solid"/>
          </a:ln>
        </p:spPr>
      </p:sp>
      <p:sp>
        <p:nvSpPr>
          <p:cNvPr id="35" name="Stage number 6"/>
          <p:cNvSpPr/>
          <p:nvPr/>
        </p:nvSpPr>
        <p:spPr>
          <a:xfrm>
            <a:off x="3566160" y="3721608"/>
            <a:ext cx="475488" cy="475488"/>
          </a:xfrm>
          <a:prstGeom prst="ellipse">
            <a:avLst/>
          </a:prstGeom>
          <a:solidFill>
            <a:schemeClr val="accent1"/>
          </a:solidFill>
          <a:ln w="9525">
            <a:solidFill>
              <a:schemeClr val="accent1"/>
            </a:solidFill>
            <a:prstDash val="solid"/>
          </a:ln>
        </p:spPr>
      </p:sp>
      <p:sp>
        <p:nvSpPr>
          <p:cNvPr id="36" name="Stage digit 6"/>
          <p:cNvSpPr txBox="1"/>
          <p:nvPr/>
        </p:nvSpPr>
        <p:spPr>
          <a:xfrm>
            <a:off x="3566160" y="37216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7" name="Stage slide ref 6"/>
          <p:cNvSpPr txBox="1"/>
          <p:nvPr/>
        </p:nvSpPr>
        <p:spPr>
          <a:xfrm>
            <a:off x="4279392" y="3813048"/>
            <a:ext cx="1508760" cy="274320"/>
          </a:xfrm>
          <a:prstGeom prst="rect">
            <a:avLst/>
          </a:prstGeom>
          <a:noFill/>
          <a:ln/>
        </p:spPr>
        <p:txBody>
          <a:bodyPr wrap="square" lIns="0" tIns="0" rIns="0" bIns="0" rtlCol="0" anchor="t"/>
          <a:lstStyle/>
          <a:p>
            <a:pPr algn="r" indent="0" marL="0">
              <a:buNone/>
            </a:pPr>
            <a:r>
              <a:rPr lang="en-US" sz="1200" dirty="0">
                <a:solidFill>
                  <a:schemeClr val="tx2"/>
                </a:solidFill>
              </a:rPr>
              <a:t>Slides 11–13</a:t>
            </a:r>
            <a:endParaRPr lang="en-US" sz="1200" dirty="0"/>
          </a:p>
        </p:txBody>
      </p:sp>
      <p:sp>
        <p:nvSpPr>
          <p:cNvPr id="38" name="Stage name 6"/>
          <p:cNvSpPr txBox="1"/>
          <p:nvPr/>
        </p:nvSpPr>
        <p:spPr>
          <a:xfrm>
            <a:off x="3566160" y="4325112"/>
            <a:ext cx="219456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Evaluate</a:t>
            </a:r>
            <a:endParaRPr lang="en-US" sz="2000" dirty="0"/>
          </a:p>
        </p:txBody>
      </p:sp>
      <p:sp>
        <p:nvSpPr>
          <p:cNvPr id="39" name="Stage text 6"/>
          <p:cNvSpPr txBox="1"/>
          <p:nvPr/>
        </p:nvSpPr>
        <p:spPr>
          <a:xfrm>
            <a:off x="3566160" y="4709160"/>
            <a:ext cx="2240280" cy="594360"/>
          </a:xfrm>
          <a:prstGeom prst="rect">
            <a:avLst/>
          </a:prstGeom>
          <a:noFill/>
          <a:ln/>
        </p:spPr>
        <p:txBody>
          <a:bodyPr wrap="square" lIns="0" tIns="0" rIns="0" bIns="0" rtlCol="0" anchor="t"/>
          <a:lstStyle/>
          <a:p>
            <a:pPr indent="0" marL="0">
              <a:buNone/>
            </a:pPr>
            <a:r>
              <a:rPr lang="en-US" sz="1400" dirty="0">
                <a:solidFill>
                  <a:schemeClr val="tx2"/>
                </a:solidFill>
              </a:rPr>
              <a:t>MAE, MSE, RMSE and R² on 2022–23 matches</a:t>
            </a:r>
            <a:endParaRPr lang="en-US" sz="1400" dirty="0"/>
          </a:p>
        </p:txBody>
      </p:sp>
      <p:sp>
        <p:nvSpPr>
          <p:cNvPr id="40" name="Stage card 7"/>
          <p:cNvSpPr/>
          <p:nvPr/>
        </p:nvSpPr>
        <p:spPr>
          <a:xfrm>
            <a:off x="6181344" y="3520440"/>
            <a:ext cx="2606040" cy="1874520"/>
          </a:xfrm>
          <a:prstGeom prst="roundRect">
            <a:avLst>
              <a:gd name="adj" fmla="val 4878"/>
            </a:avLst>
          </a:prstGeom>
          <a:solidFill>
            <a:schemeClr val="bg2"/>
          </a:solidFill>
          <a:ln w="9525">
            <a:solidFill>
              <a:schemeClr val="accent5"/>
            </a:solidFill>
            <a:prstDash val="solid"/>
          </a:ln>
        </p:spPr>
      </p:sp>
      <p:sp>
        <p:nvSpPr>
          <p:cNvPr id="41" name="Stage number 7"/>
          <p:cNvSpPr/>
          <p:nvPr/>
        </p:nvSpPr>
        <p:spPr>
          <a:xfrm>
            <a:off x="6382512" y="3721608"/>
            <a:ext cx="475488" cy="475488"/>
          </a:xfrm>
          <a:prstGeom prst="ellipse">
            <a:avLst/>
          </a:prstGeom>
          <a:solidFill>
            <a:schemeClr val="accent1"/>
          </a:solidFill>
          <a:ln w="9525">
            <a:solidFill>
              <a:schemeClr val="accent1"/>
            </a:solidFill>
            <a:prstDash val="solid"/>
          </a:ln>
        </p:spPr>
      </p:sp>
      <p:sp>
        <p:nvSpPr>
          <p:cNvPr id="42" name="Stage digit 7"/>
          <p:cNvSpPr txBox="1"/>
          <p:nvPr/>
        </p:nvSpPr>
        <p:spPr>
          <a:xfrm>
            <a:off x="6382512" y="37216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43" name="Stage slide ref 7"/>
          <p:cNvSpPr txBox="1"/>
          <p:nvPr/>
        </p:nvSpPr>
        <p:spPr>
          <a:xfrm>
            <a:off x="7095744" y="3813048"/>
            <a:ext cx="1508760" cy="274320"/>
          </a:xfrm>
          <a:prstGeom prst="rect">
            <a:avLst/>
          </a:prstGeom>
          <a:noFill/>
          <a:ln/>
        </p:spPr>
        <p:txBody>
          <a:bodyPr wrap="square" lIns="0" tIns="0" rIns="0" bIns="0" rtlCol="0" anchor="t"/>
          <a:lstStyle/>
          <a:p>
            <a:pPr algn="r" indent="0" marL="0">
              <a:buNone/>
            </a:pPr>
            <a:r>
              <a:rPr lang="en-US" sz="1200" dirty="0">
                <a:solidFill>
                  <a:schemeClr val="tx2"/>
                </a:solidFill>
              </a:rPr>
              <a:t>Slide 14</a:t>
            </a:r>
            <a:endParaRPr lang="en-US" sz="1200" dirty="0"/>
          </a:p>
        </p:txBody>
      </p:sp>
      <p:sp>
        <p:nvSpPr>
          <p:cNvPr id="44" name="Stage name 7"/>
          <p:cNvSpPr txBox="1"/>
          <p:nvPr/>
        </p:nvSpPr>
        <p:spPr>
          <a:xfrm>
            <a:off x="6382512" y="4325112"/>
            <a:ext cx="219456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Deploy</a:t>
            </a:r>
            <a:endParaRPr lang="en-US" sz="2000" dirty="0"/>
          </a:p>
        </p:txBody>
      </p:sp>
      <p:sp>
        <p:nvSpPr>
          <p:cNvPr id="45" name="Stage text 7"/>
          <p:cNvSpPr txBox="1"/>
          <p:nvPr/>
        </p:nvSpPr>
        <p:spPr>
          <a:xfrm>
            <a:off x="6382512" y="4709160"/>
            <a:ext cx="2240280" cy="594360"/>
          </a:xfrm>
          <a:prstGeom prst="rect">
            <a:avLst/>
          </a:prstGeom>
          <a:noFill/>
          <a:ln/>
        </p:spPr>
        <p:txBody>
          <a:bodyPr wrap="square" lIns="0" tIns="0" rIns="0" bIns="0" rtlCol="0" anchor="t"/>
          <a:lstStyle/>
          <a:p>
            <a:pPr indent="0" marL="0">
              <a:buNone/>
            </a:pPr>
            <a:r>
              <a:rPr lang="en-US" sz="1400" dirty="0">
                <a:solidFill>
                  <a:schemeClr val="tx2"/>
                </a:solidFill>
              </a:rPr>
              <a:t>Flask API and a web interface</a:t>
            </a:r>
            <a:endParaRPr lang="en-US" sz="1400" dirty="0"/>
          </a:p>
        </p:txBody>
      </p:sp>
      <p:sp>
        <p:nvSpPr>
          <p:cNvPr id="46" name="Stage card 8"/>
          <p:cNvSpPr/>
          <p:nvPr/>
        </p:nvSpPr>
        <p:spPr>
          <a:xfrm>
            <a:off x="8997696" y="3520440"/>
            <a:ext cx="2606040" cy="1874520"/>
          </a:xfrm>
          <a:prstGeom prst="roundRect">
            <a:avLst>
              <a:gd name="adj" fmla="val 4878"/>
            </a:avLst>
          </a:prstGeom>
          <a:solidFill>
            <a:schemeClr val="bg2"/>
          </a:solidFill>
          <a:ln w="9525">
            <a:solidFill>
              <a:schemeClr val="accent5"/>
            </a:solidFill>
            <a:prstDash val="solid"/>
          </a:ln>
        </p:spPr>
      </p:sp>
      <p:sp>
        <p:nvSpPr>
          <p:cNvPr id="47" name="Stage number 8"/>
          <p:cNvSpPr/>
          <p:nvPr/>
        </p:nvSpPr>
        <p:spPr>
          <a:xfrm>
            <a:off x="9198864" y="3721608"/>
            <a:ext cx="475488" cy="475488"/>
          </a:xfrm>
          <a:prstGeom prst="ellipse">
            <a:avLst/>
          </a:prstGeom>
          <a:solidFill>
            <a:schemeClr val="accent1"/>
          </a:solidFill>
          <a:ln w="9525">
            <a:solidFill>
              <a:schemeClr val="accent1"/>
            </a:solidFill>
            <a:prstDash val="solid"/>
          </a:ln>
        </p:spPr>
      </p:sp>
      <p:sp>
        <p:nvSpPr>
          <p:cNvPr id="48" name="Stage digit 8"/>
          <p:cNvSpPr txBox="1"/>
          <p:nvPr/>
        </p:nvSpPr>
        <p:spPr>
          <a:xfrm>
            <a:off x="9198864" y="37216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49" name="Stage slide ref 8"/>
          <p:cNvSpPr txBox="1"/>
          <p:nvPr/>
        </p:nvSpPr>
        <p:spPr>
          <a:xfrm>
            <a:off x="9912096" y="3813048"/>
            <a:ext cx="1508760" cy="274320"/>
          </a:xfrm>
          <a:prstGeom prst="rect">
            <a:avLst/>
          </a:prstGeom>
          <a:noFill/>
          <a:ln/>
        </p:spPr>
        <p:txBody>
          <a:bodyPr wrap="square" lIns="0" tIns="0" rIns="0" bIns="0" rtlCol="0" anchor="t"/>
          <a:lstStyle/>
          <a:p>
            <a:pPr algn="r" indent="0" marL="0">
              <a:buNone/>
            </a:pPr>
            <a:r>
              <a:rPr lang="en-US" sz="1200" dirty="0">
                <a:solidFill>
                  <a:schemeClr val="tx2"/>
                </a:solidFill>
              </a:rPr>
              <a:t>Slide 14</a:t>
            </a:r>
            <a:endParaRPr lang="en-US" sz="1200" dirty="0"/>
          </a:p>
        </p:txBody>
      </p:sp>
      <p:sp>
        <p:nvSpPr>
          <p:cNvPr id="50" name="Stage name 8"/>
          <p:cNvSpPr txBox="1"/>
          <p:nvPr/>
        </p:nvSpPr>
        <p:spPr>
          <a:xfrm>
            <a:off x="9198864" y="4325112"/>
            <a:ext cx="219456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Monitor</a:t>
            </a:r>
            <a:endParaRPr lang="en-US" sz="2000" dirty="0"/>
          </a:p>
        </p:txBody>
      </p:sp>
      <p:sp>
        <p:nvSpPr>
          <p:cNvPr id="51" name="Stage text 8"/>
          <p:cNvSpPr txBox="1"/>
          <p:nvPr/>
        </p:nvSpPr>
        <p:spPr>
          <a:xfrm>
            <a:off x="9198864" y="4709160"/>
            <a:ext cx="2240280" cy="594360"/>
          </a:xfrm>
          <a:prstGeom prst="rect">
            <a:avLst/>
          </a:prstGeom>
          <a:noFill/>
          <a:ln/>
        </p:spPr>
        <p:txBody>
          <a:bodyPr wrap="square" lIns="0" tIns="0" rIns="0" bIns="0" rtlCol="0" anchor="t"/>
          <a:lstStyle/>
          <a:p>
            <a:pPr indent="0" marL="0">
              <a:buNone/>
            </a:pPr>
            <a:r>
              <a:rPr lang="en-US" sz="1400" dirty="0">
                <a:solidFill>
                  <a:schemeClr val="tx2"/>
                </a:solidFill>
              </a:rPr>
              <a:t>Track error, retrain each season</a:t>
            </a:r>
            <a:endParaRPr lang="en-US" sz="1400" dirty="0"/>
          </a:p>
        </p:txBody>
      </p:sp>
      <p:pic>
        <p:nvPicPr>
          <p:cNvPr id="52" name="Loop icon" descr="Loop arrow">    </p:cNvPr>
          <p:cNvPicPr>
            <a:picLocks noChangeAspect="1"/>
          </p:cNvPicPr>
          <p:nvPr/>
        </p:nvPicPr>
        <p:blipFill>
          <a:blip r:embed="rId1"/>
          <a:stretch>
            <a:fillRect/>
          </a:stretch>
        </p:blipFill>
        <p:spPr>
          <a:xfrm>
            <a:off x="548640" y="5742432"/>
            <a:ext cx="274320" cy="274320"/>
          </a:xfrm>
          <a:prstGeom prst="rect">
            <a:avLst/>
          </a:prstGeom>
        </p:spPr>
      </p:pic>
      <p:sp>
        <p:nvSpPr>
          <p:cNvPr id="53" name="Loop caption"/>
          <p:cNvSpPr txBox="1"/>
          <p:nvPr/>
        </p:nvSpPr>
        <p:spPr>
          <a:xfrm>
            <a:off x="960120" y="5715000"/>
            <a:ext cx="10058400" cy="329184"/>
          </a:xfrm>
          <a:prstGeom prst="rect">
            <a:avLst/>
          </a:prstGeom>
          <a:noFill/>
          <a:ln/>
        </p:spPr>
        <p:txBody>
          <a:bodyPr wrap="square" lIns="0" tIns="0" rIns="0" bIns="0" rtlCol="0" anchor="ctr"/>
          <a:lstStyle/>
          <a:p>
            <a:pPr indent="0" marL="0">
              <a:buNone/>
            </a:pPr>
            <a:r>
              <a:rPr lang="en-US" sz="1600" dirty="0">
                <a:solidFill>
                  <a:schemeClr val="tx2"/>
                </a:solidFill>
              </a:rPr>
              <a:t>It is a loop: monitoring tells us when to collect new data and retrain.</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Define the problem</a:t>
            </a:r>
            <a:endParaRPr lang="en-US" sz="3200" dirty="0"/>
          </a:p>
        </p:txBody>
      </p:sp>
      <p:sp>
        <p:nvSpPr>
          <p:cNvPr id="4" name="Stage label"/>
          <p:cNvSpPr txBox="1"/>
          <p:nvPr/>
        </p:nvSpPr>
        <p:spPr>
          <a:xfrm>
            <a:off x="7406640" y="347472"/>
            <a:ext cx="4233672" cy="274320"/>
          </a:xfrm>
          <a:prstGeom prst="rect">
            <a:avLst/>
          </a:prstGeom>
          <a:noFill/>
          <a:ln/>
        </p:spPr>
        <p:txBody>
          <a:bodyPr wrap="square" lIns="0" tIns="0" rIns="0" bIns="0" rtlCol="0" anchor="t"/>
          <a:lstStyle/>
          <a:p>
            <a:pPr algn="r" indent="0" marL="0">
              <a:buNone/>
            </a:pPr>
            <a:r>
              <a:rPr lang="en-US" sz="1100" b="1" spc="200" kern="0" dirty="0">
                <a:solidFill>
                  <a:schemeClr val="tx2"/>
                </a:solidFill>
              </a:rPr>
              <a:t>STAGE 1 OF 8 · DEFINE</a:t>
            </a:r>
            <a:endParaRPr lang="en-US" sz="1100" dirty="0"/>
          </a:p>
        </p:txBody>
      </p:sp>
      <p:sp>
        <p:nvSpPr>
          <p:cNvPr id="5" name="Stage dot 1"/>
          <p:cNvSpPr/>
          <p:nvPr/>
        </p:nvSpPr>
        <p:spPr>
          <a:xfrm>
            <a:off x="9537192" y="713232"/>
            <a:ext cx="182880" cy="182880"/>
          </a:xfrm>
          <a:prstGeom prst="ellipse">
            <a:avLst/>
          </a:prstGeom>
          <a:solidFill>
            <a:schemeClr val="accent1"/>
          </a:solidFill>
          <a:ln w="9525">
            <a:solidFill>
              <a:schemeClr val="accent1"/>
            </a:solidFill>
            <a:prstDash val="solid"/>
          </a:ln>
        </p:spPr>
      </p:sp>
      <p:sp>
        <p:nvSpPr>
          <p:cNvPr id="6" name="Stage dot 2"/>
          <p:cNvSpPr/>
          <p:nvPr/>
        </p:nvSpPr>
        <p:spPr>
          <a:xfrm>
            <a:off x="9829800" y="731520"/>
            <a:ext cx="146304" cy="146304"/>
          </a:xfrm>
          <a:prstGeom prst="ellipse">
            <a:avLst/>
          </a:prstGeom>
          <a:solidFill>
            <a:schemeClr val="accent5"/>
          </a:solidFill>
          <a:ln w="9525">
            <a:solidFill>
              <a:schemeClr val="accent6"/>
            </a:solidFill>
            <a:prstDash val="solid"/>
          </a:ln>
        </p:spPr>
      </p:sp>
      <p:sp>
        <p:nvSpPr>
          <p:cNvPr id="7" name="Stage dot 3"/>
          <p:cNvSpPr/>
          <p:nvPr/>
        </p:nvSpPr>
        <p:spPr>
          <a:xfrm>
            <a:off x="10104120" y="731520"/>
            <a:ext cx="146304" cy="146304"/>
          </a:xfrm>
          <a:prstGeom prst="ellipse">
            <a:avLst/>
          </a:prstGeom>
          <a:solidFill>
            <a:schemeClr val="accent5"/>
          </a:solidFill>
          <a:ln w="9525">
            <a:solidFill>
              <a:schemeClr val="accent6"/>
            </a:solidFill>
            <a:prstDash val="solid"/>
          </a:ln>
        </p:spPr>
      </p:sp>
      <p:sp>
        <p:nvSpPr>
          <p:cNvPr id="8" name="Stage dot 4"/>
          <p:cNvSpPr/>
          <p:nvPr/>
        </p:nvSpPr>
        <p:spPr>
          <a:xfrm>
            <a:off x="10378440" y="731520"/>
            <a:ext cx="146304" cy="146304"/>
          </a:xfrm>
          <a:prstGeom prst="ellipse">
            <a:avLst/>
          </a:prstGeom>
          <a:solidFill>
            <a:schemeClr val="accent5"/>
          </a:solidFill>
          <a:ln w="9525">
            <a:solidFill>
              <a:schemeClr val="accent6"/>
            </a:solidFill>
            <a:prstDash val="solid"/>
          </a:ln>
        </p:spPr>
      </p:sp>
      <p:sp>
        <p:nvSpPr>
          <p:cNvPr id="9" name="Stage dot 5"/>
          <p:cNvSpPr/>
          <p:nvPr/>
        </p:nvSpPr>
        <p:spPr>
          <a:xfrm>
            <a:off x="10652760" y="731520"/>
            <a:ext cx="146304" cy="146304"/>
          </a:xfrm>
          <a:prstGeom prst="ellipse">
            <a:avLst/>
          </a:prstGeom>
          <a:solidFill>
            <a:schemeClr val="accent5"/>
          </a:solidFill>
          <a:ln w="9525">
            <a:solidFill>
              <a:schemeClr val="accent6"/>
            </a:solidFill>
            <a:prstDash val="solid"/>
          </a:ln>
        </p:spPr>
      </p:sp>
      <p:sp>
        <p:nvSpPr>
          <p:cNvPr id="10" name="Stage dot 6"/>
          <p:cNvSpPr/>
          <p:nvPr/>
        </p:nvSpPr>
        <p:spPr>
          <a:xfrm>
            <a:off x="10927080" y="731520"/>
            <a:ext cx="146304" cy="146304"/>
          </a:xfrm>
          <a:prstGeom prst="ellipse">
            <a:avLst/>
          </a:prstGeom>
          <a:solidFill>
            <a:schemeClr val="accent5"/>
          </a:solidFill>
          <a:ln w="9525">
            <a:solidFill>
              <a:schemeClr val="accent6"/>
            </a:solidFill>
            <a:prstDash val="solid"/>
          </a:ln>
        </p:spPr>
      </p:sp>
      <p:sp>
        <p:nvSpPr>
          <p:cNvPr id="11" name="Stage dot 7"/>
          <p:cNvSpPr/>
          <p:nvPr/>
        </p:nvSpPr>
        <p:spPr>
          <a:xfrm>
            <a:off x="11201400" y="731520"/>
            <a:ext cx="146304" cy="146304"/>
          </a:xfrm>
          <a:prstGeom prst="ellipse">
            <a:avLst/>
          </a:prstGeom>
          <a:solidFill>
            <a:schemeClr val="accent5"/>
          </a:solidFill>
          <a:ln w="9525">
            <a:solidFill>
              <a:schemeClr val="accent6"/>
            </a:solidFill>
            <a:prstDash val="solid"/>
          </a:ln>
        </p:spPr>
      </p:sp>
      <p:sp>
        <p:nvSpPr>
          <p:cNvPr id="12" name="Stage dot 8"/>
          <p:cNvSpPr/>
          <p:nvPr/>
        </p:nvSpPr>
        <p:spPr>
          <a:xfrm>
            <a:off x="11475720" y="731520"/>
            <a:ext cx="146304" cy="146304"/>
          </a:xfrm>
          <a:prstGeom prst="ellipse">
            <a:avLst/>
          </a:prstGeom>
          <a:solidFill>
            <a:schemeClr val="accent5"/>
          </a:solidFill>
          <a:ln w="9525">
            <a:solidFill>
              <a:schemeClr val="accent6"/>
            </a:solidFill>
            <a:prstDash val="solid"/>
          </a:ln>
        </p:spPr>
      </p:sp>
      <p:sp>
        <p:nvSpPr>
          <p:cNvPr id="13" name="Problem question"/>
          <p:cNvSpPr txBox="1"/>
          <p:nvPr/>
        </p:nvSpPr>
        <p:spPr>
          <a:xfrm>
            <a:off x="548640" y="1508760"/>
            <a:ext cx="5577840" cy="1554480"/>
          </a:xfrm>
          <a:prstGeom prst="rect">
            <a:avLst/>
          </a:prstGeom>
          <a:noFill/>
          <a:ln/>
        </p:spPr>
        <p:txBody>
          <a:bodyPr wrap="square" lIns="0" tIns="0" rIns="0" bIns="0" rtlCol="0" anchor="t"/>
          <a:lstStyle/>
          <a:p>
            <a:pPr indent="0" marL="0">
              <a:buNone/>
            </a:pPr>
            <a:r>
              <a:rPr lang="en-US" sz="3000" b="1" dirty="0">
                <a:solidFill>
                  <a:schemeClr val="tx1"/>
                </a:solidFill>
                <a:latin typeface="+mj-lt" pitchFamily="34" charset="0"/>
                <a:ea typeface="+mj-lt" pitchFamily="34" charset="-122"/>
                <a:cs typeface="+mj-lt" pitchFamily="34" charset="-120"/>
              </a:rPr>
              <a:t>How many runs will this batter score in this innings?</a:t>
            </a:r>
            <a:endParaRPr lang="en-US" sz="3000" dirty="0"/>
          </a:p>
        </p:txBody>
      </p:sp>
      <p:sp>
        <p:nvSpPr>
          <p:cNvPr id="14" name="Problem context"/>
          <p:cNvSpPr txBox="1"/>
          <p:nvPr/>
        </p:nvSpPr>
        <p:spPr>
          <a:xfrm>
            <a:off x="548640" y="2880360"/>
            <a:ext cx="5577840" cy="1005840"/>
          </a:xfrm>
          <a:prstGeom prst="rect">
            <a:avLst/>
          </a:prstGeom>
          <a:noFill/>
          <a:ln/>
        </p:spPr>
        <p:txBody>
          <a:bodyPr wrap="square" lIns="0" tIns="0" rIns="0" bIns="0" rtlCol="0" anchor="t"/>
          <a:lstStyle/>
          <a:p>
            <a:pPr indent="0" marL="0">
              <a:buNone/>
            </a:pPr>
            <a:r>
              <a:rPr lang="en-US" sz="1600" dirty="0">
                <a:solidFill>
                  <a:schemeClr val="tx2"/>
                </a:solidFill>
              </a:rPr>
              <a:t>Selectors, analysts and fantasy players all make this call. A model can ground it in the batter's own earlier innings.</a:t>
            </a:r>
            <a:endParaRPr lang="en-US" sz="1600" dirty="0"/>
          </a:p>
        </p:txBody>
      </p:sp>
      <p:sp>
        <p:nvSpPr>
          <p:cNvPr id="15" name="Baseline callout"/>
          <p:cNvSpPr/>
          <p:nvPr/>
        </p:nvSpPr>
        <p:spPr>
          <a:xfrm>
            <a:off x="548640" y="4526280"/>
            <a:ext cx="5577840" cy="1371600"/>
          </a:xfrm>
          <a:prstGeom prst="roundRect">
            <a:avLst>
              <a:gd name="adj" fmla="val 6667"/>
            </a:avLst>
          </a:prstGeom>
          <a:solidFill>
            <a:schemeClr val="bg2"/>
          </a:solidFill>
          <a:ln w="9525">
            <a:solidFill>
              <a:schemeClr val="accent5"/>
            </a:solidFill>
            <a:prstDash val="solid"/>
          </a:ln>
        </p:spPr>
      </p:sp>
      <p:sp>
        <p:nvSpPr>
          <p:cNvPr id="16" name="Baseline value"/>
          <p:cNvSpPr txBox="1"/>
          <p:nvPr/>
        </p:nvSpPr>
        <p:spPr>
          <a:xfrm>
            <a:off x="777240" y="4663440"/>
            <a:ext cx="2103120" cy="1097280"/>
          </a:xfrm>
          <a:prstGeom prst="rect">
            <a:avLst/>
          </a:prstGeom>
          <a:noFill/>
          <a:ln/>
        </p:spPr>
        <p:txBody>
          <a:bodyPr wrap="square" lIns="0" tIns="0" rIns="0" bIns="0" rtlCol="0" anchor="ctr"/>
          <a:lstStyle/>
          <a:p>
            <a:pPr indent="0" marL="0">
              <a:buNone/>
            </a:pPr>
            <a:r>
              <a:rPr lang="en-US" sz="4800" b="1" dirty="0">
                <a:solidFill>
                  <a:schemeClr val="accent2"/>
                </a:solidFill>
                <a:latin typeface="+mj-lt" pitchFamily="34" charset="0"/>
                <a:ea typeface="+mj-lt" pitchFamily="34" charset="-122"/>
                <a:cs typeface="+mj-lt" pitchFamily="34" charset="-120"/>
              </a:rPr>
              <a:t>17.46</a:t>
            </a:r>
            <a:endParaRPr lang="en-US" sz="4800" dirty="0"/>
          </a:p>
        </p:txBody>
      </p:sp>
      <p:sp>
        <p:nvSpPr>
          <p:cNvPr id="17" name="Baseline caption"/>
          <p:cNvSpPr txBox="1"/>
          <p:nvPr/>
        </p:nvSpPr>
        <p:spPr>
          <a:xfrm>
            <a:off x="2926080" y="4663440"/>
            <a:ext cx="3017520" cy="1097280"/>
          </a:xfrm>
          <a:prstGeom prst="rect">
            <a:avLst/>
          </a:prstGeom>
          <a:noFill/>
          <a:ln/>
        </p:spPr>
        <p:txBody>
          <a:bodyPr wrap="square" lIns="0" tIns="0" rIns="0" bIns="0" rtlCol="0" anchor="ctr"/>
          <a:lstStyle/>
          <a:p>
            <a:pPr indent="0" marL="0">
              <a:buNone/>
            </a:pPr>
            <a:r>
              <a:rPr lang="en-US" sz="1400" dirty="0">
                <a:solidFill>
                  <a:schemeClr val="tx2"/>
                </a:solidFill>
              </a:rPr>
              <a:t>runs: the error (MAE) of always guessing the training mean. A useful model must come in under it.</a:t>
            </a:r>
            <a:endParaRPr lang="en-US" sz="1400" dirty="0"/>
          </a:p>
        </p:txBody>
      </p:sp>
      <p:sp>
        <p:nvSpPr>
          <p:cNvPr id="18" name="Define card 1"/>
          <p:cNvSpPr/>
          <p:nvPr/>
        </p:nvSpPr>
        <p:spPr>
          <a:xfrm>
            <a:off x="6675120" y="1508760"/>
            <a:ext cx="4965192" cy="1371600"/>
          </a:xfrm>
          <a:prstGeom prst="roundRect">
            <a:avLst>
              <a:gd name="adj" fmla="val 6667"/>
            </a:avLst>
          </a:prstGeom>
          <a:solidFill>
            <a:schemeClr val="bg2"/>
          </a:solidFill>
          <a:ln w="9525">
            <a:solidFill>
              <a:schemeClr val="accent5"/>
            </a:solidFill>
            <a:prstDash val="solid"/>
          </a:ln>
        </p:spPr>
      </p:sp>
      <p:sp>
        <p:nvSpPr>
          <p:cNvPr id="19" name="Define icon 1 circle"/>
          <p:cNvSpPr/>
          <p:nvPr/>
        </p:nvSpPr>
        <p:spPr>
          <a:xfrm>
            <a:off x="6903720" y="1828800"/>
            <a:ext cx="731520" cy="731520"/>
          </a:xfrm>
          <a:prstGeom prst="ellipse">
            <a:avLst/>
          </a:prstGeom>
          <a:solidFill>
            <a:schemeClr val="accent5"/>
          </a:solidFill>
          <a:ln w="9525">
            <a:solidFill>
              <a:schemeClr val="accent6"/>
            </a:solidFill>
            <a:prstDash val="solid"/>
          </a:ln>
        </p:spPr>
      </p:sp>
      <p:pic>
        <p:nvPicPr>
          <p:cNvPr id="20" name="Define icon 1" descr="Define icon 1">    </p:cNvPr>
          <p:cNvPicPr>
            <a:picLocks noChangeAspect="1"/>
          </p:cNvPicPr>
          <p:nvPr/>
        </p:nvPicPr>
        <p:blipFill>
          <a:blip r:embed="rId1"/>
          <a:stretch>
            <a:fillRect/>
          </a:stretch>
        </p:blipFill>
        <p:spPr>
          <a:xfrm>
            <a:off x="7093915" y="2018995"/>
            <a:ext cx="351130" cy="351130"/>
          </a:xfrm>
          <a:prstGeom prst="rect">
            <a:avLst/>
          </a:prstGeom>
        </p:spPr>
      </p:pic>
      <p:sp>
        <p:nvSpPr>
          <p:cNvPr id="21" name="Define head 1"/>
          <p:cNvSpPr txBox="1"/>
          <p:nvPr/>
        </p:nvSpPr>
        <p:spPr>
          <a:xfrm>
            <a:off x="7863840" y="1737360"/>
            <a:ext cx="3566160" cy="320040"/>
          </a:xfrm>
          <a:prstGeom prst="rect">
            <a:avLst/>
          </a:prstGeom>
          <a:noFill/>
          <a:ln/>
        </p:spPr>
        <p:txBody>
          <a:bodyPr wrap="square" lIns="0" tIns="0" rIns="0" bIns="0" rtlCol="0" anchor="t"/>
          <a:lstStyle/>
          <a:p>
            <a:pPr indent="0" marL="0">
              <a:buNone/>
            </a:pPr>
            <a:r>
              <a:rPr lang="en-US" sz="1800" b="1" dirty="0">
                <a:solidFill>
                  <a:schemeClr val="tx1"/>
                </a:solidFill>
              </a:rPr>
              <a:t>Target</a:t>
            </a:r>
            <a:endParaRPr lang="en-US" sz="1800" dirty="0"/>
          </a:p>
        </p:txBody>
      </p:sp>
      <p:sp>
        <p:nvSpPr>
          <p:cNvPr id="22" name="Define text 1"/>
          <p:cNvSpPr txBox="1"/>
          <p:nvPr/>
        </p:nvSpPr>
        <p:spPr>
          <a:xfrm>
            <a:off x="7863840" y="2103120"/>
            <a:ext cx="3566160" cy="685800"/>
          </a:xfrm>
          <a:prstGeom prst="rect">
            <a:avLst/>
          </a:prstGeom>
          <a:noFill/>
          <a:ln/>
        </p:spPr>
        <p:txBody>
          <a:bodyPr wrap="square" lIns="0" tIns="0" rIns="0" bIns="0" rtlCol="0" anchor="t"/>
          <a:lstStyle/>
          <a:p>
            <a:pPr indent="0" marL="0">
              <a:buNone/>
            </a:pPr>
            <a:r>
              <a:rPr lang="en-US" sz="1400" dirty="0">
                <a:solidFill>
                  <a:schemeClr val="tx2"/>
                </a:solidFill>
              </a:rPr>
              <a:t>innings_runs: runs off the bat in one innings, extras excluded</a:t>
            </a:r>
            <a:endParaRPr lang="en-US" sz="1400" dirty="0"/>
          </a:p>
        </p:txBody>
      </p:sp>
      <p:sp>
        <p:nvSpPr>
          <p:cNvPr id="23" name="Define card 2"/>
          <p:cNvSpPr/>
          <p:nvPr/>
        </p:nvSpPr>
        <p:spPr>
          <a:xfrm>
            <a:off x="6675120" y="3017520"/>
            <a:ext cx="4965192" cy="1371600"/>
          </a:xfrm>
          <a:prstGeom prst="roundRect">
            <a:avLst>
              <a:gd name="adj" fmla="val 6667"/>
            </a:avLst>
          </a:prstGeom>
          <a:solidFill>
            <a:schemeClr val="bg2"/>
          </a:solidFill>
          <a:ln w="9525">
            <a:solidFill>
              <a:schemeClr val="accent5"/>
            </a:solidFill>
            <a:prstDash val="solid"/>
          </a:ln>
        </p:spPr>
      </p:sp>
      <p:sp>
        <p:nvSpPr>
          <p:cNvPr id="24" name="Define icon 2 circle"/>
          <p:cNvSpPr/>
          <p:nvPr/>
        </p:nvSpPr>
        <p:spPr>
          <a:xfrm>
            <a:off x="6903720" y="3337560"/>
            <a:ext cx="731520" cy="731520"/>
          </a:xfrm>
          <a:prstGeom prst="ellipse">
            <a:avLst/>
          </a:prstGeom>
          <a:solidFill>
            <a:schemeClr val="accent5"/>
          </a:solidFill>
          <a:ln w="9525">
            <a:solidFill>
              <a:schemeClr val="accent6"/>
            </a:solidFill>
            <a:prstDash val="solid"/>
          </a:ln>
        </p:spPr>
      </p:sp>
      <p:pic>
        <p:nvPicPr>
          <p:cNvPr id="25" name="Define icon 2" descr="Define icon 2">    </p:cNvPr>
          <p:cNvPicPr>
            <a:picLocks noChangeAspect="1"/>
          </p:cNvPicPr>
          <p:nvPr/>
        </p:nvPicPr>
        <p:blipFill>
          <a:blip r:embed="rId2"/>
          <a:stretch>
            <a:fillRect/>
          </a:stretch>
        </p:blipFill>
        <p:spPr>
          <a:xfrm>
            <a:off x="7093915" y="3527755"/>
            <a:ext cx="351130" cy="351130"/>
          </a:xfrm>
          <a:prstGeom prst="rect">
            <a:avLst/>
          </a:prstGeom>
        </p:spPr>
      </p:pic>
      <p:sp>
        <p:nvSpPr>
          <p:cNvPr id="26" name="Define head 2"/>
          <p:cNvSpPr txBox="1"/>
          <p:nvPr/>
        </p:nvSpPr>
        <p:spPr>
          <a:xfrm>
            <a:off x="7863840" y="3246120"/>
            <a:ext cx="3566160" cy="320040"/>
          </a:xfrm>
          <a:prstGeom prst="rect">
            <a:avLst/>
          </a:prstGeom>
          <a:noFill/>
          <a:ln/>
        </p:spPr>
        <p:txBody>
          <a:bodyPr wrap="square" lIns="0" tIns="0" rIns="0" bIns="0" rtlCol="0" anchor="t"/>
          <a:lstStyle/>
          <a:p>
            <a:pPr indent="0" marL="0">
              <a:buNone/>
            </a:pPr>
            <a:r>
              <a:rPr lang="en-US" sz="1800" b="1" dirty="0">
                <a:solidFill>
                  <a:schemeClr val="tx1"/>
                </a:solidFill>
              </a:rPr>
              <a:t>Task</a:t>
            </a:r>
            <a:endParaRPr lang="en-US" sz="1800" dirty="0"/>
          </a:p>
        </p:txBody>
      </p:sp>
      <p:sp>
        <p:nvSpPr>
          <p:cNvPr id="27" name="Define text 2"/>
          <p:cNvSpPr txBox="1"/>
          <p:nvPr/>
        </p:nvSpPr>
        <p:spPr>
          <a:xfrm>
            <a:off x="7863840" y="3611880"/>
            <a:ext cx="3566160" cy="685800"/>
          </a:xfrm>
          <a:prstGeom prst="rect">
            <a:avLst/>
          </a:prstGeom>
          <a:noFill/>
          <a:ln/>
        </p:spPr>
        <p:txBody>
          <a:bodyPr wrap="square" lIns="0" tIns="0" rIns="0" bIns="0" rtlCol="0" anchor="t"/>
          <a:lstStyle/>
          <a:p>
            <a:pPr indent="0" marL="0">
              <a:buNone/>
            </a:pPr>
            <a:r>
              <a:rPr lang="en-US" sz="1400" dirty="0">
                <a:solidFill>
                  <a:schemeClr val="tx2"/>
                </a:solidFill>
              </a:rPr>
              <a:t>Supervised regression with one row per batter per innings</a:t>
            </a:r>
            <a:endParaRPr lang="en-US" sz="1400" dirty="0"/>
          </a:p>
        </p:txBody>
      </p:sp>
      <p:sp>
        <p:nvSpPr>
          <p:cNvPr id="28" name="Define card 3"/>
          <p:cNvSpPr/>
          <p:nvPr/>
        </p:nvSpPr>
        <p:spPr>
          <a:xfrm>
            <a:off x="6675120" y="4526280"/>
            <a:ext cx="4965192" cy="1371600"/>
          </a:xfrm>
          <a:prstGeom prst="roundRect">
            <a:avLst>
              <a:gd name="adj" fmla="val 6667"/>
            </a:avLst>
          </a:prstGeom>
          <a:solidFill>
            <a:schemeClr val="bg2"/>
          </a:solidFill>
          <a:ln w="9525">
            <a:solidFill>
              <a:schemeClr val="accent5"/>
            </a:solidFill>
            <a:prstDash val="solid"/>
          </a:ln>
        </p:spPr>
      </p:sp>
      <p:sp>
        <p:nvSpPr>
          <p:cNvPr id="29" name="Define icon 3 circle"/>
          <p:cNvSpPr/>
          <p:nvPr/>
        </p:nvSpPr>
        <p:spPr>
          <a:xfrm>
            <a:off x="6903720" y="4846320"/>
            <a:ext cx="731520" cy="731520"/>
          </a:xfrm>
          <a:prstGeom prst="ellipse">
            <a:avLst/>
          </a:prstGeom>
          <a:solidFill>
            <a:schemeClr val="accent5"/>
          </a:solidFill>
          <a:ln w="9525">
            <a:solidFill>
              <a:schemeClr val="accent6"/>
            </a:solidFill>
            <a:prstDash val="solid"/>
          </a:ln>
        </p:spPr>
      </p:sp>
      <p:pic>
        <p:nvPicPr>
          <p:cNvPr id="30" name="Define icon 3" descr="Define icon 3">    </p:cNvPr>
          <p:cNvPicPr>
            <a:picLocks noChangeAspect="1"/>
          </p:cNvPicPr>
          <p:nvPr/>
        </p:nvPicPr>
        <p:blipFill>
          <a:blip r:embed="rId3"/>
          <a:stretch>
            <a:fillRect/>
          </a:stretch>
        </p:blipFill>
        <p:spPr>
          <a:xfrm>
            <a:off x="7093915" y="5036515"/>
            <a:ext cx="351130" cy="351130"/>
          </a:xfrm>
          <a:prstGeom prst="rect">
            <a:avLst/>
          </a:prstGeom>
        </p:spPr>
      </p:pic>
      <p:sp>
        <p:nvSpPr>
          <p:cNvPr id="31" name="Define head 3"/>
          <p:cNvSpPr txBox="1"/>
          <p:nvPr/>
        </p:nvSpPr>
        <p:spPr>
          <a:xfrm>
            <a:off x="7863840" y="4754880"/>
            <a:ext cx="3566160" cy="320040"/>
          </a:xfrm>
          <a:prstGeom prst="rect">
            <a:avLst/>
          </a:prstGeom>
          <a:noFill/>
          <a:ln/>
        </p:spPr>
        <p:txBody>
          <a:bodyPr wrap="square" lIns="0" tIns="0" rIns="0" bIns="0" rtlCol="0" anchor="t"/>
          <a:lstStyle/>
          <a:p>
            <a:pPr indent="0" marL="0">
              <a:buNone/>
            </a:pPr>
            <a:r>
              <a:rPr lang="en-US" sz="1800" b="1" dirty="0">
                <a:solidFill>
                  <a:schemeClr val="tx1"/>
                </a:solidFill>
              </a:rPr>
              <a:t>Success</a:t>
            </a:r>
            <a:endParaRPr lang="en-US" sz="1800" dirty="0"/>
          </a:p>
        </p:txBody>
      </p:sp>
      <p:sp>
        <p:nvSpPr>
          <p:cNvPr id="32" name="Define text 3"/>
          <p:cNvSpPr txBox="1"/>
          <p:nvPr/>
        </p:nvSpPr>
        <p:spPr>
          <a:xfrm>
            <a:off x="7863840" y="5120640"/>
            <a:ext cx="3566160" cy="685800"/>
          </a:xfrm>
          <a:prstGeom prst="rect">
            <a:avLst/>
          </a:prstGeom>
          <a:noFill/>
          <a:ln/>
        </p:spPr>
        <p:txBody>
          <a:bodyPr wrap="square" lIns="0" tIns="0" rIns="0" bIns="0" rtlCol="0" anchor="t"/>
          <a:lstStyle/>
          <a:p>
            <a:pPr indent="0" marL="0">
              <a:buNone/>
            </a:pPr>
            <a:r>
              <a:rPr lang="en-US" sz="1400" dirty="0">
                <a:solidFill>
                  <a:schemeClr val="tx2"/>
                </a:solidFill>
              </a:rPr>
              <a:t>Beat the mean baseline on MAE, MSE, RMSE and R² on unseen matches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Collect the data</a:t>
            </a:r>
            <a:endParaRPr lang="en-US" sz="3200" dirty="0"/>
          </a:p>
        </p:txBody>
      </p:sp>
      <p:sp>
        <p:nvSpPr>
          <p:cNvPr id="4" name="Stage label"/>
          <p:cNvSpPr txBox="1"/>
          <p:nvPr/>
        </p:nvSpPr>
        <p:spPr>
          <a:xfrm>
            <a:off x="7406640" y="347472"/>
            <a:ext cx="4233672" cy="274320"/>
          </a:xfrm>
          <a:prstGeom prst="rect">
            <a:avLst/>
          </a:prstGeom>
          <a:noFill/>
          <a:ln/>
        </p:spPr>
        <p:txBody>
          <a:bodyPr wrap="square" lIns="0" tIns="0" rIns="0" bIns="0" rtlCol="0" anchor="t"/>
          <a:lstStyle/>
          <a:p>
            <a:pPr algn="r" indent="0" marL="0">
              <a:buNone/>
            </a:pPr>
            <a:r>
              <a:rPr lang="en-US" sz="1100" b="1" spc="200" kern="0" dirty="0">
                <a:solidFill>
                  <a:schemeClr val="tx2"/>
                </a:solidFill>
              </a:rPr>
              <a:t>STAGE 2 OF 8 · COLLECT</a:t>
            </a:r>
            <a:endParaRPr lang="en-US" sz="1100" dirty="0"/>
          </a:p>
        </p:txBody>
      </p:sp>
      <p:sp>
        <p:nvSpPr>
          <p:cNvPr id="5" name="Stage dot 1"/>
          <p:cNvSpPr/>
          <p:nvPr/>
        </p:nvSpPr>
        <p:spPr>
          <a:xfrm>
            <a:off x="9555480" y="731520"/>
            <a:ext cx="146304" cy="146304"/>
          </a:xfrm>
          <a:prstGeom prst="ellipse">
            <a:avLst/>
          </a:prstGeom>
          <a:solidFill>
            <a:schemeClr val="accent4"/>
          </a:solidFill>
          <a:ln w="9525">
            <a:solidFill>
              <a:schemeClr val="accent6"/>
            </a:solidFill>
            <a:prstDash val="solid"/>
          </a:ln>
        </p:spPr>
      </p:sp>
      <p:sp>
        <p:nvSpPr>
          <p:cNvPr id="6" name="Stage dot 2"/>
          <p:cNvSpPr/>
          <p:nvPr/>
        </p:nvSpPr>
        <p:spPr>
          <a:xfrm>
            <a:off x="9811512" y="713232"/>
            <a:ext cx="182880" cy="182880"/>
          </a:xfrm>
          <a:prstGeom prst="ellipse">
            <a:avLst/>
          </a:prstGeom>
          <a:solidFill>
            <a:schemeClr val="accent1"/>
          </a:solidFill>
          <a:ln w="9525">
            <a:solidFill>
              <a:schemeClr val="accent1"/>
            </a:solidFill>
            <a:prstDash val="solid"/>
          </a:ln>
        </p:spPr>
      </p:sp>
      <p:sp>
        <p:nvSpPr>
          <p:cNvPr id="7" name="Stage dot 3"/>
          <p:cNvSpPr/>
          <p:nvPr/>
        </p:nvSpPr>
        <p:spPr>
          <a:xfrm>
            <a:off x="10104120" y="731520"/>
            <a:ext cx="146304" cy="146304"/>
          </a:xfrm>
          <a:prstGeom prst="ellipse">
            <a:avLst/>
          </a:prstGeom>
          <a:solidFill>
            <a:schemeClr val="accent5"/>
          </a:solidFill>
          <a:ln w="9525">
            <a:solidFill>
              <a:schemeClr val="accent6"/>
            </a:solidFill>
            <a:prstDash val="solid"/>
          </a:ln>
        </p:spPr>
      </p:sp>
      <p:sp>
        <p:nvSpPr>
          <p:cNvPr id="8" name="Stage dot 4"/>
          <p:cNvSpPr/>
          <p:nvPr/>
        </p:nvSpPr>
        <p:spPr>
          <a:xfrm>
            <a:off x="10378440" y="731520"/>
            <a:ext cx="146304" cy="146304"/>
          </a:xfrm>
          <a:prstGeom prst="ellipse">
            <a:avLst/>
          </a:prstGeom>
          <a:solidFill>
            <a:schemeClr val="accent5"/>
          </a:solidFill>
          <a:ln w="9525">
            <a:solidFill>
              <a:schemeClr val="accent6"/>
            </a:solidFill>
            <a:prstDash val="solid"/>
          </a:ln>
        </p:spPr>
      </p:sp>
      <p:sp>
        <p:nvSpPr>
          <p:cNvPr id="9" name="Stage dot 5"/>
          <p:cNvSpPr/>
          <p:nvPr/>
        </p:nvSpPr>
        <p:spPr>
          <a:xfrm>
            <a:off x="10652760" y="731520"/>
            <a:ext cx="146304" cy="146304"/>
          </a:xfrm>
          <a:prstGeom prst="ellipse">
            <a:avLst/>
          </a:prstGeom>
          <a:solidFill>
            <a:schemeClr val="accent5"/>
          </a:solidFill>
          <a:ln w="9525">
            <a:solidFill>
              <a:schemeClr val="accent6"/>
            </a:solidFill>
            <a:prstDash val="solid"/>
          </a:ln>
        </p:spPr>
      </p:sp>
      <p:sp>
        <p:nvSpPr>
          <p:cNvPr id="10" name="Stage dot 6"/>
          <p:cNvSpPr/>
          <p:nvPr/>
        </p:nvSpPr>
        <p:spPr>
          <a:xfrm>
            <a:off x="10927080" y="731520"/>
            <a:ext cx="146304" cy="146304"/>
          </a:xfrm>
          <a:prstGeom prst="ellipse">
            <a:avLst/>
          </a:prstGeom>
          <a:solidFill>
            <a:schemeClr val="accent5"/>
          </a:solidFill>
          <a:ln w="9525">
            <a:solidFill>
              <a:schemeClr val="accent6"/>
            </a:solidFill>
            <a:prstDash val="solid"/>
          </a:ln>
        </p:spPr>
      </p:sp>
      <p:sp>
        <p:nvSpPr>
          <p:cNvPr id="11" name="Stage dot 7"/>
          <p:cNvSpPr/>
          <p:nvPr/>
        </p:nvSpPr>
        <p:spPr>
          <a:xfrm>
            <a:off x="11201400" y="731520"/>
            <a:ext cx="146304" cy="146304"/>
          </a:xfrm>
          <a:prstGeom prst="ellipse">
            <a:avLst/>
          </a:prstGeom>
          <a:solidFill>
            <a:schemeClr val="accent5"/>
          </a:solidFill>
          <a:ln w="9525">
            <a:solidFill>
              <a:schemeClr val="accent6"/>
            </a:solidFill>
            <a:prstDash val="solid"/>
          </a:ln>
        </p:spPr>
      </p:sp>
      <p:sp>
        <p:nvSpPr>
          <p:cNvPr id="12" name="Stage dot 8"/>
          <p:cNvSpPr/>
          <p:nvPr/>
        </p:nvSpPr>
        <p:spPr>
          <a:xfrm>
            <a:off x="11475720" y="731520"/>
            <a:ext cx="146304" cy="146304"/>
          </a:xfrm>
          <a:prstGeom prst="ellipse">
            <a:avLst/>
          </a:prstGeom>
          <a:solidFill>
            <a:schemeClr val="accent5"/>
          </a:solidFill>
          <a:ln w="9525">
            <a:solidFill>
              <a:schemeClr val="accent6"/>
            </a:solidFill>
            <a:prstDash val="solid"/>
          </a:ln>
        </p:spPr>
      </p:sp>
      <p:sp>
        <p:nvSpPr>
          <p:cNvPr id="13" name="Data stat 1"/>
          <p:cNvSpPr/>
          <p:nvPr/>
        </p:nvSpPr>
        <p:spPr>
          <a:xfrm>
            <a:off x="548640" y="1463040"/>
            <a:ext cx="2606040" cy="1508760"/>
          </a:xfrm>
          <a:prstGeom prst="roundRect">
            <a:avLst>
              <a:gd name="adj" fmla="val 6061"/>
            </a:avLst>
          </a:prstGeom>
          <a:solidFill>
            <a:schemeClr val="bg2"/>
          </a:solidFill>
          <a:ln w="9525">
            <a:solidFill>
              <a:schemeClr val="accent5"/>
            </a:solidFill>
            <a:prstDash val="solid"/>
          </a:ln>
        </p:spPr>
      </p:sp>
      <p:sp>
        <p:nvSpPr>
          <p:cNvPr id="14" name="Data stat value 1"/>
          <p:cNvSpPr txBox="1"/>
          <p:nvPr/>
        </p:nvSpPr>
        <p:spPr>
          <a:xfrm>
            <a:off x="777240" y="1627632"/>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243,817</a:t>
            </a:r>
            <a:endParaRPr lang="en-US" sz="4000" dirty="0"/>
          </a:p>
        </p:txBody>
      </p:sp>
      <p:sp>
        <p:nvSpPr>
          <p:cNvPr id="15" name="Data stat label 1"/>
          <p:cNvSpPr txBox="1"/>
          <p:nvPr/>
        </p:nvSpPr>
        <p:spPr>
          <a:xfrm>
            <a:off x="777240" y="2377440"/>
            <a:ext cx="2194560" cy="365760"/>
          </a:xfrm>
          <a:prstGeom prst="rect">
            <a:avLst/>
          </a:prstGeom>
          <a:noFill/>
          <a:ln/>
        </p:spPr>
        <p:txBody>
          <a:bodyPr wrap="square" lIns="0" tIns="0" rIns="0" bIns="0" rtlCol="0" anchor="t"/>
          <a:lstStyle/>
          <a:p>
            <a:pPr indent="0" marL="0">
              <a:buNone/>
            </a:pPr>
            <a:r>
              <a:rPr lang="en-US" sz="1400" dirty="0">
                <a:solidFill>
                  <a:schemeClr val="tx2"/>
                </a:solidFill>
              </a:rPr>
              <a:t>deliveries</a:t>
            </a:r>
            <a:endParaRPr lang="en-US" sz="1400" dirty="0"/>
          </a:p>
        </p:txBody>
      </p:sp>
      <p:sp>
        <p:nvSpPr>
          <p:cNvPr id="16" name="Data stat 2"/>
          <p:cNvSpPr/>
          <p:nvPr/>
        </p:nvSpPr>
        <p:spPr>
          <a:xfrm>
            <a:off x="3364992" y="1463040"/>
            <a:ext cx="2606040" cy="1508760"/>
          </a:xfrm>
          <a:prstGeom prst="roundRect">
            <a:avLst>
              <a:gd name="adj" fmla="val 6061"/>
            </a:avLst>
          </a:prstGeom>
          <a:solidFill>
            <a:schemeClr val="bg2"/>
          </a:solidFill>
          <a:ln w="9525">
            <a:solidFill>
              <a:schemeClr val="accent5"/>
            </a:solidFill>
            <a:prstDash val="solid"/>
          </a:ln>
        </p:spPr>
      </p:sp>
      <p:sp>
        <p:nvSpPr>
          <p:cNvPr id="17" name="Data stat value 2"/>
          <p:cNvSpPr txBox="1"/>
          <p:nvPr/>
        </p:nvSpPr>
        <p:spPr>
          <a:xfrm>
            <a:off x="3593592" y="1627632"/>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1,024</a:t>
            </a:r>
            <a:endParaRPr lang="en-US" sz="4000" dirty="0"/>
          </a:p>
        </p:txBody>
      </p:sp>
      <p:sp>
        <p:nvSpPr>
          <p:cNvPr id="18" name="Data stat label 2"/>
          <p:cNvSpPr txBox="1"/>
          <p:nvPr/>
        </p:nvSpPr>
        <p:spPr>
          <a:xfrm>
            <a:off x="3593592" y="2377440"/>
            <a:ext cx="2194560" cy="365760"/>
          </a:xfrm>
          <a:prstGeom prst="rect">
            <a:avLst/>
          </a:prstGeom>
          <a:noFill/>
          <a:ln/>
        </p:spPr>
        <p:txBody>
          <a:bodyPr wrap="square" lIns="0" tIns="0" rIns="0" bIns="0" rtlCol="0" anchor="t"/>
          <a:lstStyle/>
          <a:p>
            <a:pPr indent="0" marL="0">
              <a:buNone/>
            </a:pPr>
            <a:r>
              <a:rPr lang="en-US" sz="1400" dirty="0">
                <a:solidFill>
                  <a:schemeClr val="tx2"/>
                </a:solidFill>
              </a:rPr>
              <a:t>matches</a:t>
            </a:r>
            <a:endParaRPr lang="en-US" sz="1400" dirty="0"/>
          </a:p>
        </p:txBody>
      </p:sp>
      <p:sp>
        <p:nvSpPr>
          <p:cNvPr id="19" name="Data stat 3"/>
          <p:cNvSpPr/>
          <p:nvPr/>
        </p:nvSpPr>
        <p:spPr>
          <a:xfrm>
            <a:off x="6181344" y="1463040"/>
            <a:ext cx="2606040" cy="1508760"/>
          </a:xfrm>
          <a:prstGeom prst="roundRect">
            <a:avLst>
              <a:gd name="adj" fmla="val 6061"/>
            </a:avLst>
          </a:prstGeom>
          <a:solidFill>
            <a:schemeClr val="bg2"/>
          </a:solidFill>
          <a:ln w="9525">
            <a:solidFill>
              <a:schemeClr val="accent5"/>
            </a:solidFill>
            <a:prstDash val="solid"/>
          </a:ln>
        </p:spPr>
      </p:sp>
      <p:sp>
        <p:nvSpPr>
          <p:cNvPr id="20" name="Data stat value 3"/>
          <p:cNvSpPr txBox="1"/>
          <p:nvPr/>
        </p:nvSpPr>
        <p:spPr>
          <a:xfrm>
            <a:off x="6409944" y="1627632"/>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16</a:t>
            </a:r>
            <a:endParaRPr lang="en-US" sz="4000" dirty="0"/>
          </a:p>
        </p:txBody>
      </p:sp>
      <p:sp>
        <p:nvSpPr>
          <p:cNvPr id="21" name="Data stat label 3"/>
          <p:cNvSpPr txBox="1"/>
          <p:nvPr/>
        </p:nvSpPr>
        <p:spPr>
          <a:xfrm>
            <a:off x="6409944" y="2377440"/>
            <a:ext cx="2194560" cy="365760"/>
          </a:xfrm>
          <a:prstGeom prst="rect">
            <a:avLst/>
          </a:prstGeom>
          <a:noFill/>
          <a:ln/>
        </p:spPr>
        <p:txBody>
          <a:bodyPr wrap="square" lIns="0" tIns="0" rIns="0" bIns="0" rtlCol="0" anchor="t"/>
          <a:lstStyle/>
          <a:p>
            <a:pPr indent="0" marL="0">
              <a:buNone/>
            </a:pPr>
            <a:r>
              <a:rPr lang="en-US" sz="1400" dirty="0">
                <a:solidFill>
                  <a:schemeClr val="tx2"/>
                </a:solidFill>
              </a:rPr>
              <a:t>seasons, 2008 to 2023</a:t>
            </a:r>
            <a:endParaRPr lang="en-US" sz="1400" dirty="0"/>
          </a:p>
        </p:txBody>
      </p:sp>
      <p:sp>
        <p:nvSpPr>
          <p:cNvPr id="22" name="Data stat 4"/>
          <p:cNvSpPr/>
          <p:nvPr/>
        </p:nvSpPr>
        <p:spPr>
          <a:xfrm>
            <a:off x="8997696" y="1463040"/>
            <a:ext cx="2606040" cy="1508760"/>
          </a:xfrm>
          <a:prstGeom prst="roundRect">
            <a:avLst>
              <a:gd name="adj" fmla="val 6061"/>
            </a:avLst>
          </a:prstGeom>
          <a:solidFill>
            <a:schemeClr val="bg2"/>
          </a:solidFill>
          <a:ln w="9525">
            <a:solidFill>
              <a:schemeClr val="accent5"/>
            </a:solidFill>
            <a:prstDash val="solid"/>
          </a:ln>
        </p:spPr>
      </p:sp>
      <p:sp>
        <p:nvSpPr>
          <p:cNvPr id="23" name="Data stat value 4"/>
          <p:cNvSpPr txBox="1"/>
          <p:nvPr/>
        </p:nvSpPr>
        <p:spPr>
          <a:xfrm>
            <a:off x="9226296" y="1627632"/>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637</a:t>
            </a:r>
            <a:endParaRPr lang="en-US" sz="4000" dirty="0"/>
          </a:p>
        </p:txBody>
      </p:sp>
      <p:sp>
        <p:nvSpPr>
          <p:cNvPr id="24" name="Data stat label 4"/>
          <p:cNvSpPr txBox="1"/>
          <p:nvPr/>
        </p:nvSpPr>
        <p:spPr>
          <a:xfrm>
            <a:off x="9226296" y="2377440"/>
            <a:ext cx="2194560" cy="365760"/>
          </a:xfrm>
          <a:prstGeom prst="rect">
            <a:avLst/>
          </a:prstGeom>
          <a:noFill/>
          <a:ln/>
        </p:spPr>
        <p:txBody>
          <a:bodyPr wrap="square" lIns="0" tIns="0" rIns="0" bIns="0" rtlCol="0" anchor="t"/>
          <a:lstStyle/>
          <a:p>
            <a:pPr indent="0" marL="0">
              <a:buNone/>
            </a:pPr>
            <a:r>
              <a:rPr lang="en-US" sz="1400" dirty="0">
                <a:solidFill>
                  <a:schemeClr val="tx2"/>
                </a:solidFill>
              </a:rPr>
              <a:t>batters</a:t>
            </a:r>
            <a:endParaRPr lang="en-US" sz="1400" dirty="0"/>
          </a:p>
        </p:txBody>
      </p:sp>
      <p:sp>
        <p:nvSpPr>
          <p:cNvPr id="25" name="Fields card"/>
          <p:cNvSpPr/>
          <p:nvPr/>
        </p:nvSpPr>
        <p:spPr>
          <a:xfrm>
            <a:off x="548640" y="3200400"/>
            <a:ext cx="6766560" cy="2377440"/>
          </a:xfrm>
          <a:prstGeom prst="roundRect">
            <a:avLst>
              <a:gd name="adj" fmla="val 3846"/>
            </a:avLst>
          </a:prstGeom>
          <a:solidFill>
            <a:schemeClr val="bg2"/>
          </a:solidFill>
          <a:ln w="9525">
            <a:solidFill>
              <a:schemeClr val="accent5"/>
            </a:solidFill>
            <a:prstDash val="solid"/>
          </a:ln>
        </p:spPr>
      </p:sp>
      <p:sp>
        <p:nvSpPr>
          <p:cNvPr id="26" name="Fields icon circle"/>
          <p:cNvSpPr/>
          <p:nvPr/>
        </p:nvSpPr>
        <p:spPr>
          <a:xfrm>
            <a:off x="777240" y="3383280"/>
            <a:ext cx="548640" cy="548640"/>
          </a:xfrm>
          <a:prstGeom prst="ellipse">
            <a:avLst/>
          </a:prstGeom>
          <a:solidFill>
            <a:schemeClr val="accent5"/>
          </a:solidFill>
          <a:ln w="9525">
            <a:solidFill>
              <a:schemeClr val="accent6"/>
            </a:solidFill>
            <a:prstDash val="solid"/>
          </a:ln>
        </p:spPr>
      </p:sp>
      <p:pic>
        <p:nvPicPr>
          <p:cNvPr id="27" name="Fields icon" descr="Fields icon">    </p:cNvPr>
          <p:cNvPicPr>
            <a:picLocks noChangeAspect="1"/>
          </p:cNvPicPr>
          <p:nvPr/>
        </p:nvPicPr>
        <p:blipFill>
          <a:blip r:embed="rId1"/>
          <a:stretch>
            <a:fillRect/>
          </a:stretch>
        </p:blipFill>
        <p:spPr>
          <a:xfrm>
            <a:off x="919886" y="3525926"/>
            <a:ext cx="263347" cy="263347"/>
          </a:xfrm>
          <a:prstGeom prst="rect">
            <a:avLst/>
          </a:prstGeom>
        </p:spPr>
      </p:pic>
      <p:sp>
        <p:nvSpPr>
          <p:cNvPr id="28" name="Fields head"/>
          <p:cNvSpPr txBox="1"/>
          <p:nvPr/>
        </p:nvSpPr>
        <p:spPr>
          <a:xfrm>
            <a:off x="1508760" y="3456432"/>
            <a:ext cx="5486400" cy="365760"/>
          </a:xfrm>
          <a:prstGeom prst="rect">
            <a:avLst/>
          </a:prstGeom>
          <a:noFill/>
          <a:ln/>
        </p:spPr>
        <p:txBody>
          <a:bodyPr wrap="square" lIns="0" tIns="0" rIns="0" bIns="0" rtlCol="0" anchor="ctr"/>
          <a:lstStyle/>
          <a:p>
            <a:pPr indent="0" marL="0">
              <a:buNone/>
            </a:pPr>
            <a:r>
              <a:rPr lang="en-US" sz="1800" b="1" dirty="0">
                <a:solidFill>
                  <a:schemeClr val="tx1"/>
                </a:solidFill>
              </a:rPr>
              <a:t>What each delivery records</a:t>
            </a:r>
            <a:endParaRPr lang="en-US" sz="1800" dirty="0"/>
          </a:p>
        </p:txBody>
      </p:sp>
      <p:sp>
        <p:nvSpPr>
          <p:cNvPr id="29" name="Fields list left"/>
          <p:cNvSpPr txBox="1"/>
          <p:nvPr/>
        </p:nvSpPr>
        <p:spPr>
          <a:xfrm>
            <a:off x="777240" y="4160520"/>
            <a:ext cx="3108960" cy="15544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2"/>
                </a:solidFill>
              </a:rPr>
              <a:t>Match, season and date</a:t>
            </a:r>
            <a:endParaRPr lang="en-US" sz="1600" dirty="0"/>
          </a:p>
          <a:p>
            <a:pPr marL="203200" indent="-203200">
              <a:spcAft>
                <a:spcPts val="800"/>
              </a:spcAft>
              <a:buSzPct val="100000"/>
              <a:buChar char="•"/>
            </a:pPr>
            <a:r>
              <a:rPr lang="en-US" sz="1600" dirty="0">
                <a:solidFill>
                  <a:schemeClr val="tx2"/>
                </a:solidFill>
              </a:rPr>
              <a:t>Venue and innings number</a:t>
            </a:r>
            <a:endParaRPr lang="en-US" sz="1600" dirty="0"/>
          </a:p>
          <a:p>
            <a:pPr marL="203200" indent="-203200">
              <a:spcAft>
                <a:spcPts val="800"/>
              </a:spcAft>
              <a:buSzPct val="100000"/>
              <a:buChar char="•"/>
            </a:pPr>
            <a:r>
              <a:rPr lang="en-US" sz="1600" dirty="0">
                <a:solidFill>
                  <a:schemeClr val="tx2"/>
                </a:solidFill>
              </a:rPr>
              <a:t>Batting and bowling team</a:t>
            </a:r>
            <a:endParaRPr lang="en-US" sz="1600" dirty="0"/>
          </a:p>
        </p:txBody>
      </p:sp>
      <p:sp>
        <p:nvSpPr>
          <p:cNvPr id="30" name="Fields list right"/>
          <p:cNvSpPr txBox="1"/>
          <p:nvPr/>
        </p:nvSpPr>
        <p:spPr>
          <a:xfrm>
            <a:off x="4023360" y="4160520"/>
            <a:ext cx="3108960" cy="15544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2"/>
                </a:solidFill>
              </a:rPr>
              <a:t>Striker, non-striker and bowler</a:t>
            </a:r>
            <a:endParaRPr lang="en-US" sz="1600" dirty="0"/>
          </a:p>
          <a:p>
            <a:pPr marL="203200" indent="-203200">
              <a:spcAft>
                <a:spcPts val="800"/>
              </a:spcAft>
              <a:buSzPct val="100000"/>
              <a:buChar char="•"/>
            </a:pPr>
            <a:r>
              <a:rPr lang="en-US" sz="1600" dirty="0">
                <a:solidFill>
                  <a:schemeClr val="tx2"/>
                </a:solidFill>
              </a:rPr>
              <a:t>Runs off the bat and extras</a:t>
            </a:r>
            <a:endParaRPr lang="en-US" sz="1600" dirty="0"/>
          </a:p>
          <a:p>
            <a:pPr marL="203200" indent="-203200">
              <a:spcAft>
                <a:spcPts val="800"/>
              </a:spcAft>
              <a:buSzPct val="100000"/>
              <a:buChar char="•"/>
            </a:pPr>
            <a:r>
              <a:rPr lang="en-US" sz="1600" dirty="0">
                <a:solidFill>
                  <a:schemeClr val="tx2"/>
                </a:solidFill>
              </a:rPr>
              <a:t>Wicket type and dismissed player</a:t>
            </a:r>
            <a:endParaRPr lang="en-US" sz="1600" dirty="0"/>
          </a:p>
        </p:txBody>
      </p:sp>
      <p:sp>
        <p:nvSpPr>
          <p:cNvPr id="31" name="Why card"/>
          <p:cNvSpPr/>
          <p:nvPr/>
        </p:nvSpPr>
        <p:spPr>
          <a:xfrm>
            <a:off x="7543800" y="3200400"/>
            <a:ext cx="4096512" cy="2377440"/>
          </a:xfrm>
          <a:prstGeom prst="roundRect">
            <a:avLst>
              <a:gd name="adj" fmla="val 3846"/>
            </a:avLst>
          </a:prstGeom>
          <a:solidFill>
            <a:schemeClr val="bg2"/>
          </a:solidFill>
          <a:ln w="9525">
            <a:solidFill>
              <a:schemeClr val="accent5"/>
            </a:solidFill>
            <a:prstDash val="solid"/>
          </a:ln>
        </p:spPr>
      </p:sp>
      <p:sp>
        <p:nvSpPr>
          <p:cNvPr id="32" name="Why head"/>
          <p:cNvSpPr txBox="1"/>
          <p:nvPr/>
        </p:nvSpPr>
        <p:spPr>
          <a:xfrm>
            <a:off x="7772400" y="3456432"/>
            <a:ext cx="3657600" cy="365760"/>
          </a:xfrm>
          <a:prstGeom prst="rect">
            <a:avLst/>
          </a:prstGeom>
          <a:noFill/>
          <a:ln/>
        </p:spPr>
        <p:txBody>
          <a:bodyPr wrap="square" lIns="0" tIns="0" rIns="0" bIns="0" rtlCol="0" anchor="ctr"/>
          <a:lstStyle/>
          <a:p>
            <a:pPr indent="0" marL="0">
              <a:buNone/>
            </a:pPr>
            <a:r>
              <a:rPr lang="en-US" sz="1800" b="1" dirty="0">
                <a:solidFill>
                  <a:schemeClr val="tx1"/>
                </a:solidFill>
              </a:rPr>
              <a:t>Why ball-by-ball?</a:t>
            </a:r>
            <a:endParaRPr lang="en-US" sz="1800" dirty="0"/>
          </a:p>
        </p:txBody>
      </p:sp>
      <p:sp>
        <p:nvSpPr>
          <p:cNvPr id="33" name="Why text"/>
          <p:cNvSpPr txBox="1"/>
          <p:nvPr/>
        </p:nvSpPr>
        <p:spPr>
          <a:xfrm>
            <a:off x="7772400" y="4023360"/>
            <a:ext cx="3657600" cy="1737360"/>
          </a:xfrm>
          <a:prstGeom prst="rect">
            <a:avLst/>
          </a:prstGeom>
          <a:noFill/>
          <a:ln/>
        </p:spPr>
        <p:txBody>
          <a:bodyPr wrap="square" lIns="0" tIns="0" rIns="0" bIns="0" rtlCol="0" anchor="t"/>
          <a:lstStyle/>
          <a:p>
            <a:pPr indent="0" marL="0">
              <a:buNone/>
            </a:pPr>
            <a:r>
              <a:rPr lang="en-US" sz="1600" dirty="0">
                <a:solidFill>
                  <a:schemeClr val="tx2"/>
                </a:solidFill>
              </a:rPr>
              <a:t>Deliveries roll up into any unit we need. Here that is one batter in one innings, rebuilt from history without looking ahead.</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Explore the scores</a:t>
            </a:r>
            <a:endParaRPr lang="en-US" sz="3200" dirty="0"/>
          </a:p>
        </p:txBody>
      </p:sp>
      <p:sp>
        <p:nvSpPr>
          <p:cNvPr id="4" name="Stage label"/>
          <p:cNvSpPr txBox="1"/>
          <p:nvPr/>
        </p:nvSpPr>
        <p:spPr>
          <a:xfrm>
            <a:off x="7406640" y="347472"/>
            <a:ext cx="4233672" cy="274320"/>
          </a:xfrm>
          <a:prstGeom prst="rect">
            <a:avLst/>
          </a:prstGeom>
          <a:noFill/>
          <a:ln/>
        </p:spPr>
        <p:txBody>
          <a:bodyPr wrap="square" lIns="0" tIns="0" rIns="0" bIns="0" rtlCol="0" anchor="t"/>
          <a:lstStyle/>
          <a:p>
            <a:pPr algn="r" indent="0" marL="0">
              <a:buNone/>
            </a:pPr>
            <a:r>
              <a:rPr lang="en-US" sz="1100" b="1" spc="200" kern="0" dirty="0">
                <a:solidFill>
                  <a:schemeClr val="tx2"/>
                </a:solidFill>
              </a:rPr>
              <a:t>STAGE 3 OF 8 · EXPLORE</a:t>
            </a:r>
            <a:endParaRPr lang="en-US" sz="1100" dirty="0"/>
          </a:p>
        </p:txBody>
      </p:sp>
      <p:sp>
        <p:nvSpPr>
          <p:cNvPr id="5" name="Stage dot 1"/>
          <p:cNvSpPr/>
          <p:nvPr/>
        </p:nvSpPr>
        <p:spPr>
          <a:xfrm>
            <a:off x="9555480" y="731520"/>
            <a:ext cx="146304" cy="146304"/>
          </a:xfrm>
          <a:prstGeom prst="ellipse">
            <a:avLst/>
          </a:prstGeom>
          <a:solidFill>
            <a:schemeClr val="accent4"/>
          </a:solidFill>
          <a:ln w="9525">
            <a:solidFill>
              <a:schemeClr val="accent6"/>
            </a:solidFill>
            <a:prstDash val="solid"/>
          </a:ln>
        </p:spPr>
      </p:sp>
      <p:sp>
        <p:nvSpPr>
          <p:cNvPr id="6" name="Stage dot 2"/>
          <p:cNvSpPr/>
          <p:nvPr/>
        </p:nvSpPr>
        <p:spPr>
          <a:xfrm>
            <a:off x="9829800" y="731520"/>
            <a:ext cx="146304" cy="146304"/>
          </a:xfrm>
          <a:prstGeom prst="ellipse">
            <a:avLst/>
          </a:prstGeom>
          <a:solidFill>
            <a:schemeClr val="accent4"/>
          </a:solidFill>
          <a:ln w="9525">
            <a:solidFill>
              <a:schemeClr val="accent6"/>
            </a:solidFill>
            <a:prstDash val="solid"/>
          </a:ln>
        </p:spPr>
      </p:sp>
      <p:sp>
        <p:nvSpPr>
          <p:cNvPr id="7" name="Stage dot 3"/>
          <p:cNvSpPr/>
          <p:nvPr/>
        </p:nvSpPr>
        <p:spPr>
          <a:xfrm>
            <a:off x="10085832" y="713232"/>
            <a:ext cx="182880" cy="182880"/>
          </a:xfrm>
          <a:prstGeom prst="ellipse">
            <a:avLst/>
          </a:prstGeom>
          <a:solidFill>
            <a:schemeClr val="accent1"/>
          </a:solidFill>
          <a:ln w="9525">
            <a:solidFill>
              <a:schemeClr val="accent1"/>
            </a:solidFill>
            <a:prstDash val="solid"/>
          </a:ln>
        </p:spPr>
      </p:sp>
      <p:sp>
        <p:nvSpPr>
          <p:cNvPr id="8" name="Stage dot 4"/>
          <p:cNvSpPr/>
          <p:nvPr/>
        </p:nvSpPr>
        <p:spPr>
          <a:xfrm>
            <a:off x="10378440" y="731520"/>
            <a:ext cx="146304" cy="146304"/>
          </a:xfrm>
          <a:prstGeom prst="ellipse">
            <a:avLst/>
          </a:prstGeom>
          <a:solidFill>
            <a:schemeClr val="accent5"/>
          </a:solidFill>
          <a:ln w="9525">
            <a:solidFill>
              <a:schemeClr val="accent6"/>
            </a:solidFill>
            <a:prstDash val="solid"/>
          </a:ln>
        </p:spPr>
      </p:sp>
      <p:sp>
        <p:nvSpPr>
          <p:cNvPr id="9" name="Stage dot 5"/>
          <p:cNvSpPr/>
          <p:nvPr/>
        </p:nvSpPr>
        <p:spPr>
          <a:xfrm>
            <a:off x="10652760" y="731520"/>
            <a:ext cx="146304" cy="146304"/>
          </a:xfrm>
          <a:prstGeom prst="ellipse">
            <a:avLst/>
          </a:prstGeom>
          <a:solidFill>
            <a:schemeClr val="accent5"/>
          </a:solidFill>
          <a:ln w="9525">
            <a:solidFill>
              <a:schemeClr val="accent6"/>
            </a:solidFill>
            <a:prstDash val="solid"/>
          </a:ln>
        </p:spPr>
      </p:sp>
      <p:sp>
        <p:nvSpPr>
          <p:cNvPr id="10" name="Stage dot 6"/>
          <p:cNvSpPr/>
          <p:nvPr/>
        </p:nvSpPr>
        <p:spPr>
          <a:xfrm>
            <a:off x="10927080" y="731520"/>
            <a:ext cx="146304" cy="146304"/>
          </a:xfrm>
          <a:prstGeom prst="ellipse">
            <a:avLst/>
          </a:prstGeom>
          <a:solidFill>
            <a:schemeClr val="accent5"/>
          </a:solidFill>
          <a:ln w="9525">
            <a:solidFill>
              <a:schemeClr val="accent6"/>
            </a:solidFill>
            <a:prstDash val="solid"/>
          </a:ln>
        </p:spPr>
      </p:sp>
      <p:sp>
        <p:nvSpPr>
          <p:cNvPr id="11" name="Stage dot 7"/>
          <p:cNvSpPr/>
          <p:nvPr/>
        </p:nvSpPr>
        <p:spPr>
          <a:xfrm>
            <a:off x="11201400" y="731520"/>
            <a:ext cx="146304" cy="146304"/>
          </a:xfrm>
          <a:prstGeom prst="ellipse">
            <a:avLst/>
          </a:prstGeom>
          <a:solidFill>
            <a:schemeClr val="accent5"/>
          </a:solidFill>
          <a:ln w="9525">
            <a:solidFill>
              <a:schemeClr val="accent6"/>
            </a:solidFill>
            <a:prstDash val="solid"/>
          </a:ln>
        </p:spPr>
      </p:sp>
      <p:sp>
        <p:nvSpPr>
          <p:cNvPr id="12" name="Stage dot 8"/>
          <p:cNvSpPr/>
          <p:nvPr/>
        </p:nvSpPr>
        <p:spPr>
          <a:xfrm>
            <a:off x="11475720" y="731520"/>
            <a:ext cx="146304" cy="146304"/>
          </a:xfrm>
          <a:prstGeom prst="ellipse">
            <a:avLst/>
          </a:prstGeom>
          <a:solidFill>
            <a:schemeClr val="accent5"/>
          </a:solidFill>
          <a:ln w="9525">
            <a:solidFill>
              <a:schemeClr val="accent6"/>
            </a:solidFill>
            <a:prstDash val="solid"/>
          </a:ln>
        </p:spPr>
      </p:sp>
      <p:sp>
        <p:nvSpPr>
          <p:cNvPr id="13" name="Chart card"/>
          <p:cNvSpPr/>
          <p:nvPr/>
        </p:nvSpPr>
        <p:spPr>
          <a:xfrm>
            <a:off x="548640" y="1417320"/>
            <a:ext cx="6812280" cy="4526280"/>
          </a:xfrm>
          <a:prstGeom prst="roundRect">
            <a:avLst>
              <a:gd name="adj" fmla="val 2020"/>
            </a:avLst>
          </a:prstGeom>
          <a:solidFill>
            <a:schemeClr val="bg2"/>
          </a:solidFill>
          <a:ln w="9525">
            <a:solidFill>
              <a:schemeClr val="accent5"/>
            </a:solidFill>
            <a:prstDash val="solid"/>
          </a:ln>
        </p:spPr>
      </p:sp>
      <p:graphicFrame>
        <p:nvGraphicFramePr>
          <p:cNvPr id="14" name="Score histogram" descr=""/>
          <p:cNvGraphicFramePr/>
          <p:nvPr/>
        </p:nvGraphicFramePr>
        <p:xfrm>
          <a:off x="685800" y="1554480"/>
          <a:ext cx="6537960" cy="3840480"/>
        </p:xfrm>
        <a:graphic xmlns:a="http://schemas.openxmlformats.org/drawingml/2006/main">
          <a:graphicData uri="http://schemas.openxmlformats.org/drawingml/2006/chart">
            <c:chart xmlns:c="http://schemas.openxmlformats.org/drawingml/2006/chart" r:id="rId1"/>
          </a:graphicData>
        </a:graphic>
      </p:graphicFrame>
      <p:sp>
        <p:nvSpPr>
          <p:cNvPr id="15" name="Chart caption"/>
          <p:cNvSpPr txBox="1"/>
          <p:nvPr/>
        </p:nvSpPr>
        <p:spPr>
          <a:xfrm>
            <a:off x="777240" y="5440680"/>
            <a:ext cx="6309360" cy="411480"/>
          </a:xfrm>
          <a:prstGeom prst="rect">
            <a:avLst/>
          </a:prstGeom>
          <a:noFill/>
          <a:ln/>
        </p:spPr>
        <p:txBody>
          <a:bodyPr wrap="square" lIns="0" tIns="0" rIns="0" bIns="0" rtlCol="0" anchor="t"/>
          <a:lstStyle/>
          <a:p>
            <a:pPr indent="0" marL="0">
              <a:buNone/>
            </a:pPr>
            <a:r>
              <a:rPr lang="en-US" sz="1200" dirty="0">
                <a:solidFill>
                  <a:schemeClr val="tx2"/>
                </a:solidFill>
              </a:rPr>
              <a:t>1st-innings average 20.3 vs 19.3 in the 2nd. Yearly averages stay close to 20 runs.</a:t>
            </a:r>
            <a:endParaRPr lang="en-US" sz="1200" dirty="0"/>
          </a:p>
        </p:txBody>
      </p:sp>
      <p:sp>
        <p:nvSpPr>
          <p:cNvPr id="16" name="Insight card 1"/>
          <p:cNvSpPr/>
          <p:nvPr/>
        </p:nvSpPr>
        <p:spPr>
          <a:xfrm>
            <a:off x="7589520" y="1417320"/>
            <a:ext cx="4050792" cy="1051560"/>
          </a:xfrm>
          <a:prstGeom prst="roundRect">
            <a:avLst>
              <a:gd name="adj" fmla="val 8696"/>
            </a:avLst>
          </a:prstGeom>
          <a:solidFill>
            <a:schemeClr val="bg2"/>
          </a:solidFill>
          <a:ln w="9525">
            <a:solidFill>
              <a:schemeClr val="accent5"/>
            </a:solidFill>
            <a:prstDash val="solid"/>
          </a:ln>
        </p:spPr>
      </p:sp>
      <p:sp>
        <p:nvSpPr>
          <p:cNvPr id="17" name="Insight value 1"/>
          <p:cNvSpPr txBox="1"/>
          <p:nvPr/>
        </p:nvSpPr>
        <p:spPr>
          <a:xfrm>
            <a:off x="7772400" y="1527048"/>
            <a:ext cx="3657600" cy="457200"/>
          </a:xfrm>
          <a:prstGeom prst="rect">
            <a:avLst/>
          </a:prstGeom>
          <a:noFill/>
          <a:ln/>
        </p:spPr>
        <p:txBody>
          <a:bodyPr wrap="square" lIns="0" tIns="0" rIns="0" bIns="0" rtlCol="0" anchor="t"/>
          <a:lstStyle/>
          <a:p>
            <a:pPr indent="0" marL="0">
              <a:buNone/>
            </a:pPr>
            <a:r>
              <a:rPr lang="en-US" sz="2600" b="1" dirty="0">
                <a:solidFill>
                  <a:schemeClr val="accent2"/>
                </a:solidFill>
                <a:latin typeface="+mj-lt" pitchFamily="34" charset="0"/>
                <a:ea typeface="+mj-lt" pitchFamily="34" charset="-122"/>
                <a:cs typeface="+mj-lt" pitchFamily="34" charset="-120"/>
              </a:rPr>
              <a:t>12 vs 19.8</a:t>
            </a:r>
            <a:endParaRPr lang="en-US" sz="2600" dirty="0"/>
          </a:p>
        </p:txBody>
      </p:sp>
      <p:sp>
        <p:nvSpPr>
          <p:cNvPr id="18" name="Insight text 1"/>
          <p:cNvSpPr txBox="1"/>
          <p:nvPr/>
        </p:nvSpPr>
        <p:spPr>
          <a:xfrm>
            <a:off x="7772400" y="2020824"/>
            <a:ext cx="3657600" cy="365760"/>
          </a:xfrm>
          <a:prstGeom prst="rect">
            <a:avLst/>
          </a:prstGeom>
          <a:noFill/>
          <a:ln/>
        </p:spPr>
        <p:txBody>
          <a:bodyPr wrap="square" lIns="0" tIns="0" rIns="0" bIns="0" rtlCol="0" anchor="t"/>
          <a:lstStyle/>
          <a:p>
            <a:pPr indent="0" marL="0">
              <a:buNone/>
            </a:pPr>
            <a:r>
              <a:rPr lang="en-US" sz="1300" dirty="0">
                <a:solidFill>
                  <a:schemeClr val="tx2"/>
                </a:solidFill>
              </a:rPr>
              <a:t>median vs mean runs: a long right tail, skew 1.58</a:t>
            </a:r>
            <a:endParaRPr lang="en-US" sz="1300" dirty="0"/>
          </a:p>
        </p:txBody>
      </p:sp>
      <p:sp>
        <p:nvSpPr>
          <p:cNvPr id="19" name="Insight card 2"/>
          <p:cNvSpPr/>
          <p:nvPr/>
        </p:nvSpPr>
        <p:spPr>
          <a:xfrm>
            <a:off x="7589520" y="2587752"/>
            <a:ext cx="4050792" cy="1051560"/>
          </a:xfrm>
          <a:prstGeom prst="roundRect">
            <a:avLst>
              <a:gd name="adj" fmla="val 8696"/>
            </a:avLst>
          </a:prstGeom>
          <a:solidFill>
            <a:schemeClr val="bg2"/>
          </a:solidFill>
          <a:ln w="9525">
            <a:solidFill>
              <a:schemeClr val="accent5"/>
            </a:solidFill>
            <a:prstDash val="solid"/>
          </a:ln>
        </p:spPr>
      </p:sp>
      <p:sp>
        <p:nvSpPr>
          <p:cNvPr id="20" name="Insight value 2"/>
          <p:cNvSpPr txBox="1"/>
          <p:nvPr/>
        </p:nvSpPr>
        <p:spPr>
          <a:xfrm>
            <a:off x="7772400" y="2697480"/>
            <a:ext cx="3657600" cy="45720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8.8%</a:t>
            </a:r>
            <a:endParaRPr lang="en-US" sz="2600" dirty="0"/>
          </a:p>
        </p:txBody>
      </p:sp>
      <p:sp>
        <p:nvSpPr>
          <p:cNvPr id="21" name="Insight text 2"/>
          <p:cNvSpPr txBox="1"/>
          <p:nvPr/>
        </p:nvSpPr>
        <p:spPr>
          <a:xfrm>
            <a:off x="7772400" y="3191256"/>
            <a:ext cx="3657600" cy="365760"/>
          </a:xfrm>
          <a:prstGeom prst="rect">
            <a:avLst/>
          </a:prstGeom>
          <a:noFill/>
          <a:ln/>
        </p:spPr>
        <p:txBody>
          <a:bodyPr wrap="square" lIns="0" tIns="0" rIns="0" bIns="0" rtlCol="0" anchor="t"/>
          <a:lstStyle/>
          <a:p>
            <a:pPr indent="0" marL="0">
              <a:buNone/>
            </a:pPr>
            <a:r>
              <a:rPr lang="en-US" sz="1300" dirty="0">
                <a:solidFill>
                  <a:schemeClr val="tx2"/>
                </a:solidFill>
              </a:rPr>
              <a:t>of innings finish on zero</a:t>
            </a:r>
            <a:endParaRPr lang="en-US" sz="1300" dirty="0"/>
          </a:p>
        </p:txBody>
      </p:sp>
      <p:sp>
        <p:nvSpPr>
          <p:cNvPr id="22" name="Insight card 3"/>
          <p:cNvSpPr/>
          <p:nvPr/>
        </p:nvSpPr>
        <p:spPr>
          <a:xfrm>
            <a:off x="7589520" y="3758184"/>
            <a:ext cx="4050792" cy="1051560"/>
          </a:xfrm>
          <a:prstGeom prst="roundRect">
            <a:avLst>
              <a:gd name="adj" fmla="val 8696"/>
            </a:avLst>
          </a:prstGeom>
          <a:solidFill>
            <a:schemeClr val="bg2"/>
          </a:solidFill>
          <a:ln w="9525">
            <a:solidFill>
              <a:schemeClr val="accent5"/>
            </a:solidFill>
            <a:prstDash val="solid"/>
          </a:ln>
        </p:spPr>
      </p:sp>
      <p:sp>
        <p:nvSpPr>
          <p:cNvPr id="23" name="Insight value 3"/>
          <p:cNvSpPr txBox="1"/>
          <p:nvPr/>
        </p:nvSpPr>
        <p:spPr>
          <a:xfrm>
            <a:off x="7772400" y="3867912"/>
            <a:ext cx="3657600" cy="45720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10.7%</a:t>
            </a:r>
            <a:endParaRPr lang="en-US" sz="2600" dirty="0"/>
          </a:p>
        </p:txBody>
      </p:sp>
      <p:sp>
        <p:nvSpPr>
          <p:cNvPr id="24" name="Insight text 3"/>
          <p:cNvSpPr txBox="1"/>
          <p:nvPr/>
        </p:nvSpPr>
        <p:spPr>
          <a:xfrm>
            <a:off x="7772400" y="4361688"/>
            <a:ext cx="3657600" cy="365760"/>
          </a:xfrm>
          <a:prstGeom prst="rect">
            <a:avLst/>
          </a:prstGeom>
          <a:noFill/>
          <a:ln/>
        </p:spPr>
        <p:txBody>
          <a:bodyPr wrap="square" lIns="0" tIns="0" rIns="0" bIns="0" rtlCol="0" anchor="t"/>
          <a:lstStyle/>
          <a:p>
            <a:pPr indent="0" marL="0">
              <a:buNone/>
            </a:pPr>
            <a:r>
              <a:rPr lang="en-US" sz="1300" dirty="0">
                <a:solidFill>
                  <a:schemeClr val="tx2"/>
                </a:solidFill>
              </a:rPr>
              <a:t>of innings reach 50 or more</a:t>
            </a:r>
            <a:endParaRPr lang="en-US" sz="1300" dirty="0"/>
          </a:p>
        </p:txBody>
      </p:sp>
      <p:sp>
        <p:nvSpPr>
          <p:cNvPr id="25" name="Insight card 4"/>
          <p:cNvSpPr/>
          <p:nvPr/>
        </p:nvSpPr>
        <p:spPr>
          <a:xfrm>
            <a:off x="7589520" y="4928616"/>
            <a:ext cx="4050792" cy="1051560"/>
          </a:xfrm>
          <a:prstGeom prst="roundRect">
            <a:avLst>
              <a:gd name="adj" fmla="val 8696"/>
            </a:avLst>
          </a:prstGeom>
          <a:solidFill>
            <a:schemeClr val="bg2"/>
          </a:solidFill>
          <a:ln w="9525">
            <a:solidFill>
              <a:schemeClr val="accent5"/>
            </a:solidFill>
            <a:prstDash val="solid"/>
          </a:ln>
        </p:spPr>
      </p:sp>
      <p:sp>
        <p:nvSpPr>
          <p:cNvPr id="26" name="Insight value 4"/>
          <p:cNvSpPr txBox="1"/>
          <p:nvPr/>
        </p:nvSpPr>
        <p:spPr>
          <a:xfrm>
            <a:off x="7772400" y="5038344"/>
            <a:ext cx="3657600" cy="45720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r = 0.32</a:t>
            </a:r>
            <a:endParaRPr lang="en-US" sz="2600" dirty="0"/>
          </a:p>
        </p:txBody>
      </p:sp>
      <p:sp>
        <p:nvSpPr>
          <p:cNvPr id="27" name="Insight text 4"/>
          <p:cNvSpPr txBox="1"/>
          <p:nvPr/>
        </p:nvSpPr>
        <p:spPr>
          <a:xfrm>
            <a:off x="7772400" y="5532120"/>
            <a:ext cx="3657600" cy="365760"/>
          </a:xfrm>
          <a:prstGeom prst="rect">
            <a:avLst/>
          </a:prstGeom>
          <a:noFill/>
          <a:ln/>
        </p:spPr>
        <p:txBody>
          <a:bodyPr wrap="square" lIns="0" tIns="0" rIns="0" bIns="0" rtlCol="0" anchor="t"/>
          <a:lstStyle/>
          <a:p>
            <a:pPr indent="0" marL="0">
              <a:buNone/>
            </a:pPr>
            <a:r>
              <a:rPr lang="en-US" sz="1300" dirty="0">
                <a:solidFill>
                  <a:schemeClr val="tx2"/>
                </a:solidFill>
              </a:rPr>
              <a:t>career average vs innings score</a:t>
            </a:r>
            <a:endParaRPr lang="en-US" sz="13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Prepare: aggregate and clean</a:t>
            </a:r>
            <a:endParaRPr lang="en-US" sz="3200" dirty="0"/>
          </a:p>
        </p:txBody>
      </p:sp>
      <p:sp>
        <p:nvSpPr>
          <p:cNvPr id="4" name="Stage label"/>
          <p:cNvSpPr txBox="1"/>
          <p:nvPr/>
        </p:nvSpPr>
        <p:spPr>
          <a:xfrm>
            <a:off x="7406640" y="347472"/>
            <a:ext cx="4233672" cy="274320"/>
          </a:xfrm>
          <a:prstGeom prst="rect">
            <a:avLst/>
          </a:prstGeom>
          <a:noFill/>
          <a:ln/>
        </p:spPr>
        <p:txBody>
          <a:bodyPr wrap="square" lIns="0" tIns="0" rIns="0" bIns="0" rtlCol="0" anchor="t"/>
          <a:lstStyle/>
          <a:p>
            <a:pPr algn="r" indent="0" marL="0">
              <a:buNone/>
            </a:pPr>
            <a:r>
              <a:rPr lang="en-US" sz="1100" b="1" spc="200" kern="0" dirty="0">
                <a:solidFill>
                  <a:schemeClr val="tx2"/>
                </a:solidFill>
              </a:rPr>
              <a:t>STAGE 4 OF 8 · PREPARE</a:t>
            </a:r>
            <a:endParaRPr lang="en-US" sz="1100" dirty="0"/>
          </a:p>
        </p:txBody>
      </p:sp>
      <p:sp>
        <p:nvSpPr>
          <p:cNvPr id="5" name="Stage dot 1"/>
          <p:cNvSpPr/>
          <p:nvPr/>
        </p:nvSpPr>
        <p:spPr>
          <a:xfrm>
            <a:off x="9555480" y="731520"/>
            <a:ext cx="146304" cy="146304"/>
          </a:xfrm>
          <a:prstGeom prst="ellipse">
            <a:avLst/>
          </a:prstGeom>
          <a:solidFill>
            <a:schemeClr val="accent4"/>
          </a:solidFill>
          <a:ln w="9525">
            <a:solidFill>
              <a:schemeClr val="accent6"/>
            </a:solidFill>
            <a:prstDash val="solid"/>
          </a:ln>
        </p:spPr>
      </p:sp>
      <p:sp>
        <p:nvSpPr>
          <p:cNvPr id="6" name="Stage dot 2"/>
          <p:cNvSpPr/>
          <p:nvPr/>
        </p:nvSpPr>
        <p:spPr>
          <a:xfrm>
            <a:off x="9829800" y="731520"/>
            <a:ext cx="146304" cy="146304"/>
          </a:xfrm>
          <a:prstGeom prst="ellipse">
            <a:avLst/>
          </a:prstGeom>
          <a:solidFill>
            <a:schemeClr val="accent4"/>
          </a:solidFill>
          <a:ln w="9525">
            <a:solidFill>
              <a:schemeClr val="accent6"/>
            </a:solidFill>
            <a:prstDash val="solid"/>
          </a:ln>
        </p:spPr>
      </p:sp>
      <p:sp>
        <p:nvSpPr>
          <p:cNvPr id="7" name="Stage dot 3"/>
          <p:cNvSpPr/>
          <p:nvPr/>
        </p:nvSpPr>
        <p:spPr>
          <a:xfrm>
            <a:off x="10104120" y="731520"/>
            <a:ext cx="146304" cy="146304"/>
          </a:xfrm>
          <a:prstGeom prst="ellipse">
            <a:avLst/>
          </a:prstGeom>
          <a:solidFill>
            <a:schemeClr val="accent4"/>
          </a:solidFill>
          <a:ln w="9525">
            <a:solidFill>
              <a:schemeClr val="accent6"/>
            </a:solidFill>
            <a:prstDash val="solid"/>
          </a:ln>
        </p:spPr>
      </p:sp>
      <p:sp>
        <p:nvSpPr>
          <p:cNvPr id="8" name="Stage dot 4"/>
          <p:cNvSpPr/>
          <p:nvPr/>
        </p:nvSpPr>
        <p:spPr>
          <a:xfrm>
            <a:off x="10360152" y="713232"/>
            <a:ext cx="182880" cy="182880"/>
          </a:xfrm>
          <a:prstGeom prst="ellipse">
            <a:avLst/>
          </a:prstGeom>
          <a:solidFill>
            <a:schemeClr val="accent1"/>
          </a:solidFill>
          <a:ln w="9525">
            <a:solidFill>
              <a:schemeClr val="accent1"/>
            </a:solidFill>
            <a:prstDash val="solid"/>
          </a:ln>
        </p:spPr>
      </p:sp>
      <p:sp>
        <p:nvSpPr>
          <p:cNvPr id="9" name="Stage dot 5"/>
          <p:cNvSpPr/>
          <p:nvPr/>
        </p:nvSpPr>
        <p:spPr>
          <a:xfrm>
            <a:off x="10652760" y="731520"/>
            <a:ext cx="146304" cy="146304"/>
          </a:xfrm>
          <a:prstGeom prst="ellipse">
            <a:avLst/>
          </a:prstGeom>
          <a:solidFill>
            <a:schemeClr val="accent5"/>
          </a:solidFill>
          <a:ln w="9525">
            <a:solidFill>
              <a:schemeClr val="accent6"/>
            </a:solidFill>
            <a:prstDash val="solid"/>
          </a:ln>
        </p:spPr>
      </p:sp>
      <p:sp>
        <p:nvSpPr>
          <p:cNvPr id="10" name="Stage dot 6"/>
          <p:cNvSpPr/>
          <p:nvPr/>
        </p:nvSpPr>
        <p:spPr>
          <a:xfrm>
            <a:off x="10927080" y="731520"/>
            <a:ext cx="146304" cy="146304"/>
          </a:xfrm>
          <a:prstGeom prst="ellipse">
            <a:avLst/>
          </a:prstGeom>
          <a:solidFill>
            <a:schemeClr val="accent5"/>
          </a:solidFill>
          <a:ln w="9525">
            <a:solidFill>
              <a:schemeClr val="accent6"/>
            </a:solidFill>
            <a:prstDash val="solid"/>
          </a:ln>
        </p:spPr>
      </p:sp>
      <p:sp>
        <p:nvSpPr>
          <p:cNvPr id="11" name="Stage dot 7"/>
          <p:cNvSpPr/>
          <p:nvPr/>
        </p:nvSpPr>
        <p:spPr>
          <a:xfrm>
            <a:off x="11201400" y="731520"/>
            <a:ext cx="146304" cy="146304"/>
          </a:xfrm>
          <a:prstGeom prst="ellipse">
            <a:avLst/>
          </a:prstGeom>
          <a:solidFill>
            <a:schemeClr val="accent5"/>
          </a:solidFill>
          <a:ln w="9525">
            <a:solidFill>
              <a:schemeClr val="accent6"/>
            </a:solidFill>
            <a:prstDash val="solid"/>
          </a:ln>
        </p:spPr>
      </p:sp>
      <p:sp>
        <p:nvSpPr>
          <p:cNvPr id="12" name="Stage dot 8"/>
          <p:cNvSpPr/>
          <p:nvPr/>
        </p:nvSpPr>
        <p:spPr>
          <a:xfrm>
            <a:off x="11475720" y="731520"/>
            <a:ext cx="146304" cy="146304"/>
          </a:xfrm>
          <a:prstGeom prst="ellipse">
            <a:avLst/>
          </a:prstGeom>
          <a:solidFill>
            <a:schemeClr val="accent5"/>
          </a:solidFill>
          <a:ln w="9525">
            <a:solidFill>
              <a:schemeClr val="accent6"/>
            </a:solidFill>
            <a:prstDash val="solid"/>
          </a:ln>
        </p:spPr>
      </p:sp>
      <p:sp>
        <p:nvSpPr>
          <p:cNvPr id="13" name="Flow box 1"/>
          <p:cNvSpPr/>
          <p:nvPr/>
        </p:nvSpPr>
        <p:spPr>
          <a:xfrm>
            <a:off x="548640" y="1463040"/>
            <a:ext cx="3291840" cy="1783080"/>
          </a:xfrm>
          <a:prstGeom prst="roundRect">
            <a:avLst>
              <a:gd name="adj" fmla="val 5128"/>
            </a:avLst>
          </a:prstGeom>
          <a:solidFill>
            <a:schemeClr val="bg2"/>
          </a:solidFill>
          <a:ln w="9525">
            <a:solidFill>
              <a:schemeClr val="accent5"/>
            </a:solidFill>
            <a:prstDash val="solid"/>
          </a:ln>
        </p:spPr>
      </p:sp>
      <p:sp>
        <p:nvSpPr>
          <p:cNvPr id="14" name="Flow value 1"/>
          <p:cNvSpPr txBox="1"/>
          <p:nvPr/>
        </p:nvSpPr>
        <p:spPr>
          <a:xfrm>
            <a:off x="777240" y="1572768"/>
            <a:ext cx="2834640" cy="64008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243,817</a:t>
            </a:r>
            <a:endParaRPr lang="en-US" sz="3600" dirty="0"/>
          </a:p>
        </p:txBody>
      </p:sp>
      <p:sp>
        <p:nvSpPr>
          <p:cNvPr id="15" name="Flow label 1"/>
          <p:cNvSpPr txBox="1"/>
          <p:nvPr/>
        </p:nvSpPr>
        <p:spPr>
          <a:xfrm>
            <a:off x="777240" y="2212848"/>
            <a:ext cx="2834640" cy="320040"/>
          </a:xfrm>
          <a:prstGeom prst="rect">
            <a:avLst/>
          </a:prstGeom>
          <a:noFill/>
          <a:ln/>
        </p:spPr>
        <p:txBody>
          <a:bodyPr wrap="square" lIns="0" tIns="0" rIns="0" bIns="0" rtlCol="0" anchor="t"/>
          <a:lstStyle/>
          <a:p>
            <a:pPr indent="0" marL="0">
              <a:buNone/>
            </a:pPr>
            <a:r>
              <a:rPr lang="en-US" sz="1400" b="1" dirty="0">
                <a:solidFill>
                  <a:schemeClr val="tx1"/>
                </a:solidFill>
              </a:rPr>
              <a:t>ball-by-ball deliveries</a:t>
            </a:r>
            <a:endParaRPr lang="en-US" sz="1400" dirty="0"/>
          </a:p>
        </p:txBody>
      </p:sp>
      <p:sp>
        <p:nvSpPr>
          <p:cNvPr id="16" name="Flow caption 1"/>
          <p:cNvSpPr txBox="1"/>
          <p:nvPr/>
        </p:nvSpPr>
        <p:spPr>
          <a:xfrm>
            <a:off x="777240" y="2578608"/>
            <a:ext cx="2834640" cy="548640"/>
          </a:xfrm>
          <a:prstGeom prst="rect">
            <a:avLst/>
          </a:prstGeom>
          <a:noFill/>
          <a:ln/>
        </p:spPr>
        <p:txBody>
          <a:bodyPr wrap="square" lIns="0" tIns="0" rIns="0" bIns="0" rtlCol="0" anchor="t"/>
          <a:lstStyle/>
          <a:p>
            <a:pPr indent="0" marL="0">
              <a:buNone/>
            </a:pPr>
            <a:r>
              <a:rPr lang="en-US" sz="1200" dirty="0">
                <a:solidFill>
                  <a:schemeClr val="tx2"/>
                </a:solidFill>
              </a:rPr>
              <a:t>Raw source</a:t>
            </a:r>
            <a:endParaRPr lang="en-US" sz="1200" dirty="0"/>
          </a:p>
        </p:txBody>
      </p:sp>
      <p:sp>
        <p:nvSpPr>
          <p:cNvPr id="17" name="Flow arrow 1"/>
          <p:cNvSpPr/>
          <p:nvPr/>
        </p:nvSpPr>
        <p:spPr>
          <a:xfrm>
            <a:off x="3931920" y="2103120"/>
            <a:ext cx="420624" cy="274320"/>
          </a:xfrm>
          <a:prstGeom prst="rightArrow">
            <a:avLst/>
          </a:prstGeom>
          <a:solidFill>
            <a:schemeClr val="accent4"/>
          </a:solidFill>
          <a:ln w="6350">
            <a:solidFill>
              <a:schemeClr val="accent4"/>
            </a:solidFill>
            <a:prstDash val="solid"/>
          </a:ln>
        </p:spPr>
      </p:sp>
      <p:sp>
        <p:nvSpPr>
          <p:cNvPr id="18" name="Flow box 2"/>
          <p:cNvSpPr/>
          <p:nvPr/>
        </p:nvSpPr>
        <p:spPr>
          <a:xfrm>
            <a:off x="4443984" y="1463040"/>
            <a:ext cx="3291840" cy="1783080"/>
          </a:xfrm>
          <a:prstGeom prst="roundRect">
            <a:avLst>
              <a:gd name="adj" fmla="val 5128"/>
            </a:avLst>
          </a:prstGeom>
          <a:solidFill>
            <a:schemeClr val="bg2"/>
          </a:solidFill>
          <a:ln w="9525">
            <a:solidFill>
              <a:schemeClr val="accent5"/>
            </a:solidFill>
            <a:prstDash val="solid"/>
          </a:ln>
        </p:spPr>
      </p:sp>
      <p:sp>
        <p:nvSpPr>
          <p:cNvPr id="19" name="Flow value 2"/>
          <p:cNvSpPr txBox="1"/>
          <p:nvPr/>
        </p:nvSpPr>
        <p:spPr>
          <a:xfrm>
            <a:off x="4672584" y="1572768"/>
            <a:ext cx="2834640" cy="64008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15,466</a:t>
            </a:r>
            <a:endParaRPr lang="en-US" sz="3600" dirty="0"/>
          </a:p>
        </p:txBody>
      </p:sp>
      <p:sp>
        <p:nvSpPr>
          <p:cNvPr id="20" name="Flow label 2"/>
          <p:cNvSpPr txBox="1"/>
          <p:nvPr/>
        </p:nvSpPr>
        <p:spPr>
          <a:xfrm>
            <a:off x="4672584" y="2212848"/>
            <a:ext cx="2834640" cy="320040"/>
          </a:xfrm>
          <a:prstGeom prst="rect">
            <a:avLst/>
          </a:prstGeom>
          <a:noFill/>
          <a:ln/>
        </p:spPr>
        <p:txBody>
          <a:bodyPr wrap="square" lIns="0" tIns="0" rIns="0" bIns="0" rtlCol="0" anchor="t"/>
          <a:lstStyle/>
          <a:p>
            <a:pPr indent="0" marL="0">
              <a:buNone/>
            </a:pPr>
            <a:r>
              <a:rPr lang="en-US" sz="1400" b="1" dirty="0">
                <a:solidFill>
                  <a:schemeClr val="tx1"/>
                </a:solidFill>
              </a:rPr>
              <a:t>player-innings, 637 batters</a:t>
            </a:r>
            <a:endParaRPr lang="en-US" sz="1400" dirty="0"/>
          </a:p>
        </p:txBody>
      </p:sp>
      <p:sp>
        <p:nvSpPr>
          <p:cNvPr id="21" name="Flow caption 2"/>
          <p:cNvSpPr txBox="1"/>
          <p:nvPr/>
        </p:nvSpPr>
        <p:spPr>
          <a:xfrm>
            <a:off x="4672584" y="2578608"/>
            <a:ext cx="2834640" cy="548640"/>
          </a:xfrm>
          <a:prstGeom prst="rect">
            <a:avLst/>
          </a:prstGeom>
          <a:noFill/>
          <a:ln/>
        </p:spPr>
        <p:txBody>
          <a:bodyPr wrap="square" lIns="0" tIns="0" rIns="0" bIns="0" rtlCol="0" anchor="t"/>
          <a:lstStyle/>
          <a:p>
            <a:pPr indent="0" marL="0">
              <a:buNone/>
            </a:pPr>
            <a:r>
              <a:rPr lang="en-US" sz="1200" dirty="0">
                <a:solidFill>
                  <a:schemeClr val="tx2"/>
                </a:solidFill>
              </a:rPr>
              <a:t>Aggregate: sum runs per batter per innings</a:t>
            </a:r>
            <a:endParaRPr lang="en-US" sz="1200" dirty="0"/>
          </a:p>
        </p:txBody>
      </p:sp>
      <p:sp>
        <p:nvSpPr>
          <p:cNvPr id="22" name="Flow arrow 2"/>
          <p:cNvSpPr/>
          <p:nvPr/>
        </p:nvSpPr>
        <p:spPr>
          <a:xfrm>
            <a:off x="7827264" y="2103120"/>
            <a:ext cx="420624" cy="274320"/>
          </a:xfrm>
          <a:prstGeom prst="rightArrow">
            <a:avLst/>
          </a:prstGeom>
          <a:solidFill>
            <a:schemeClr val="accent4"/>
          </a:solidFill>
          <a:ln w="6350">
            <a:solidFill>
              <a:schemeClr val="accent4"/>
            </a:solidFill>
            <a:prstDash val="solid"/>
          </a:ln>
        </p:spPr>
      </p:sp>
      <p:sp>
        <p:nvSpPr>
          <p:cNvPr id="23" name="Flow box 3"/>
          <p:cNvSpPr/>
          <p:nvPr/>
        </p:nvSpPr>
        <p:spPr>
          <a:xfrm>
            <a:off x="8339328" y="1463040"/>
            <a:ext cx="3291840" cy="1783080"/>
          </a:xfrm>
          <a:prstGeom prst="roundRect">
            <a:avLst>
              <a:gd name="adj" fmla="val 5128"/>
            </a:avLst>
          </a:prstGeom>
          <a:solidFill>
            <a:schemeClr val="bg2"/>
          </a:solidFill>
          <a:ln w="9525">
            <a:solidFill>
              <a:schemeClr val="accent5"/>
            </a:solidFill>
            <a:prstDash val="solid"/>
          </a:ln>
        </p:spPr>
      </p:sp>
      <p:sp>
        <p:nvSpPr>
          <p:cNvPr id="24" name="Flow value 3"/>
          <p:cNvSpPr txBox="1"/>
          <p:nvPr/>
        </p:nvSpPr>
        <p:spPr>
          <a:xfrm>
            <a:off x="8567928" y="1572768"/>
            <a:ext cx="2834640" cy="64008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13,769</a:t>
            </a:r>
            <a:endParaRPr lang="en-US" sz="3600" dirty="0"/>
          </a:p>
        </p:txBody>
      </p:sp>
      <p:sp>
        <p:nvSpPr>
          <p:cNvPr id="25" name="Flow label 3"/>
          <p:cNvSpPr txBox="1"/>
          <p:nvPr/>
        </p:nvSpPr>
        <p:spPr>
          <a:xfrm>
            <a:off x="8567928" y="2212848"/>
            <a:ext cx="2834640" cy="320040"/>
          </a:xfrm>
          <a:prstGeom prst="rect">
            <a:avLst/>
          </a:prstGeom>
          <a:noFill/>
          <a:ln/>
        </p:spPr>
        <p:txBody>
          <a:bodyPr wrap="square" lIns="0" tIns="0" rIns="0" bIns="0" rtlCol="0" anchor="t"/>
          <a:lstStyle/>
          <a:p>
            <a:pPr indent="0" marL="0">
              <a:buNone/>
            </a:pPr>
            <a:r>
              <a:rPr lang="en-US" sz="1400" b="1" dirty="0">
                <a:solidFill>
                  <a:schemeClr val="tx1"/>
                </a:solidFill>
              </a:rPr>
              <a:t>modelling rows</a:t>
            </a:r>
            <a:endParaRPr lang="en-US" sz="1400" dirty="0"/>
          </a:p>
        </p:txBody>
      </p:sp>
      <p:sp>
        <p:nvSpPr>
          <p:cNvPr id="26" name="Flow caption 3"/>
          <p:cNvSpPr txBox="1"/>
          <p:nvPr/>
        </p:nvSpPr>
        <p:spPr>
          <a:xfrm>
            <a:off x="8567928" y="2578608"/>
            <a:ext cx="2834640" cy="548640"/>
          </a:xfrm>
          <a:prstGeom prst="rect">
            <a:avLst/>
          </a:prstGeom>
          <a:noFill/>
          <a:ln/>
        </p:spPr>
        <p:txBody>
          <a:bodyPr wrap="square" lIns="0" tIns="0" rIns="0" bIns="0" rtlCol="0" anchor="t"/>
          <a:lstStyle/>
          <a:p>
            <a:pPr indent="0" marL="0">
              <a:buNone/>
            </a:pPr>
            <a:r>
              <a:rPr lang="en-US" sz="1200" dirty="0">
                <a:solidFill>
                  <a:schemeClr val="tx2"/>
                </a:solidFill>
              </a:rPr>
              <a:t>Filter: at least 3 earlier innings</a:t>
            </a:r>
            <a:endParaRPr lang="en-US" sz="1200" dirty="0"/>
          </a:p>
        </p:txBody>
      </p:sp>
      <p:sp>
        <p:nvSpPr>
          <p:cNvPr id="27" name="Rule card 1"/>
          <p:cNvSpPr/>
          <p:nvPr/>
        </p:nvSpPr>
        <p:spPr>
          <a:xfrm>
            <a:off x="548640" y="3520440"/>
            <a:ext cx="2606040" cy="2423160"/>
          </a:xfrm>
          <a:prstGeom prst="roundRect">
            <a:avLst>
              <a:gd name="adj" fmla="val 3774"/>
            </a:avLst>
          </a:prstGeom>
          <a:solidFill>
            <a:schemeClr val="bg2"/>
          </a:solidFill>
          <a:ln w="9525">
            <a:solidFill>
              <a:schemeClr val="accent5"/>
            </a:solidFill>
            <a:prstDash val="solid"/>
          </a:ln>
        </p:spPr>
      </p:sp>
      <p:sp>
        <p:nvSpPr>
          <p:cNvPr id="28" name="Rule icon 1 circle"/>
          <p:cNvSpPr/>
          <p:nvPr/>
        </p:nvSpPr>
        <p:spPr>
          <a:xfrm>
            <a:off x="749808" y="3703320"/>
            <a:ext cx="640080" cy="640080"/>
          </a:xfrm>
          <a:prstGeom prst="ellipse">
            <a:avLst/>
          </a:prstGeom>
          <a:solidFill>
            <a:schemeClr val="accent5"/>
          </a:solidFill>
          <a:ln w="9525">
            <a:solidFill>
              <a:schemeClr val="accent6"/>
            </a:solidFill>
            <a:prstDash val="solid"/>
          </a:ln>
        </p:spPr>
      </p:sp>
      <p:pic>
        <p:nvPicPr>
          <p:cNvPr id="29" name="Rule icon 1" descr="Rule icon 1">    </p:cNvPr>
          <p:cNvPicPr>
            <a:picLocks noChangeAspect="1"/>
          </p:cNvPicPr>
          <p:nvPr/>
        </p:nvPicPr>
        <p:blipFill>
          <a:blip r:embed="rId1"/>
          <a:stretch>
            <a:fillRect/>
          </a:stretch>
        </p:blipFill>
        <p:spPr>
          <a:xfrm>
            <a:off x="916229" y="3869741"/>
            <a:ext cx="307238" cy="307238"/>
          </a:xfrm>
          <a:prstGeom prst="rect">
            <a:avLst/>
          </a:prstGeom>
        </p:spPr>
      </p:pic>
      <p:sp>
        <p:nvSpPr>
          <p:cNvPr id="30" name="Rule head 1"/>
          <p:cNvSpPr txBox="1"/>
          <p:nvPr/>
        </p:nvSpPr>
        <p:spPr>
          <a:xfrm>
            <a:off x="749808" y="4480560"/>
            <a:ext cx="2240280" cy="320040"/>
          </a:xfrm>
          <a:prstGeom prst="rect">
            <a:avLst/>
          </a:prstGeom>
          <a:noFill/>
          <a:ln/>
        </p:spPr>
        <p:txBody>
          <a:bodyPr wrap="square" lIns="0" tIns="0" rIns="0" bIns="0" rtlCol="0" anchor="t"/>
          <a:lstStyle/>
          <a:p>
            <a:pPr indent="0" marL="0">
              <a:buNone/>
            </a:pPr>
            <a:r>
              <a:rPr lang="en-US" sz="1800" b="1" dirty="0">
                <a:solidFill>
                  <a:schemeClr val="tx1"/>
                </a:solidFill>
              </a:rPr>
              <a:t>Extras excluded</a:t>
            </a:r>
            <a:endParaRPr lang="en-US" sz="1800" dirty="0"/>
          </a:p>
        </p:txBody>
      </p:sp>
      <p:sp>
        <p:nvSpPr>
          <p:cNvPr id="31" name="Rule text 1"/>
          <p:cNvSpPr txBox="1"/>
          <p:nvPr/>
        </p:nvSpPr>
        <p:spPr>
          <a:xfrm>
            <a:off x="749808" y="4846320"/>
            <a:ext cx="2240280" cy="1005840"/>
          </a:xfrm>
          <a:prstGeom prst="rect">
            <a:avLst/>
          </a:prstGeom>
          <a:noFill/>
          <a:ln/>
        </p:spPr>
        <p:txBody>
          <a:bodyPr wrap="square" lIns="0" tIns="0" rIns="0" bIns="0" rtlCol="0" anchor="t"/>
          <a:lstStyle/>
          <a:p>
            <a:pPr indent="0" marL="0">
              <a:buNone/>
            </a:pPr>
            <a:r>
              <a:rPr lang="en-US" sz="1400" dirty="0">
                <a:solidFill>
                  <a:schemeClr val="tx2"/>
                </a:solidFill>
              </a:rPr>
              <a:t>The target sums runs off the bat only. Wides and byes are not the batter's runs.</a:t>
            </a:r>
            <a:endParaRPr lang="en-US" sz="1400" dirty="0"/>
          </a:p>
        </p:txBody>
      </p:sp>
      <p:sp>
        <p:nvSpPr>
          <p:cNvPr id="32" name="Rule card 2"/>
          <p:cNvSpPr/>
          <p:nvPr/>
        </p:nvSpPr>
        <p:spPr>
          <a:xfrm>
            <a:off x="3364992" y="3520440"/>
            <a:ext cx="2606040" cy="2423160"/>
          </a:xfrm>
          <a:prstGeom prst="roundRect">
            <a:avLst>
              <a:gd name="adj" fmla="val 3774"/>
            </a:avLst>
          </a:prstGeom>
          <a:solidFill>
            <a:schemeClr val="bg2"/>
          </a:solidFill>
          <a:ln w="9525">
            <a:solidFill>
              <a:schemeClr val="accent5"/>
            </a:solidFill>
            <a:prstDash val="solid"/>
          </a:ln>
        </p:spPr>
      </p:sp>
      <p:sp>
        <p:nvSpPr>
          <p:cNvPr id="33" name="Rule icon 2 circle"/>
          <p:cNvSpPr/>
          <p:nvPr/>
        </p:nvSpPr>
        <p:spPr>
          <a:xfrm>
            <a:off x="3566160" y="3703320"/>
            <a:ext cx="640080" cy="640080"/>
          </a:xfrm>
          <a:prstGeom prst="ellipse">
            <a:avLst/>
          </a:prstGeom>
          <a:solidFill>
            <a:schemeClr val="accent5"/>
          </a:solidFill>
          <a:ln w="9525">
            <a:solidFill>
              <a:schemeClr val="accent6"/>
            </a:solidFill>
            <a:prstDash val="solid"/>
          </a:ln>
        </p:spPr>
      </p:sp>
      <p:pic>
        <p:nvPicPr>
          <p:cNvPr id="34" name="Rule icon 2" descr="Rule icon 2">    </p:cNvPr>
          <p:cNvPicPr>
            <a:picLocks noChangeAspect="1"/>
          </p:cNvPicPr>
          <p:nvPr/>
        </p:nvPicPr>
        <p:blipFill>
          <a:blip r:embed="rId2"/>
          <a:stretch>
            <a:fillRect/>
          </a:stretch>
        </p:blipFill>
        <p:spPr>
          <a:xfrm>
            <a:off x="3732581" y="3869741"/>
            <a:ext cx="307238" cy="307238"/>
          </a:xfrm>
          <a:prstGeom prst="rect">
            <a:avLst/>
          </a:prstGeom>
        </p:spPr>
      </p:pic>
      <p:sp>
        <p:nvSpPr>
          <p:cNvPr id="35" name="Rule head 2"/>
          <p:cNvSpPr txBox="1"/>
          <p:nvPr/>
        </p:nvSpPr>
        <p:spPr>
          <a:xfrm>
            <a:off x="3566160" y="4480560"/>
            <a:ext cx="2240280" cy="320040"/>
          </a:xfrm>
          <a:prstGeom prst="rect">
            <a:avLst/>
          </a:prstGeom>
          <a:noFill/>
          <a:ln/>
        </p:spPr>
        <p:txBody>
          <a:bodyPr wrap="square" lIns="0" tIns="0" rIns="0" bIns="0" rtlCol="0" anchor="t"/>
          <a:lstStyle/>
          <a:p>
            <a:pPr indent="0" marL="0">
              <a:buNone/>
            </a:pPr>
            <a:r>
              <a:rPr lang="en-US" sz="1800" b="1" dirty="0">
                <a:solidFill>
                  <a:schemeClr val="tx1"/>
                </a:solidFill>
              </a:rPr>
              <a:t>Balls faced</a:t>
            </a:r>
            <a:endParaRPr lang="en-US" sz="1800" dirty="0"/>
          </a:p>
        </p:txBody>
      </p:sp>
      <p:sp>
        <p:nvSpPr>
          <p:cNvPr id="36" name="Rule text 2"/>
          <p:cNvSpPr txBox="1"/>
          <p:nvPr/>
        </p:nvSpPr>
        <p:spPr>
          <a:xfrm>
            <a:off x="3566160" y="4846320"/>
            <a:ext cx="2240280" cy="1005840"/>
          </a:xfrm>
          <a:prstGeom prst="rect">
            <a:avLst/>
          </a:prstGeom>
          <a:noFill/>
          <a:ln/>
        </p:spPr>
        <p:txBody>
          <a:bodyPr wrap="square" lIns="0" tIns="0" rIns="0" bIns="0" rtlCol="0" anchor="t"/>
          <a:lstStyle/>
          <a:p>
            <a:pPr indent="0" marL="0">
              <a:buNone/>
            </a:pPr>
            <a:r>
              <a:rPr lang="en-US" sz="1400" dirty="0">
                <a:solidFill>
                  <a:schemeClr val="tx2"/>
                </a:solidFill>
              </a:rPr>
              <a:t>A wide is not a ball faced, so strike rate stays fair.</a:t>
            </a:r>
            <a:endParaRPr lang="en-US" sz="1400" dirty="0"/>
          </a:p>
        </p:txBody>
      </p:sp>
      <p:sp>
        <p:nvSpPr>
          <p:cNvPr id="37" name="Rule card 3"/>
          <p:cNvSpPr/>
          <p:nvPr/>
        </p:nvSpPr>
        <p:spPr>
          <a:xfrm>
            <a:off x="6181344" y="3520440"/>
            <a:ext cx="2606040" cy="2423160"/>
          </a:xfrm>
          <a:prstGeom prst="roundRect">
            <a:avLst>
              <a:gd name="adj" fmla="val 3774"/>
            </a:avLst>
          </a:prstGeom>
          <a:solidFill>
            <a:schemeClr val="bg2"/>
          </a:solidFill>
          <a:ln w="9525">
            <a:solidFill>
              <a:schemeClr val="accent5"/>
            </a:solidFill>
            <a:prstDash val="solid"/>
          </a:ln>
        </p:spPr>
      </p:sp>
      <p:sp>
        <p:nvSpPr>
          <p:cNvPr id="38" name="Rule icon 3 circle"/>
          <p:cNvSpPr/>
          <p:nvPr/>
        </p:nvSpPr>
        <p:spPr>
          <a:xfrm>
            <a:off x="6382512" y="3703320"/>
            <a:ext cx="640080" cy="640080"/>
          </a:xfrm>
          <a:prstGeom prst="ellipse">
            <a:avLst/>
          </a:prstGeom>
          <a:solidFill>
            <a:schemeClr val="accent5"/>
          </a:solidFill>
          <a:ln w="9525">
            <a:solidFill>
              <a:schemeClr val="accent6"/>
            </a:solidFill>
            <a:prstDash val="solid"/>
          </a:ln>
        </p:spPr>
      </p:sp>
      <p:pic>
        <p:nvPicPr>
          <p:cNvPr id="39" name="Rule icon 3" descr="Rule icon 3">    </p:cNvPr>
          <p:cNvPicPr>
            <a:picLocks noChangeAspect="1"/>
          </p:cNvPicPr>
          <p:nvPr/>
        </p:nvPicPr>
        <p:blipFill>
          <a:blip r:embed="rId3"/>
          <a:stretch>
            <a:fillRect/>
          </a:stretch>
        </p:blipFill>
        <p:spPr>
          <a:xfrm>
            <a:off x="6548933" y="3869741"/>
            <a:ext cx="307238" cy="307238"/>
          </a:xfrm>
          <a:prstGeom prst="rect">
            <a:avLst/>
          </a:prstGeom>
        </p:spPr>
      </p:pic>
      <p:sp>
        <p:nvSpPr>
          <p:cNvPr id="40" name="Rule head 3"/>
          <p:cNvSpPr txBox="1"/>
          <p:nvPr/>
        </p:nvSpPr>
        <p:spPr>
          <a:xfrm>
            <a:off x="6382512" y="4480560"/>
            <a:ext cx="2240280" cy="320040"/>
          </a:xfrm>
          <a:prstGeom prst="rect">
            <a:avLst/>
          </a:prstGeom>
          <a:noFill/>
          <a:ln/>
        </p:spPr>
        <p:txBody>
          <a:bodyPr wrap="square" lIns="0" tIns="0" rIns="0" bIns="0" rtlCol="0" anchor="t"/>
          <a:lstStyle/>
          <a:p>
            <a:pPr indent="0" marL="0">
              <a:buNone/>
            </a:pPr>
            <a:r>
              <a:rPr lang="en-US" sz="1800" b="1" dirty="0">
                <a:solidFill>
                  <a:schemeClr val="tx1"/>
                </a:solidFill>
              </a:rPr>
              <a:t>Zeros kept</a:t>
            </a:r>
            <a:endParaRPr lang="en-US" sz="1800" dirty="0"/>
          </a:p>
        </p:txBody>
      </p:sp>
      <p:sp>
        <p:nvSpPr>
          <p:cNvPr id="41" name="Rule text 3"/>
          <p:cNvSpPr txBox="1"/>
          <p:nvPr/>
        </p:nvSpPr>
        <p:spPr>
          <a:xfrm>
            <a:off x="6382512" y="4846320"/>
            <a:ext cx="2240280" cy="1005840"/>
          </a:xfrm>
          <a:prstGeom prst="rect">
            <a:avLst/>
          </a:prstGeom>
          <a:noFill/>
          <a:ln/>
        </p:spPr>
        <p:txBody>
          <a:bodyPr wrap="square" lIns="0" tIns="0" rIns="0" bIns="0" rtlCol="0" anchor="t"/>
          <a:lstStyle/>
          <a:p>
            <a:pPr indent="0" marL="0">
              <a:buNone/>
            </a:pPr>
            <a:r>
              <a:rPr lang="en-US" sz="1400" dirty="0">
                <a:solidFill>
                  <a:schemeClr val="tx2"/>
                </a:solidFill>
              </a:rPr>
              <a:t>8.8% of innings end on zero. They are real outcomes, not missing data.</a:t>
            </a:r>
            <a:endParaRPr lang="en-US" sz="1400" dirty="0"/>
          </a:p>
        </p:txBody>
      </p:sp>
      <p:sp>
        <p:nvSpPr>
          <p:cNvPr id="42" name="Rule card 4"/>
          <p:cNvSpPr/>
          <p:nvPr/>
        </p:nvSpPr>
        <p:spPr>
          <a:xfrm>
            <a:off x="8997696" y="3520440"/>
            <a:ext cx="2606040" cy="2423160"/>
          </a:xfrm>
          <a:prstGeom prst="roundRect">
            <a:avLst>
              <a:gd name="adj" fmla="val 3774"/>
            </a:avLst>
          </a:prstGeom>
          <a:solidFill>
            <a:schemeClr val="bg2"/>
          </a:solidFill>
          <a:ln w="9525">
            <a:solidFill>
              <a:schemeClr val="accent5"/>
            </a:solidFill>
            <a:prstDash val="solid"/>
          </a:ln>
        </p:spPr>
      </p:sp>
      <p:sp>
        <p:nvSpPr>
          <p:cNvPr id="43" name="Rule icon 4 circle"/>
          <p:cNvSpPr/>
          <p:nvPr/>
        </p:nvSpPr>
        <p:spPr>
          <a:xfrm>
            <a:off x="9198864" y="3703320"/>
            <a:ext cx="640080" cy="640080"/>
          </a:xfrm>
          <a:prstGeom prst="ellipse">
            <a:avLst/>
          </a:prstGeom>
          <a:solidFill>
            <a:schemeClr val="accent5"/>
          </a:solidFill>
          <a:ln w="9525">
            <a:solidFill>
              <a:schemeClr val="accent6"/>
            </a:solidFill>
            <a:prstDash val="solid"/>
          </a:ln>
        </p:spPr>
      </p:sp>
      <p:pic>
        <p:nvPicPr>
          <p:cNvPr id="44" name="Rule icon 4" descr="Rule icon 4">    </p:cNvPr>
          <p:cNvPicPr>
            <a:picLocks noChangeAspect="1"/>
          </p:cNvPicPr>
          <p:nvPr/>
        </p:nvPicPr>
        <p:blipFill>
          <a:blip r:embed="rId4"/>
          <a:stretch>
            <a:fillRect/>
          </a:stretch>
        </p:blipFill>
        <p:spPr>
          <a:xfrm>
            <a:off x="9365285" y="3869741"/>
            <a:ext cx="307238" cy="307238"/>
          </a:xfrm>
          <a:prstGeom prst="rect">
            <a:avLst/>
          </a:prstGeom>
        </p:spPr>
      </p:pic>
      <p:sp>
        <p:nvSpPr>
          <p:cNvPr id="45" name="Rule head 4"/>
          <p:cNvSpPr txBox="1"/>
          <p:nvPr/>
        </p:nvSpPr>
        <p:spPr>
          <a:xfrm>
            <a:off x="9198864" y="4480560"/>
            <a:ext cx="2240280" cy="320040"/>
          </a:xfrm>
          <a:prstGeom prst="rect">
            <a:avLst/>
          </a:prstGeom>
          <a:noFill/>
          <a:ln/>
        </p:spPr>
        <p:txBody>
          <a:bodyPr wrap="square" lIns="0" tIns="0" rIns="0" bIns="0" rtlCol="0" anchor="t"/>
          <a:lstStyle/>
          <a:p>
            <a:pPr indent="0" marL="0">
              <a:buNone/>
            </a:pPr>
            <a:r>
              <a:rPr lang="en-US" sz="1800" b="1" dirty="0">
                <a:solidFill>
                  <a:schemeClr val="tx1"/>
                </a:solidFill>
              </a:rPr>
              <a:t>Outliers kept</a:t>
            </a:r>
            <a:endParaRPr lang="en-US" sz="1800" dirty="0"/>
          </a:p>
        </p:txBody>
      </p:sp>
      <p:sp>
        <p:nvSpPr>
          <p:cNvPr id="46" name="Rule text 4"/>
          <p:cNvSpPr txBox="1"/>
          <p:nvPr/>
        </p:nvSpPr>
        <p:spPr>
          <a:xfrm>
            <a:off x="9198864" y="4846320"/>
            <a:ext cx="2240280" cy="1005840"/>
          </a:xfrm>
          <a:prstGeom prst="rect">
            <a:avLst/>
          </a:prstGeom>
          <a:noFill/>
          <a:ln/>
        </p:spPr>
        <p:txBody>
          <a:bodyPr wrap="square" lIns="0" tIns="0" rIns="0" bIns="0" rtlCol="0" anchor="t"/>
          <a:lstStyle/>
          <a:p>
            <a:pPr indent="0" marL="0">
              <a:buNone/>
            </a:pPr>
            <a:r>
              <a:rPr lang="en-US" sz="1400" dirty="0">
                <a:solidFill>
                  <a:schemeClr val="tx2"/>
                </a:solidFill>
              </a:rPr>
              <a:t>Scores up to 175 are genuine innings, so none were removed.</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Engineer leakage-free features</a:t>
            </a:r>
            <a:endParaRPr lang="en-US" sz="3200" dirty="0"/>
          </a:p>
        </p:txBody>
      </p:sp>
      <p:sp>
        <p:nvSpPr>
          <p:cNvPr id="4" name="Stage label"/>
          <p:cNvSpPr txBox="1"/>
          <p:nvPr/>
        </p:nvSpPr>
        <p:spPr>
          <a:xfrm>
            <a:off x="7406640" y="347472"/>
            <a:ext cx="4233672" cy="274320"/>
          </a:xfrm>
          <a:prstGeom prst="rect">
            <a:avLst/>
          </a:prstGeom>
          <a:noFill/>
          <a:ln/>
        </p:spPr>
        <p:txBody>
          <a:bodyPr wrap="square" lIns="0" tIns="0" rIns="0" bIns="0" rtlCol="0" anchor="t"/>
          <a:lstStyle/>
          <a:p>
            <a:pPr algn="r" indent="0" marL="0">
              <a:buNone/>
            </a:pPr>
            <a:r>
              <a:rPr lang="en-US" sz="1100" b="1" spc="200" kern="0" dirty="0">
                <a:solidFill>
                  <a:schemeClr val="tx2"/>
                </a:solidFill>
              </a:rPr>
              <a:t>STAGE 4 OF 8 · PREPARE</a:t>
            </a:r>
            <a:endParaRPr lang="en-US" sz="1100" dirty="0"/>
          </a:p>
        </p:txBody>
      </p:sp>
      <p:sp>
        <p:nvSpPr>
          <p:cNvPr id="5" name="Stage dot 1"/>
          <p:cNvSpPr/>
          <p:nvPr/>
        </p:nvSpPr>
        <p:spPr>
          <a:xfrm>
            <a:off x="9555480" y="731520"/>
            <a:ext cx="146304" cy="146304"/>
          </a:xfrm>
          <a:prstGeom prst="ellipse">
            <a:avLst/>
          </a:prstGeom>
          <a:solidFill>
            <a:schemeClr val="accent4"/>
          </a:solidFill>
          <a:ln w="9525">
            <a:solidFill>
              <a:schemeClr val="accent6"/>
            </a:solidFill>
            <a:prstDash val="solid"/>
          </a:ln>
        </p:spPr>
      </p:sp>
      <p:sp>
        <p:nvSpPr>
          <p:cNvPr id="6" name="Stage dot 2"/>
          <p:cNvSpPr/>
          <p:nvPr/>
        </p:nvSpPr>
        <p:spPr>
          <a:xfrm>
            <a:off x="9829800" y="731520"/>
            <a:ext cx="146304" cy="146304"/>
          </a:xfrm>
          <a:prstGeom prst="ellipse">
            <a:avLst/>
          </a:prstGeom>
          <a:solidFill>
            <a:schemeClr val="accent4"/>
          </a:solidFill>
          <a:ln w="9525">
            <a:solidFill>
              <a:schemeClr val="accent6"/>
            </a:solidFill>
            <a:prstDash val="solid"/>
          </a:ln>
        </p:spPr>
      </p:sp>
      <p:sp>
        <p:nvSpPr>
          <p:cNvPr id="7" name="Stage dot 3"/>
          <p:cNvSpPr/>
          <p:nvPr/>
        </p:nvSpPr>
        <p:spPr>
          <a:xfrm>
            <a:off x="10104120" y="731520"/>
            <a:ext cx="146304" cy="146304"/>
          </a:xfrm>
          <a:prstGeom prst="ellipse">
            <a:avLst/>
          </a:prstGeom>
          <a:solidFill>
            <a:schemeClr val="accent4"/>
          </a:solidFill>
          <a:ln w="9525">
            <a:solidFill>
              <a:schemeClr val="accent6"/>
            </a:solidFill>
            <a:prstDash val="solid"/>
          </a:ln>
        </p:spPr>
      </p:sp>
      <p:sp>
        <p:nvSpPr>
          <p:cNvPr id="8" name="Stage dot 4"/>
          <p:cNvSpPr/>
          <p:nvPr/>
        </p:nvSpPr>
        <p:spPr>
          <a:xfrm>
            <a:off x="10360152" y="713232"/>
            <a:ext cx="182880" cy="182880"/>
          </a:xfrm>
          <a:prstGeom prst="ellipse">
            <a:avLst/>
          </a:prstGeom>
          <a:solidFill>
            <a:schemeClr val="accent1"/>
          </a:solidFill>
          <a:ln w="9525">
            <a:solidFill>
              <a:schemeClr val="accent1"/>
            </a:solidFill>
            <a:prstDash val="solid"/>
          </a:ln>
        </p:spPr>
      </p:sp>
      <p:sp>
        <p:nvSpPr>
          <p:cNvPr id="9" name="Stage dot 5"/>
          <p:cNvSpPr/>
          <p:nvPr/>
        </p:nvSpPr>
        <p:spPr>
          <a:xfrm>
            <a:off x="10652760" y="731520"/>
            <a:ext cx="146304" cy="146304"/>
          </a:xfrm>
          <a:prstGeom prst="ellipse">
            <a:avLst/>
          </a:prstGeom>
          <a:solidFill>
            <a:schemeClr val="accent5"/>
          </a:solidFill>
          <a:ln w="9525">
            <a:solidFill>
              <a:schemeClr val="accent6"/>
            </a:solidFill>
            <a:prstDash val="solid"/>
          </a:ln>
        </p:spPr>
      </p:sp>
      <p:sp>
        <p:nvSpPr>
          <p:cNvPr id="10" name="Stage dot 6"/>
          <p:cNvSpPr/>
          <p:nvPr/>
        </p:nvSpPr>
        <p:spPr>
          <a:xfrm>
            <a:off x="10927080" y="731520"/>
            <a:ext cx="146304" cy="146304"/>
          </a:xfrm>
          <a:prstGeom prst="ellipse">
            <a:avLst/>
          </a:prstGeom>
          <a:solidFill>
            <a:schemeClr val="accent5"/>
          </a:solidFill>
          <a:ln w="9525">
            <a:solidFill>
              <a:schemeClr val="accent6"/>
            </a:solidFill>
            <a:prstDash val="solid"/>
          </a:ln>
        </p:spPr>
      </p:sp>
      <p:sp>
        <p:nvSpPr>
          <p:cNvPr id="11" name="Stage dot 7"/>
          <p:cNvSpPr/>
          <p:nvPr/>
        </p:nvSpPr>
        <p:spPr>
          <a:xfrm>
            <a:off x="11201400" y="731520"/>
            <a:ext cx="146304" cy="146304"/>
          </a:xfrm>
          <a:prstGeom prst="ellipse">
            <a:avLst/>
          </a:prstGeom>
          <a:solidFill>
            <a:schemeClr val="accent5"/>
          </a:solidFill>
          <a:ln w="9525">
            <a:solidFill>
              <a:schemeClr val="accent6"/>
            </a:solidFill>
            <a:prstDash val="solid"/>
          </a:ln>
        </p:spPr>
      </p:sp>
      <p:sp>
        <p:nvSpPr>
          <p:cNvPr id="12" name="Stage dot 8"/>
          <p:cNvSpPr/>
          <p:nvPr/>
        </p:nvSpPr>
        <p:spPr>
          <a:xfrm>
            <a:off x="11475720" y="731520"/>
            <a:ext cx="146304" cy="146304"/>
          </a:xfrm>
          <a:prstGeom prst="ellipse">
            <a:avLst/>
          </a:prstGeom>
          <a:solidFill>
            <a:schemeClr val="accent5"/>
          </a:solidFill>
          <a:ln w="9525">
            <a:solidFill>
              <a:schemeClr val="accent6"/>
            </a:solidFill>
            <a:prstDash val="solid"/>
          </a:ln>
        </p:spPr>
      </p:sp>
      <p:sp>
        <p:nvSpPr>
          <p:cNvPr id="13" name="Feature card 1"/>
          <p:cNvSpPr/>
          <p:nvPr/>
        </p:nvSpPr>
        <p:spPr>
          <a:xfrm>
            <a:off x="548640" y="1463040"/>
            <a:ext cx="3611880" cy="2194560"/>
          </a:xfrm>
          <a:prstGeom prst="roundRect">
            <a:avLst>
              <a:gd name="adj" fmla="val 4167"/>
            </a:avLst>
          </a:prstGeom>
          <a:solidFill>
            <a:schemeClr val="bg2"/>
          </a:solidFill>
          <a:ln w="9525">
            <a:solidFill>
              <a:schemeClr val="accent5"/>
            </a:solidFill>
            <a:prstDash val="solid"/>
          </a:ln>
        </p:spPr>
      </p:sp>
      <p:sp>
        <p:nvSpPr>
          <p:cNvPr id="14" name="Feature icon 1 circle"/>
          <p:cNvSpPr/>
          <p:nvPr/>
        </p:nvSpPr>
        <p:spPr>
          <a:xfrm>
            <a:off x="749808" y="1664208"/>
            <a:ext cx="548640" cy="548640"/>
          </a:xfrm>
          <a:prstGeom prst="ellipse">
            <a:avLst/>
          </a:prstGeom>
          <a:solidFill>
            <a:schemeClr val="accent5"/>
          </a:solidFill>
          <a:ln w="9525">
            <a:solidFill>
              <a:schemeClr val="accent6"/>
            </a:solidFill>
            <a:prstDash val="solid"/>
          </a:ln>
        </p:spPr>
      </p:sp>
      <p:pic>
        <p:nvPicPr>
          <p:cNvPr id="15" name="Feature icon 1" descr="Feature icon 1">    </p:cNvPr>
          <p:cNvPicPr>
            <a:picLocks noChangeAspect="1"/>
          </p:cNvPicPr>
          <p:nvPr/>
        </p:nvPicPr>
        <p:blipFill>
          <a:blip r:embed="rId1"/>
          <a:stretch>
            <a:fillRect/>
          </a:stretch>
        </p:blipFill>
        <p:spPr>
          <a:xfrm>
            <a:off x="892454" y="1806854"/>
            <a:ext cx="263347" cy="263347"/>
          </a:xfrm>
          <a:prstGeom prst="rect">
            <a:avLst/>
          </a:prstGeom>
        </p:spPr>
      </p:pic>
      <p:sp>
        <p:nvSpPr>
          <p:cNvPr id="16" name="Feature head 1"/>
          <p:cNvSpPr txBox="1"/>
          <p:nvPr/>
        </p:nvSpPr>
        <p:spPr>
          <a:xfrm>
            <a:off x="1444752" y="1664208"/>
            <a:ext cx="1920240" cy="548640"/>
          </a:xfrm>
          <a:prstGeom prst="rect">
            <a:avLst/>
          </a:prstGeom>
          <a:noFill/>
          <a:ln/>
        </p:spPr>
        <p:txBody>
          <a:bodyPr wrap="square" lIns="0" tIns="0" rIns="0" bIns="0" rtlCol="0" anchor="ctr"/>
          <a:lstStyle/>
          <a:p>
            <a:pPr indent="0" marL="0">
              <a:buNone/>
            </a:pPr>
            <a:r>
              <a:rPr lang="en-US" sz="1800" b="1" dirty="0">
                <a:solidFill>
                  <a:schemeClr val="tx1"/>
                </a:solidFill>
              </a:rPr>
              <a:t>Career form</a:t>
            </a:r>
            <a:endParaRPr lang="en-US" sz="1800" dirty="0"/>
          </a:p>
        </p:txBody>
      </p:sp>
      <p:sp>
        <p:nvSpPr>
          <p:cNvPr id="17" name="Feature count 1"/>
          <p:cNvSpPr txBox="1"/>
          <p:nvPr/>
        </p:nvSpPr>
        <p:spPr>
          <a:xfrm>
            <a:off x="3246120" y="1664208"/>
            <a:ext cx="713232" cy="548640"/>
          </a:xfrm>
          <a:prstGeom prst="rect">
            <a:avLst/>
          </a:prstGeom>
          <a:noFill/>
          <a:ln/>
        </p:spPr>
        <p:txBody>
          <a:bodyPr wrap="square" lIns="0" tIns="0" rIns="0" bIns="0" rtlCol="0" anchor="ctr"/>
          <a:lstStyle/>
          <a:p>
            <a:pPr algn="r" indent="0" marL="0">
              <a:buNone/>
            </a:pPr>
            <a:r>
              <a:rPr lang="en-US" sz="2400" b="1" dirty="0">
                <a:solidFill>
                  <a:schemeClr val="accent2"/>
                </a:solidFill>
                <a:latin typeface="+mj-lt" pitchFamily="34" charset="0"/>
                <a:ea typeface="+mj-lt" pitchFamily="34" charset="-122"/>
                <a:cs typeface="+mj-lt" pitchFamily="34" charset="-120"/>
              </a:rPr>
              <a:t>8</a:t>
            </a:r>
            <a:endParaRPr lang="en-US" sz="2400" dirty="0"/>
          </a:p>
        </p:txBody>
      </p:sp>
      <p:sp>
        <p:nvSpPr>
          <p:cNvPr id="18" name="Feature text 1"/>
          <p:cNvSpPr txBox="1"/>
          <p:nvPr/>
        </p:nvSpPr>
        <p:spPr>
          <a:xfrm>
            <a:off x="749808" y="2377440"/>
            <a:ext cx="3200400" cy="1143000"/>
          </a:xfrm>
          <a:prstGeom prst="rect">
            <a:avLst/>
          </a:prstGeom>
          <a:noFill/>
          <a:ln/>
        </p:spPr>
        <p:txBody>
          <a:bodyPr wrap="square" lIns="0" tIns="0" rIns="0" bIns="0" rtlCol="0" anchor="t"/>
          <a:lstStyle/>
          <a:p>
            <a:pPr indent="0" marL="0">
              <a:buNone/>
            </a:pPr>
            <a:r>
              <a:rPr lang="en-US" sz="1600" dirty="0">
                <a:solidFill>
                  <a:schemeClr val="tx2"/>
                </a:solidFill>
              </a:rPr>
              <a:t>average, strike rate, runs, balls, fours, sixes, dismissal rate, best score</a:t>
            </a:r>
            <a:endParaRPr lang="en-US" sz="1600" dirty="0"/>
          </a:p>
        </p:txBody>
      </p:sp>
      <p:sp>
        <p:nvSpPr>
          <p:cNvPr id="19" name="Feature card 2"/>
          <p:cNvSpPr/>
          <p:nvPr/>
        </p:nvSpPr>
        <p:spPr>
          <a:xfrm>
            <a:off x="4343400" y="1463040"/>
            <a:ext cx="3611880" cy="2194560"/>
          </a:xfrm>
          <a:prstGeom prst="roundRect">
            <a:avLst>
              <a:gd name="adj" fmla="val 4167"/>
            </a:avLst>
          </a:prstGeom>
          <a:solidFill>
            <a:schemeClr val="bg2"/>
          </a:solidFill>
          <a:ln w="9525">
            <a:solidFill>
              <a:schemeClr val="accent5"/>
            </a:solidFill>
            <a:prstDash val="solid"/>
          </a:ln>
        </p:spPr>
      </p:sp>
      <p:sp>
        <p:nvSpPr>
          <p:cNvPr id="20" name="Feature icon 2 circle"/>
          <p:cNvSpPr/>
          <p:nvPr/>
        </p:nvSpPr>
        <p:spPr>
          <a:xfrm>
            <a:off x="4544568" y="1664208"/>
            <a:ext cx="548640" cy="548640"/>
          </a:xfrm>
          <a:prstGeom prst="ellipse">
            <a:avLst/>
          </a:prstGeom>
          <a:solidFill>
            <a:schemeClr val="accent5"/>
          </a:solidFill>
          <a:ln w="9525">
            <a:solidFill>
              <a:schemeClr val="accent6"/>
            </a:solidFill>
            <a:prstDash val="solid"/>
          </a:ln>
        </p:spPr>
      </p:sp>
      <p:pic>
        <p:nvPicPr>
          <p:cNvPr id="21" name="Feature icon 2" descr="Feature icon 2">    </p:cNvPr>
          <p:cNvPicPr>
            <a:picLocks noChangeAspect="1"/>
          </p:cNvPicPr>
          <p:nvPr/>
        </p:nvPicPr>
        <p:blipFill>
          <a:blip r:embed="rId2"/>
          <a:stretch>
            <a:fillRect/>
          </a:stretch>
        </p:blipFill>
        <p:spPr>
          <a:xfrm>
            <a:off x="4687214" y="1806854"/>
            <a:ext cx="263347" cy="263347"/>
          </a:xfrm>
          <a:prstGeom prst="rect">
            <a:avLst/>
          </a:prstGeom>
        </p:spPr>
      </p:pic>
      <p:sp>
        <p:nvSpPr>
          <p:cNvPr id="22" name="Feature head 2"/>
          <p:cNvSpPr txBox="1"/>
          <p:nvPr/>
        </p:nvSpPr>
        <p:spPr>
          <a:xfrm>
            <a:off x="5239512" y="1664208"/>
            <a:ext cx="1920240" cy="548640"/>
          </a:xfrm>
          <a:prstGeom prst="rect">
            <a:avLst/>
          </a:prstGeom>
          <a:noFill/>
          <a:ln/>
        </p:spPr>
        <p:txBody>
          <a:bodyPr wrap="square" lIns="0" tIns="0" rIns="0" bIns="0" rtlCol="0" anchor="ctr"/>
          <a:lstStyle/>
          <a:p>
            <a:pPr indent="0" marL="0">
              <a:buNone/>
            </a:pPr>
            <a:r>
              <a:rPr lang="en-US" sz="1800" b="1" dirty="0">
                <a:solidFill>
                  <a:schemeClr val="tx1"/>
                </a:solidFill>
              </a:rPr>
              <a:t>Recent form</a:t>
            </a:r>
            <a:endParaRPr lang="en-US" sz="1800" dirty="0"/>
          </a:p>
        </p:txBody>
      </p:sp>
      <p:sp>
        <p:nvSpPr>
          <p:cNvPr id="23" name="Feature count 2"/>
          <p:cNvSpPr txBox="1"/>
          <p:nvPr/>
        </p:nvSpPr>
        <p:spPr>
          <a:xfrm>
            <a:off x="7040880" y="1664208"/>
            <a:ext cx="713232" cy="548640"/>
          </a:xfrm>
          <a:prstGeom prst="rect">
            <a:avLst/>
          </a:prstGeom>
          <a:noFill/>
          <a:ln/>
        </p:spPr>
        <p:txBody>
          <a:bodyPr wrap="square" lIns="0" tIns="0" rIns="0" bIns="0" rtlCol="0" anchor="ctr"/>
          <a:lstStyle/>
          <a:p>
            <a:pPr algn="r" indent="0" marL="0">
              <a:buNone/>
            </a:pPr>
            <a:r>
              <a:rPr lang="en-US" sz="2400" b="1" dirty="0">
                <a:solidFill>
                  <a:schemeClr val="accent2"/>
                </a:solidFill>
                <a:latin typeface="+mj-lt" pitchFamily="34" charset="0"/>
                <a:ea typeface="+mj-lt" pitchFamily="34" charset="-122"/>
                <a:cs typeface="+mj-lt" pitchFamily="34" charset="-120"/>
              </a:rPr>
              <a:t>7</a:t>
            </a:r>
            <a:endParaRPr lang="en-US" sz="2400" dirty="0"/>
          </a:p>
        </p:txBody>
      </p:sp>
      <p:sp>
        <p:nvSpPr>
          <p:cNvPr id="24" name="Feature text 2"/>
          <p:cNvSpPr txBox="1"/>
          <p:nvPr/>
        </p:nvSpPr>
        <p:spPr>
          <a:xfrm>
            <a:off x="4544568" y="2377440"/>
            <a:ext cx="3200400" cy="1143000"/>
          </a:xfrm>
          <a:prstGeom prst="rect">
            <a:avLst/>
          </a:prstGeom>
          <a:noFill/>
          <a:ln/>
        </p:spPr>
        <p:txBody>
          <a:bodyPr wrap="square" lIns="0" tIns="0" rIns="0" bIns="0" rtlCol="0" anchor="t"/>
          <a:lstStyle/>
          <a:p>
            <a:pPr indent="0" marL="0">
              <a:buNone/>
            </a:pPr>
            <a:r>
              <a:rPr lang="en-US" sz="1600" dirty="0">
                <a:solidFill>
                  <a:schemeClr val="tx2"/>
                </a:solidFill>
              </a:rPr>
              <a:t>last-5 and last-3 average runs, balls and strike rate; last-5 spread</a:t>
            </a:r>
            <a:endParaRPr lang="en-US" sz="1600" dirty="0"/>
          </a:p>
        </p:txBody>
      </p:sp>
      <p:sp>
        <p:nvSpPr>
          <p:cNvPr id="25" name="Feature card 3"/>
          <p:cNvSpPr/>
          <p:nvPr/>
        </p:nvSpPr>
        <p:spPr>
          <a:xfrm>
            <a:off x="548640" y="3840480"/>
            <a:ext cx="3611880" cy="2194560"/>
          </a:xfrm>
          <a:prstGeom prst="roundRect">
            <a:avLst>
              <a:gd name="adj" fmla="val 4167"/>
            </a:avLst>
          </a:prstGeom>
          <a:solidFill>
            <a:schemeClr val="bg2"/>
          </a:solidFill>
          <a:ln w="9525">
            <a:solidFill>
              <a:schemeClr val="accent5"/>
            </a:solidFill>
            <a:prstDash val="solid"/>
          </a:ln>
        </p:spPr>
      </p:sp>
      <p:sp>
        <p:nvSpPr>
          <p:cNvPr id="26" name="Feature icon 3 circle"/>
          <p:cNvSpPr/>
          <p:nvPr/>
        </p:nvSpPr>
        <p:spPr>
          <a:xfrm>
            <a:off x="749808" y="4041648"/>
            <a:ext cx="548640" cy="548640"/>
          </a:xfrm>
          <a:prstGeom prst="ellipse">
            <a:avLst/>
          </a:prstGeom>
          <a:solidFill>
            <a:schemeClr val="accent5"/>
          </a:solidFill>
          <a:ln w="9525">
            <a:solidFill>
              <a:schemeClr val="accent6"/>
            </a:solidFill>
            <a:prstDash val="solid"/>
          </a:ln>
        </p:spPr>
      </p:sp>
      <p:pic>
        <p:nvPicPr>
          <p:cNvPr id="27" name="Feature icon 3" descr="Feature icon 3">    </p:cNvPr>
          <p:cNvPicPr>
            <a:picLocks noChangeAspect="1"/>
          </p:cNvPicPr>
          <p:nvPr/>
        </p:nvPicPr>
        <p:blipFill>
          <a:blip r:embed="rId3"/>
          <a:stretch>
            <a:fillRect/>
          </a:stretch>
        </p:blipFill>
        <p:spPr>
          <a:xfrm>
            <a:off x="892454" y="4184294"/>
            <a:ext cx="263347" cy="263347"/>
          </a:xfrm>
          <a:prstGeom prst="rect">
            <a:avLst/>
          </a:prstGeom>
        </p:spPr>
      </p:pic>
      <p:sp>
        <p:nvSpPr>
          <p:cNvPr id="28" name="Feature head 3"/>
          <p:cNvSpPr txBox="1"/>
          <p:nvPr/>
        </p:nvSpPr>
        <p:spPr>
          <a:xfrm>
            <a:off x="1444752" y="4041648"/>
            <a:ext cx="1920240" cy="548640"/>
          </a:xfrm>
          <a:prstGeom prst="rect">
            <a:avLst/>
          </a:prstGeom>
          <a:noFill/>
          <a:ln/>
        </p:spPr>
        <p:txBody>
          <a:bodyPr wrap="square" lIns="0" tIns="0" rIns="0" bIns="0" rtlCol="0" anchor="ctr"/>
          <a:lstStyle/>
          <a:p>
            <a:pPr indent="0" marL="0">
              <a:buNone/>
            </a:pPr>
            <a:r>
              <a:rPr lang="en-US" sz="1800" b="1" dirty="0">
                <a:solidFill>
                  <a:schemeClr val="tx1"/>
                </a:solidFill>
              </a:rPr>
              <a:t>Experience and rest</a:t>
            </a:r>
            <a:endParaRPr lang="en-US" sz="1800" dirty="0"/>
          </a:p>
        </p:txBody>
      </p:sp>
      <p:sp>
        <p:nvSpPr>
          <p:cNvPr id="29" name="Feature count 3"/>
          <p:cNvSpPr txBox="1"/>
          <p:nvPr/>
        </p:nvSpPr>
        <p:spPr>
          <a:xfrm>
            <a:off x="3246120" y="4041648"/>
            <a:ext cx="713232" cy="548640"/>
          </a:xfrm>
          <a:prstGeom prst="rect">
            <a:avLst/>
          </a:prstGeom>
          <a:noFill/>
          <a:ln/>
        </p:spPr>
        <p:txBody>
          <a:bodyPr wrap="square" lIns="0" tIns="0" rIns="0" bIns="0" rtlCol="0" anchor="ctr"/>
          <a:lstStyle/>
          <a:p>
            <a:pPr algn="r" indent="0" marL="0">
              <a:buNone/>
            </a:pPr>
            <a:r>
              <a:rPr lang="en-US" sz="2400" b="1" dirty="0">
                <a:solidFill>
                  <a:schemeClr val="accent2"/>
                </a:solidFill>
                <a:latin typeface="+mj-lt" pitchFamily="34" charset="0"/>
                <a:ea typeface="+mj-lt" pitchFamily="34" charset="-122"/>
                <a:cs typeface="+mj-lt" pitchFamily="34" charset="-120"/>
              </a:rPr>
              <a:t>2</a:t>
            </a:r>
            <a:endParaRPr lang="en-US" sz="2400" dirty="0"/>
          </a:p>
        </p:txBody>
      </p:sp>
      <p:sp>
        <p:nvSpPr>
          <p:cNvPr id="30" name="Feature text 3"/>
          <p:cNvSpPr txBox="1"/>
          <p:nvPr/>
        </p:nvSpPr>
        <p:spPr>
          <a:xfrm>
            <a:off x="749808" y="4754880"/>
            <a:ext cx="3200400" cy="1143000"/>
          </a:xfrm>
          <a:prstGeom prst="rect">
            <a:avLst/>
          </a:prstGeom>
          <a:noFill/>
          <a:ln/>
        </p:spPr>
        <p:txBody>
          <a:bodyPr wrap="square" lIns="0" tIns="0" rIns="0" bIns="0" rtlCol="0" anchor="t"/>
          <a:lstStyle/>
          <a:p>
            <a:pPr indent="0" marL="0">
              <a:buNone/>
            </a:pPr>
            <a:r>
              <a:rPr lang="en-US" sz="1600" dirty="0">
                <a:solidFill>
                  <a:schemeClr val="tx2"/>
                </a:solidFill>
              </a:rPr>
              <a:t>innings played so far, days since the last match</a:t>
            </a:r>
            <a:endParaRPr lang="en-US" sz="1600" dirty="0"/>
          </a:p>
        </p:txBody>
      </p:sp>
      <p:sp>
        <p:nvSpPr>
          <p:cNvPr id="31" name="Feature card 4"/>
          <p:cNvSpPr/>
          <p:nvPr/>
        </p:nvSpPr>
        <p:spPr>
          <a:xfrm>
            <a:off x="4343400" y="3840480"/>
            <a:ext cx="3611880" cy="2194560"/>
          </a:xfrm>
          <a:prstGeom prst="roundRect">
            <a:avLst>
              <a:gd name="adj" fmla="val 4167"/>
            </a:avLst>
          </a:prstGeom>
          <a:solidFill>
            <a:schemeClr val="bg2"/>
          </a:solidFill>
          <a:ln w="9525">
            <a:solidFill>
              <a:schemeClr val="accent5"/>
            </a:solidFill>
            <a:prstDash val="solid"/>
          </a:ln>
        </p:spPr>
      </p:sp>
      <p:sp>
        <p:nvSpPr>
          <p:cNvPr id="32" name="Feature icon 4 circle"/>
          <p:cNvSpPr/>
          <p:nvPr/>
        </p:nvSpPr>
        <p:spPr>
          <a:xfrm>
            <a:off x="4544568" y="4041648"/>
            <a:ext cx="548640" cy="548640"/>
          </a:xfrm>
          <a:prstGeom prst="ellipse">
            <a:avLst/>
          </a:prstGeom>
          <a:solidFill>
            <a:schemeClr val="accent5"/>
          </a:solidFill>
          <a:ln w="9525">
            <a:solidFill>
              <a:schemeClr val="accent6"/>
            </a:solidFill>
            <a:prstDash val="solid"/>
          </a:ln>
        </p:spPr>
      </p:sp>
      <p:pic>
        <p:nvPicPr>
          <p:cNvPr id="33" name="Feature icon 4" descr="Feature icon 4">    </p:cNvPr>
          <p:cNvPicPr>
            <a:picLocks noChangeAspect="1"/>
          </p:cNvPicPr>
          <p:nvPr/>
        </p:nvPicPr>
        <p:blipFill>
          <a:blip r:embed="rId4"/>
          <a:stretch>
            <a:fillRect/>
          </a:stretch>
        </p:blipFill>
        <p:spPr>
          <a:xfrm>
            <a:off x="4687214" y="4184294"/>
            <a:ext cx="263347" cy="263347"/>
          </a:xfrm>
          <a:prstGeom prst="rect">
            <a:avLst/>
          </a:prstGeom>
        </p:spPr>
      </p:pic>
      <p:sp>
        <p:nvSpPr>
          <p:cNvPr id="34" name="Feature head 4"/>
          <p:cNvSpPr txBox="1"/>
          <p:nvPr/>
        </p:nvSpPr>
        <p:spPr>
          <a:xfrm>
            <a:off x="5239512" y="4041648"/>
            <a:ext cx="1920240" cy="548640"/>
          </a:xfrm>
          <a:prstGeom prst="rect">
            <a:avLst/>
          </a:prstGeom>
          <a:noFill/>
          <a:ln/>
        </p:spPr>
        <p:txBody>
          <a:bodyPr wrap="square" lIns="0" tIns="0" rIns="0" bIns="0" rtlCol="0" anchor="ctr"/>
          <a:lstStyle/>
          <a:p>
            <a:pPr indent="0" marL="0">
              <a:buNone/>
            </a:pPr>
            <a:r>
              <a:rPr lang="en-US" sz="1800" b="1" dirty="0">
                <a:solidFill>
                  <a:schemeClr val="tx1"/>
                </a:solidFill>
              </a:rPr>
              <a:t>Match context</a:t>
            </a:r>
            <a:endParaRPr lang="en-US" sz="1800" dirty="0"/>
          </a:p>
        </p:txBody>
      </p:sp>
      <p:sp>
        <p:nvSpPr>
          <p:cNvPr id="35" name="Feature count 4"/>
          <p:cNvSpPr txBox="1"/>
          <p:nvPr/>
        </p:nvSpPr>
        <p:spPr>
          <a:xfrm>
            <a:off x="7040880" y="4041648"/>
            <a:ext cx="713232" cy="548640"/>
          </a:xfrm>
          <a:prstGeom prst="rect">
            <a:avLst/>
          </a:prstGeom>
          <a:noFill/>
          <a:ln/>
        </p:spPr>
        <p:txBody>
          <a:bodyPr wrap="square" lIns="0" tIns="0" rIns="0" bIns="0" rtlCol="0" anchor="ctr"/>
          <a:lstStyle/>
          <a:p>
            <a:pPr algn="r" indent="0" marL="0">
              <a:buNone/>
            </a:pPr>
            <a:r>
              <a:rPr lang="en-US" sz="2400" b="1" dirty="0">
                <a:solidFill>
                  <a:schemeClr val="accent2"/>
                </a:solidFill>
                <a:latin typeface="+mj-lt" pitchFamily="34" charset="0"/>
                <a:ea typeface="+mj-lt" pitchFamily="34" charset="-122"/>
                <a:cs typeface="+mj-lt" pitchFamily="34" charset="-120"/>
              </a:rPr>
              <a:t>84</a:t>
            </a:r>
            <a:endParaRPr lang="en-US" sz="2400" dirty="0"/>
          </a:p>
        </p:txBody>
      </p:sp>
      <p:sp>
        <p:nvSpPr>
          <p:cNvPr id="36" name="Feature text 4"/>
          <p:cNvSpPr txBox="1"/>
          <p:nvPr/>
        </p:nvSpPr>
        <p:spPr>
          <a:xfrm>
            <a:off x="4544568" y="4754880"/>
            <a:ext cx="3200400" cy="1143000"/>
          </a:xfrm>
          <a:prstGeom prst="rect">
            <a:avLst/>
          </a:prstGeom>
          <a:noFill/>
          <a:ln/>
        </p:spPr>
        <p:txBody>
          <a:bodyPr wrap="square" lIns="0" tIns="0" rIns="0" bIns="0" rtlCol="0" anchor="t"/>
          <a:lstStyle/>
          <a:p>
            <a:pPr indent="0" marL="0">
              <a:buNone/>
            </a:pPr>
            <a:r>
              <a:rPr lang="en-US" sz="1600" dirty="0">
                <a:solidFill>
                  <a:schemeClr val="tx2"/>
                </a:solidFill>
              </a:rPr>
              <a:t>innings, venue, batting team and bowling team, one-hot encoded</a:t>
            </a:r>
            <a:endParaRPr lang="en-US" sz="1600" dirty="0"/>
          </a:p>
        </p:txBody>
      </p:sp>
      <p:sp>
        <p:nvSpPr>
          <p:cNvPr id="37" name="Inputs card"/>
          <p:cNvSpPr/>
          <p:nvPr/>
        </p:nvSpPr>
        <p:spPr>
          <a:xfrm>
            <a:off x="8229600" y="1463040"/>
            <a:ext cx="3410712" cy="4562856"/>
          </a:xfrm>
          <a:prstGeom prst="roundRect">
            <a:avLst>
              <a:gd name="adj" fmla="val 2681"/>
            </a:avLst>
          </a:prstGeom>
          <a:solidFill>
            <a:schemeClr val="bg2"/>
          </a:solidFill>
          <a:ln w="9525">
            <a:solidFill>
              <a:schemeClr val="accent5"/>
            </a:solidFill>
            <a:prstDash val="solid"/>
          </a:ln>
        </p:spPr>
      </p:sp>
      <p:sp>
        <p:nvSpPr>
          <p:cNvPr id="38" name="Input total"/>
          <p:cNvSpPr txBox="1"/>
          <p:nvPr/>
        </p:nvSpPr>
        <p:spPr>
          <a:xfrm>
            <a:off x="8458200" y="1600200"/>
            <a:ext cx="2926080" cy="914400"/>
          </a:xfrm>
          <a:prstGeom prst="rect">
            <a:avLst/>
          </a:prstGeom>
          <a:noFill/>
          <a:ln/>
        </p:spPr>
        <p:txBody>
          <a:bodyPr wrap="square" lIns="0" tIns="0" rIns="0" bIns="0" rtlCol="0" anchor="ctr"/>
          <a:lstStyle/>
          <a:p>
            <a:pPr indent="0" marL="0">
              <a:buNone/>
            </a:pPr>
            <a:r>
              <a:rPr lang="en-US" sz="6600" b="1" dirty="0">
                <a:solidFill>
                  <a:schemeClr val="accent1"/>
                </a:solidFill>
                <a:latin typeface="+mj-lt" pitchFamily="34" charset="0"/>
                <a:ea typeface="+mj-lt" pitchFamily="34" charset="-122"/>
                <a:cs typeface="+mj-lt" pitchFamily="34" charset="-120"/>
              </a:rPr>
              <a:t>101</a:t>
            </a:r>
            <a:endParaRPr lang="en-US" sz="6600" dirty="0"/>
          </a:p>
        </p:txBody>
      </p:sp>
      <p:sp>
        <p:nvSpPr>
          <p:cNvPr id="39" name="Input caption"/>
          <p:cNvSpPr txBox="1"/>
          <p:nvPr/>
        </p:nvSpPr>
        <p:spPr>
          <a:xfrm>
            <a:off x="8458200" y="2560320"/>
            <a:ext cx="2971800" cy="594360"/>
          </a:xfrm>
          <a:prstGeom prst="rect">
            <a:avLst/>
          </a:prstGeom>
          <a:noFill/>
          <a:ln/>
        </p:spPr>
        <p:txBody>
          <a:bodyPr wrap="square" lIns="0" tIns="0" rIns="0" bIns="0" rtlCol="0" anchor="t"/>
          <a:lstStyle/>
          <a:p>
            <a:pPr indent="0" marL="0">
              <a:buNone/>
            </a:pPr>
            <a:r>
              <a:rPr lang="en-US" sz="1400" dirty="0">
                <a:solidFill>
                  <a:schemeClr val="tx2"/>
                </a:solidFill>
              </a:rPr>
              <a:t>model inputs: 17 numeric plus 84 one-hot columns</a:t>
            </a:r>
            <a:endParaRPr lang="en-US" sz="1400" dirty="0"/>
          </a:p>
        </p:txBody>
      </p:sp>
      <p:pic>
        <p:nvPicPr>
          <p:cNvPr id="40" name="Leakage icon" descr="Padlock">    </p:cNvPr>
          <p:cNvPicPr>
            <a:picLocks noChangeAspect="1"/>
          </p:cNvPicPr>
          <p:nvPr/>
        </p:nvPicPr>
        <p:blipFill>
          <a:blip r:embed="rId5"/>
          <a:stretch>
            <a:fillRect/>
          </a:stretch>
        </p:blipFill>
        <p:spPr>
          <a:xfrm>
            <a:off x="8458200" y="3474720"/>
            <a:ext cx="292608" cy="292608"/>
          </a:xfrm>
          <a:prstGeom prst="rect">
            <a:avLst/>
          </a:prstGeom>
        </p:spPr>
      </p:pic>
      <p:sp>
        <p:nvSpPr>
          <p:cNvPr id="41" name="Leakage head"/>
          <p:cNvSpPr txBox="1"/>
          <p:nvPr/>
        </p:nvSpPr>
        <p:spPr>
          <a:xfrm>
            <a:off x="8869680" y="3456432"/>
            <a:ext cx="2560320" cy="329184"/>
          </a:xfrm>
          <a:prstGeom prst="rect">
            <a:avLst/>
          </a:prstGeom>
          <a:noFill/>
          <a:ln/>
        </p:spPr>
        <p:txBody>
          <a:bodyPr wrap="square" lIns="0" tIns="0" rIns="0" bIns="0" rtlCol="0" anchor="ctr"/>
          <a:lstStyle/>
          <a:p>
            <a:pPr indent="0" marL="0">
              <a:buNone/>
            </a:pPr>
            <a:r>
              <a:rPr lang="en-US" sz="1800" b="1" dirty="0">
                <a:solidFill>
                  <a:schemeClr val="accent2"/>
                </a:solidFill>
              </a:rPr>
              <a:t>No leakage</a:t>
            </a:r>
            <a:endParaRPr lang="en-US" sz="1800" dirty="0"/>
          </a:p>
        </p:txBody>
      </p:sp>
      <p:sp>
        <p:nvSpPr>
          <p:cNvPr id="42" name="Leakage text"/>
          <p:cNvSpPr txBox="1"/>
          <p:nvPr/>
        </p:nvSpPr>
        <p:spPr>
          <a:xfrm>
            <a:off x="8458200" y="3977640"/>
            <a:ext cx="3017520" cy="1920240"/>
          </a:xfrm>
          <a:prstGeom prst="rect">
            <a:avLst/>
          </a:prstGeom>
          <a:noFill/>
          <a:ln/>
        </p:spPr>
        <p:txBody>
          <a:bodyPr wrap="square" lIns="0" tIns="0" rIns="0" bIns="0" rtlCol="0" anchor="t"/>
          <a:lstStyle/>
          <a:p>
            <a:pPr indent="0" marL="0">
              <a:buNone/>
            </a:pPr>
            <a:r>
              <a:rPr lang="en-US" sz="1600" dirty="0">
                <a:solidFill>
                  <a:schemeClr val="tx2"/>
                </a:solidFill>
              </a:rPr>
              <a:t>Every history feature is shifted back one innings before any running total or rolling window, so an innings never feeds its own features.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Split the data by time</a:t>
            </a:r>
            <a:endParaRPr lang="en-US" sz="3200" dirty="0"/>
          </a:p>
        </p:txBody>
      </p:sp>
      <p:sp>
        <p:nvSpPr>
          <p:cNvPr id="4" name="Stage label"/>
          <p:cNvSpPr txBox="1"/>
          <p:nvPr/>
        </p:nvSpPr>
        <p:spPr>
          <a:xfrm>
            <a:off x="7406640" y="347472"/>
            <a:ext cx="4233672" cy="274320"/>
          </a:xfrm>
          <a:prstGeom prst="rect">
            <a:avLst/>
          </a:prstGeom>
          <a:noFill/>
          <a:ln/>
        </p:spPr>
        <p:txBody>
          <a:bodyPr wrap="square" lIns="0" tIns="0" rIns="0" bIns="0" rtlCol="0" anchor="t"/>
          <a:lstStyle/>
          <a:p>
            <a:pPr algn="r" indent="0" marL="0">
              <a:buNone/>
            </a:pPr>
            <a:r>
              <a:rPr lang="en-US" sz="1100" b="1" spc="200" kern="0" dirty="0">
                <a:solidFill>
                  <a:schemeClr val="tx2"/>
                </a:solidFill>
              </a:rPr>
              <a:t>STAGE 4 OF 8 · PREPARE</a:t>
            </a:r>
            <a:endParaRPr lang="en-US" sz="1100" dirty="0"/>
          </a:p>
        </p:txBody>
      </p:sp>
      <p:sp>
        <p:nvSpPr>
          <p:cNvPr id="5" name="Stage dot 1"/>
          <p:cNvSpPr/>
          <p:nvPr/>
        </p:nvSpPr>
        <p:spPr>
          <a:xfrm>
            <a:off x="9555480" y="731520"/>
            <a:ext cx="146304" cy="146304"/>
          </a:xfrm>
          <a:prstGeom prst="ellipse">
            <a:avLst/>
          </a:prstGeom>
          <a:solidFill>
            <a:schemeClr val="accent4"/>
          </a:solidFill>
          <a:ln w="9525">
            <a:solidFill>
              <a:schemeClr val="accent6"/>
            </a:solidFill>
            <a:prstDash val="solid"/>
          </a:ln>
        </p:spPr>
      </p:sp>
      <p:sp>
        <p:nvSpPr>
          <p:cNvPr id="6" name="Stage dot 2"/>
          <p:cNvSpPr/>
          <p:nvPr/>
        </p:nvSpPr>
        <p:spPr>
          <a:xfrm>
            <a:off x="9829800" y="731520"/>
            <a:ext cx="146304" cy="146304"/>
          </a:xfrm>
          <a:prstGeom prst="ellipse">
            <a:avLst/>
          </a:prstGeom>
          <a:solidFill>
            <a:schemeClr val="accent4"/>
          </a:solidFill>
          <a:ln w="9525">
            <a:solidFill>
              <a:schemeClr val="accent6"/>
            </a:solidFill>
            <a:prstDash val="solid"/>
          </a:ln>
        </p:spPr>
      </p:sp>
      <p:sp>
        <p:nvSpPr>
          <p:cNvPr id="7" name="Stage dot 3"/>
          <p:cNvSpPr/>
          <p:nvPr/>
        </p:nvSpPr>
        <p:spPr>
          <a:xfrm>
            <a:off x="10104120" y="731520"/>
            <a:ext cx="146304" cy="146304"/>
          </a:xfrm>
          <a:prstGeom prst="ellipse">
            <a:avLst/>
          </a:prstGeom>
          <a:solidFill>
            <a:schemeClr val="accent4"/>
          </a:solidFill>
          <a:ln w="9525">
            <a:solidFill>
              <a:schemeClr val="accent6"/>
            </a:solidFill>
            <a:prstDash val="solid"/>
          </a:ln>
        </p:spPr>
      </p:sp>
      <p:sp>
        <p:nvSpPr>
          <p:cNvPr id="8" name="Stage dot 4"/>
          <p:cNvSpPr/>
          <p:nvPr/>
        </p:nvSpPr>
        <p:spPr>
          <a:xfrm>
            <a:off x="10360152" y="713232"/>
            <a:ext cx="182880" cy="182880"/>
          </a:xfrm>
          <a:prstGeom prst="ellipse">
            <a:avLst/>
          </a:prstGeom>
          <a:solidFill>
            <a:schemeClr val="accent1"/>
          </a:solidFill>
          <a:ln w="9525">
            <a:solidFill>
              <a:schemeClr val="accent1"/>
            </a:solidFill>
            <a:prstDash val="solid"/>
          </a:ln>
        </p:spPr>
      </p:sp>
      <p:sp>
        <p:nvSpPr>
          <p:cNvPr id="9" name="Stage dot 5"/>
          <p:cNvSpPr/>
          <p:nvPr/>
        </p:nvSpPr>
        <p:spPr>
          <a:xfrm>
            <a:off x="10652760" y="731520"/>
            <a:ext cx="146304" cy="146304"/>
          </a:xfrm>
          <a:prstGeom prst="ellipse">
            <a:avLst/>
          </a:prstGeom>
          <a:solidFill>
            <a:schemeClr val="accent5"/>
          </a:solidFill>
          <a:ln w="9525">
            <a:solidFill>
              <a:schemeClr val="accent6"/>
            </a:solidFill>
            <a:prstDash val="solid"/>
          </a:ln>
        </p:spPr>
      </p:sp>
      <p:sp>
        <p:nvSpPr>
          <p:cNvPr id="10" name="Stage dot 6"/>
          <p:cNvSpPr/>
          <p:nvPr/>
        </p:nvSpPr>
        <p:spPr>
          <a:xfrm>
            <a:off x="10927080" y="731520"/>
            <a:ext cx="146304" cy="146304"/>
          </a:xfrm>
          <a:prstGeom prst="ellipse">
            <a:avLst/>
          </a:prstGeom>
          <a:solidFill>
            <a:schemeClr val="accent5"/>
          </a:solidFill>
          <a:ln w="9525">
            <a:solidFill>
              <a:schemeClr val="accent6"/>
            </a:solidFill>
            <a:prstDash val="solid"/>
          </a:ln>
        </p:spPr>
      </p:sp>
      <p:sp>
        <p:nvSpPr>
          <p:cNvPr id="11" name="Stage dot 7"/>
          <p:cNvSpPr/>
          <p:nvPr/>
        </p:nvSpPr>
        <p:spPr>
          <a:xfrm>
            <a:off x="11201400" y="731520"/>
            <a:ext cx="146304" cy="146304"/>
          </a:xfrm>
          <a:prstGeom prst="ellipse">
            <a:avLst/>
          </a:prstGeom>
          <a:solidFill>
            <a:schemeClr val="accent5"/>
          </a:solidFill>
          <a:ln w="9525">
            <a:solidFill>
              <a:schemeClr val="accent6"/>
            </a:solidFill>
            <a:prstDash val="solid"/>
          </a:ln>
        </p:spPr>
      </p:sp>
      <p:sp>
        <p:nvSpPr>
          <p:cNvPr id="12" name="Stage dot 8"/>
          <p:cNvSpPr/>
          <p:nvPr/>
        </p:nvSpPr>
        <p:spPr>
          <a:xfrm>
            <a:off x="11475720" y="731520"/>
            <a:ext cx="146304" cy="146304"/>
          </a:xfrm>
          <a:prstGeom prst="ellipse">
            <a:avLst/>
          </a:prstGeom>
          <a:solidFill>
            <a:schemeClr val="accent5"/>
          </a:solidFill>
          <a:ln w="9525">
            <a:solidFill>
              <a:schemeClr val="accent6"/>
            </a:solidFill>
            <a:prstDash val="solid"/>
          </a:ln>
        </p:spPr>
      </p:sp>
      <p:sp>
        <p:nvSpPr>
          <p:cNvPr id="13" name="Train segment"/>
          <p:cNvSpPr/>
          <p:nvPr/>
        </p:nvSpPr>
        <p:spPr>
          <a:xfrm>
            <a:off x="548640" y="1600200"/>
            <a:ext cx="9386314" cy="914400"/>
          </a:xfrm>
          <a:prstGeom prst="rect">
            <a:avLst/>
          </a:prstGeom>
          <a:solidFill>
            <a:schemeClr val="accent1"/>
          </a:solidFill>
          <a:ln w="6350">
            <a:solidFill>
              <a:schemeClr val="accent1"/>
            </a:solidFill>
            <a:prstDash val="solid"/>
          </a:ln>
        </p:spPr>
      </p:sp>
      <p:sp>
        <p:nvSpPr>
          <p:cNvPr id="14" name="Test segment"/>
          <p:cNvSpPr/>
          <p:nvPr/>
        </p:nvSpPr>
        <p:spPr>
          <a:xfrm>
            <a:off x="9934954" y="1600200"/>
            <a:ext cx="1705358" cy="914400"/>
          </a:xfrm>
          <a:prstGeom prst="rect">
            <a:avLst/>
          </a:prstGeom>
          <a:solidFill>
            <a:schemeClr val="accent2"/>
          </a:solidFill>
          <a:ln w="6350">
            <a:solidFill>
              <a:schemeClr val="accent2"/>
            </a:solidFill>
            <a:prstDash val="solid"/>
          </a:ln>
        </p:spPr>
      </p:sp>
      <p:sp>
        <p:nvSpPr>
          <p:cNvPr id="15" name="Train label"/>
          <p:cNvSpPr txBox="1"/>
          <p:nvPr/>
        </p:nvSpPr>
        <p:spPr>
          <a:xfrm>
            <a:off x="777240" y="1600200"/>
            <a:ext cx="5486400" cy="914400"/>
          </a:xfrm>
          <a:prstGeom prst="rect">
            <a:avLst/>
          </a:prstGeom>
          <a:noFill/>
          <a:ln/>
        </p:spPr>
        <p:txBody>
          <a:bodyPr wrap="square" lIns="0" tIns="0" rIns="0" bIns="0" rtlCol="0" anchor="ctr"/>
          <a:lstStyle/>
          <a:p>
            <a:pPr indent="0" marL="0">
              <a:buNone/>
            </a:pPr>
            <a:r>
              <a:rPr lang="en-US" sz="2200" b="1" dirty="0">
                <a:solidFill>
                  <a:schemeClr val="bg1"/>
                </a:solidFill>
              </a:rPr>
              <a:t>Train: 11,652 rows</a:t>
            </a:r>
            <a:endParaRPr lang="en-US" sz="2200" dirty="0"/>
          </a:p>
        </p:txBody>
      </p:sp>
      <p:sp>
        <p:nvSpPr>
          <p:cNvPr id="16" name="Test label"/>
          <p:cNvSpPr txBox="1"/>
          <p:nvPr/>
        </p:nvSpPr>
        <p:spPr>
          <a:xfrm>
            <a:off x="9934954" y="1600200"/>
            <a:ext cx="1705358" cy="457200"/>
          </a:xfrm>
          <a:prstGeom prst="rect">
            <a:avLst/>
          </a:prstGeom>
          <a:noFill/>
          <a:ln/>
        </p:spPr>
        <p:txBody>
          <a:bodyPr wrap="square" lIns="0" tIns="0" rIns="0" bIns="0" rtlCol="0" anchor="b"/>
          <a:lstStyle/>
          <a:p>
            <a:pPr algn="ctr" indent="0" marL="0">
              <a:buNone/>
            </a:pPr>
            <a:r>
              <a:rPr lang="en-US" sz="1800" b="1" dirty="0">
                <a:solidFill>
                  <a:schemeClr val="bg1"/>
                </a:solidFill>
              </a:rPr>
              <a:t>Test</a:t>
            </a:r>
            <a:endParaRPr lang="en-US" sz="1800" dirty="0"/>
          </a:p>
        </p:txBody>
      </p:sp>
      <p:sp>
        <p:nvSpPr>
          <p:cNvPr id="17" name="Test count"/>
          <p:cNvSpPr txBox="1"/>
          <p:nvPr/>
        </p:nvSpPr>
        <p:spPr>
          <a:xfrm>
            <a:off x="9934954" y="2011680"/>
            <a:ext cx="1705358" cy="411480"/>
          </a:xfrm>
          <a:prstGeom prst="rect">
            <a:avLst/>
          </a:prstGeom>
          <a:noFill/>
          <a:ln/>
        </p:spPr>
        <p:txBody>
          <a:bodyPr wrap="square" lIns="0" tIns="0" rIns="0" bIns="0" rtlCol="0" anchor="t"/>
          <a:lstStyle/>
          <a:p>
            <a:pPr algn="ctr" indent="0" marL="0">
              <a:buNone/>
            </a:pPr>
            <a:r>
              <a:rPr lang="en-US" sz="1600" b="1" dirty="0">
                <a:solidFill>
                  <a:schemeClr val="bg1"/>
                </a:solidFill>
              </a:rPr>
              <a:t>2,117</a:t>
            </a:r>
            <a:endParaRPr lang="en-US" sz="1600" dirty="0"/>
          </a:p>
        </p:txBody>
      </p:sp>
      <p:sp>
        <p:nvSpPr>
          <p:cNvPr id="18" name="Date start"/>
          <p:cNvSpPr txBox="1"/>
          <p:nvPr/>
        </p:nvSpPr>
        <p:spPr>
          <a:xfrm>
            <a:off x="548640" y="2606040"/>
            <a:ext cx="1828800" cy="274320"/>
          </a:xfrm>
          <a:prstGeom prst="rect">
            <a:avLst/>
          </a:prstGeom>
          <a:noFill/>
          <a:ln/>
        </p:spPr>
        <p:txBody>
          <a:bodyPr wrap="square" lIns="0" tIns="0" rIns="0" bIns="0" rtlCol="0" anchor="t"/>
          <a:lstStyle/>
          <a:p>
            <a:pPr indent="0" marL="0">
              <a:buNone/>
            </a:pPr>
            <a:r>
              <a:rPr lang="en-US" sz="1200" dirty="0">
                <a:solidFill>
                  <a:schemeClr val="tx2"/>
                </a:solidFill>
              </a:rPr>
              <a:t>Apr 2008</a:t>
            </a:r>
            <a:endParaRPr lang="en-US" sz="1200" dirty="0"/>
          </a:p>
        </p:txBody>
      </p:sp>
      <p:sp>
        <p:nvSpPr>
          <p:cNvPr id="19" name="Date split"/>
          <p:cNvSpPr txBox="1"/>
          <p:nvPr/>
        </p:nvSpPr>
        <p:spPr>
          <a:xfrm>
            <a:off x="7648954" y="2606040"/>
            <a:ext cx="2286000" cy="274320"/>
          </a:xfrm>
          <a:prstGeom prst="rect">
            <a:avLst/>
          </a:prstGeom>
          <a:noFill/>
          <a:ln/>
        </p:spPr>
        <p:txBody>
          <a:bodyPr wrap="square" lIns="0" tIns="0" rIns="0" bIns="0" rtlCol="0" anchor="t"/>
          <a:lstStyle/>
          <a:p>
            <a:pPr algn="r" indent="0" marL="0">
              <a:buNone/>
            </a:pPr>
            <a:r>
              <a:rPr lang="en-US" sz="1200" dirty="0">
                <a:solidFill>
                  <a:schemeClr val="tx2"/>
                </a:solidFill>
              </a:rPr>
              <a:t>1 Jan 2022: split date</a:t>
            </a:r>
            <a:endParaRPr lang="en-US" sz="1200" dirty="0"/>
          </a:p>
        </p:txBody>
      </p:sp>
      <p:sp>
        <p:nvSpPr>
          <p:cNvPr id="20" name="Date end"/>
          <p:cNvSpPr txBox="1"/>
          <p:nvPr/>
        </p:nvSpPr>
        <p:spPr>
          <a:xfrm>
            <a:off x="10177272" y="2606040"/>
            <a:ext cx="1463040" cy="274320"/>
          </a:xfrm>
          <a:prstGeom prst="rect">
            <a:avLst/>
          </a:prstGeom>
          <a:noFill/>
          <a:ln/>
        </p:spPr>
        <p:txBody>
          <a:bodyPr wrap="square" lIns="0" tIns="0" rIns="0" bIns="0" rtlCol="0" anchor="t"/>
          <a:lstStyle/>
          <a:p>
            <a:pPr algn="r" indent="0" marL="0">
              <a:buNone/>
            </a:pPr>
            <a:r>
              <a:rPr lang="en-US" sz="1200" dirty="0">
                <a:solidFill>
                  <a:schemeClr val="tx2"/>
                </a:solidFill>
              </a:rPr>
              <a:t>May 2023</a:t>
            </a:r>
            <a:endParaRPr lang="en-US" sz="1200" dirty="0"/>
          </a:p>
        </p:txBody>
      </p:sp>
      <p:sp>
        <p:nvSpPr>
          <p:cNvPr id="21" name="Split card 1"/>
          <p:cNvSpPr/>
          <p:nvPr/>
        </p:nvSpPr>
        <p:spPr>
          <a:xfrm>
            <a:off x="548640" y="3200400"/>
            <a:ext cx="3593592" cy="2743200"/>
          </a:xfrm>
          <a:prstGeom prst="roundRect">
            <a:avLst>
              <a:gd name="adj" fmla="val 3333"/>
            </a:avLst>
          </a:prstGeom>
          <a:solidFill>
            <a:schemeClr val="bg2"/>
          </a:solidFill>
          <a:ln w="9525">
            <a:solidFill>
              <a:schemeClr val="accent5"/>
            </a:solidFill>
            <a:prstDash val="solid"/>
          </a:ln>
        </p:spPr>
      </p:sp>
      <p:sp>
        <p:nvSpPr>
          <p:cNvPr id="22" name="Split icon 1 circle"/>
          <p:cNvSpPr/>
          <p:nvPr/>
        </p:nvSpPr>
        <p:spPr>
          <a:xfrm>
            <a:off x="777240" y="3401568"/>
            <a:ext cx="640080" cy="640080"/>
          </a:xfrm>
          <a:prstGeom prst="ellipse">
            <a:avLst/>
          </a:prstGeom>
          <a:solidFill>
            <a:schemeClr val="accent5"/>
          </a:solidFill>
          <a:ln w="9525">
            <a:solidFill>
              <a:schemeClr val="accent6"/>
            </a:solidFill>
            <a:prstDash val="solid"/>
          </a:ln>
        </p:spPr>
      </p:sp>
      <p:pic>
        <p:nvPicPr>
          <p:cNvPr id="23" name="Split icon 1" descr="Split icon 1">    </p:cNvPr>
          <p:cNvPicPr>
            <a:picLocks noChangeAspect="1"/>
          </p:cNvPicPr>
          <p:nvPr/>
        </p:nvPicPr>
        <p:blipFill>
          <a:blip r:embed="rId1"/>
          <a:stretch>
            <a:fillRect/>
          </a:stretch>
        </p:blipFill>
        <p:spPr>
          <a:xfrm>
            <a:off x="943661" y="3567989"/>
            <a:ext cx="307238" cy="307238"/>
          </a:xfrm>
          <a:prstGeom prst="rect">
            <a:avLst/>
          </a:prstGeom>
        </p:spPr>
      </p:pic>
      <p:sp>
        <p:nvSpPr>
          <p:cNvPr id="24" name="Split head 1"/>
          <p:cNvSpPr txBox="1"/>
          <p:nvPr/>
        </p:nvSpPr>
        <p:spPr>
          <a:xfrm>
            <a:off x="777240" y="4206240"/>
            <a:ext cx="3154680" cy="365760"/>
          </a:xfrm>
          <a:prstGeom prst="rect">
            <a:avLst/>
          </a:prstGeom>
          <a:noFill/>
          <a:ln/>
        </p:spPr>
        <p:txBody>
          <a:bodyPr wrap="square" lIns="0" tIns="0" rIns="0" bIns="0" rtlCol="0" anchor="t"/>
          <a:lstStyle/>
          <a:p>
            <a:pPr indent="0" marL="0">
              <a:buNone/>
            </a:pPr>
            <a:r>
              <a:rPr lang="en-US" sz="1800" b="1" dirty="0">
                <a:solidFill>
                  <a:schemeClr val="tx1"/>
                </a:solidFill>
              </a:rPr>
              <a:t>Why not a random split?</a:t>
            </a:r>
            <a:endParaRPr lang="en-US" sz="1800" dirty="0"/>
          </a:p>
        </p:txBody>
      </p:sp>
      <p:sp>
        <p:nvSpPr>
          <p:cNvPr id="25" name="Split text 1"/>
          <p:cNvSpPr txBox="1"/>
          <p:nvPr/>
        </p:nvSpPr>
        <p:spPr>
          <a:xfrm>
            <a:off x="777240" y="4617720"/>
            <a:ext cx="3154680" cy="1234440"/>
          </a:xfrm>
          <a:prstGeom prst="rect">
            <a:avLst/>
          </a:prstGeom>
          <a:noFill/>
          <a:ln/>
        </p:spPr>
        <p:txBody>
          <a:bodyPr wrap="square" lIns="0" tIns="0" rIns="0" bIns="0" rtlCol="0" anchor="t"/>
          <a:lstStyle/>
          <a:p>
            <a:pPr indent="0" marL="0">
              <a:buNone/>
            </a:pPr>
            <a:r>
              <a:rPr lang="en-US" sz="1400" dirty="0">
                <a:solidFill>
                  <a:schemeClr val="tx2"/>
                </a:solidFill>
              </a:rPr>
              <a:t>Shuffling lets future innings train the model, which inflates scores that would not hold in real use.</a:t>
            </a:r>
            <a:endParaRPr lang="en-US" sz="1400" dirty="0"/>
          </a:p>
        </p:txBody>
      </p:sp>
      <p:sp>
        <p:nvSpPr>
          <p:cNvPr id="26" name="Split card 2"/>
          <p:cNvSpPr/>
          <p:nvPr/>
        </p:nvSpPr>
        <p:spPr>
          <a:xfrm>
            <a:off x="4297680" y="3200400"/>
            <a:ext cx="3593592" cy="2743200"/>
          </a:xfrm>
          <a:prstGeom prst="roundRect">
            <a:avLst>
              <a:gd name="adj" fmla="val 3333"/>
            </a:avLst>
          </a:prstGeom>
          <a:solidFill>
            <a:schemeClr val="bg2"/>
          </a:solidFill>
          <a:ln w="9525">
            <a:solidFill>
              <a:schemeClr val="accent5"/>
            </a:solidFill>
            <a:prstDash val="solid"/>
          </a:ln>
        </p:spPr>
      </p:sp>
      <p:sp>
        <p:nvSpPr>
          <p:cNvPr id="27" name="Split icon 2 circle"/>
          <p:cNvSpPr/>
          <p:nvPr/>
        </p:nvSpPr>
        <p:spPr>
          <a:xfrm>
            <a:off x="4526280" y="3401568"/>
            <a:ext cx="640080" cy="640080"/>
          </a:xfrm>
          <a:prstGeom prst="ellipse">
            <a:avLst/>
          </a:prstGeom>
          <a:solidFill>
            <a:schemeClr val="accent5"/>
          </a:solidFill>
          <a:ln w="9525">
            <a:solidFill>
              <a:schemeClr val="accent6"/>
            </a:solidFill>
            <a:prstDash val="solid"/>
          </a:ln>
        </p:spPr>
      </p:sp>
      <p:pic>
        <p:nvPicPr>
          <p:cNvPr id="28" name="Split icon 2" descr="Split icon 2">    </p:cNvPr>
          <p:cNvPicPr>
            <a:picLocks noChangeAspect="1"/>
          </p:cNvPicPr>
          <p:nvPr/>
        </p:nvPicPr>
        <p:blipFill>
          <a:blip r:embed="rId2"/>
          <a:stretch>
            <a:fillRect/>
          </a:stretch>
        </p:blipFill>
        <p:spPr>
          <a:xfrm>
            <a:off x="4692701" y="3567989"/>
            <a:ext cx="307238" cy="307238"/>
          </a:xfrm>
          <a:prstGeom prst="rect">
            <a:avLst/>
          </a:prstGeom>
        </p:spPr>
      </p:pic>
      <p:sp>
        <p:nvSpPr>
          <p:cNvPr id="29" name="Split head 2"/>
          <p:cNvSpPr txBox="1"/>
          <p:nvPr/>
        </p:nvSpPr>
        <p:spPr>
          <a:xfrm>
            <a:off x="4526280" y="4206240"/>
            <a:ext cx="3154680" cy="365760"/>
          </a:xfrm>
          <a:prstGeom prst="rect">
            <a:avLst/>
          </a:prstGeom>
          <a:noFill/>
          <a:ln/>
        </p:spPr>
        <p:txBody>
          <a:bodyPr wrap="square" lIns="0" tIns="0" rIns="0" bIns="0" rtlCol="0" anchor="t"/>
          <a:lstStyle/>
          <a:p>
            <a:pPr indent="0" marL="0">
              <a:buNone/>
            </a:pPr>
            <a:r>
              <a:rPr lang="en-US" sz="1800" b="1" dirty="0">
                <a:solidFill>
                  <a:schemeClr val="tx1"/>
                </a:solidFill>
              </a:rPr>
              <a:t>What the split guarantees</a:t>
            </a:r>
            <a:endParaRPr lang="en-US" sz="1800" dirty="0"/>
          </a:p>
        </p:txBody>
      </p:sp>
      <p:sp>
        <p:nvSpPr>
          <p:cNvPr id="30" name="Split text 2"/>
          <p:cNvSpPr txBox="1"/>
          <p:nvPr/>
        </p:nvSpPr>
        <p:spPr>
          <a:xfrm>
            <a:off x="4526280" y="4617720"/>
            <a:ext cx="3154680" cy="1234440"/>
          </a:xfrm>
          <a:prstGeom prst="rect">
            <a:avLst/>
          </a:prstGeom>
          <a:noFill/>
          <a:ln/>
        </p:spPr>
        <p:txBody>
          <a:bodyPr wrap="square" lIns="0" tIns="0" rIns="0" bIns="0" rtlCol="0" anchor="t"/>
          <a:lstStyle/>
          <a:p>
            <a:pPr indent="0" marL="0">
              <a:buNone/>
            </a:pPr>
            <a:r>
              <a:rPr lang="en-US" sz="1400" dirty="0">
                <a:solidFill>
                  <a:schemeClr val="tx2"/>
                </a:solidFill>
              </a:rPr>
              <a:t>Every test innings is predicted using only earlier matches, with features built point in time.</a:t>
            </a:r>
            <a:endParaRPr lang="en-US" sz="1400" dirty="0"/>
          </a:p>
        </p:txBody>
      </p:sp>
      <p:sp>
        <p:nvSpPr>
          <p:cNvPr id="31" name="Split card 3"/>
          <p:cNvSpPr/>
          <p:nvPr/>
        </p:nvSpPr>
        <p:spPr>
          <a:xfrm>
            <a:off x="8046720" y="3200400"/>
            <a:ext cx="3593592" cy="2743200"/>
          </a:xfrm>
          <a:prstGeom prst="roundRect">
            <a:avLst>
              <a:gd name="adj" fmla="val 3333"/>
            </a:avLst>
          </a:prstGeom>
          <a:solidFill>
            <a:schemeClr val="bg2"/>
          </a:solidFill>
          <a:ln w="9525">
            <a:solidFill>
              <a:schemeClr val="accent5"/>
            </a:solidFill>
            <a:prstDash val="solid"/>
          </a:ln>
        </p:spPr>
      </p:sp>
      <p:sp>
        <p:nvSpPr>
          <p:cNvPr id="32" name="Split icon 3 circle"/>
          <p:cNvSpPr/>
          <p:nvPr/>
        </p:nvSpPr>
        <p:spPr>
          <a:xfrm>
            <a:off x="8275320" y="3401568"/>
            <a:ext cx="640080" cy="640080"/>
          </a:xfrm>
          <a:prstGeom prst="ellipse">
            <a:avLst/>
          </a:prstGeom>
          <a:solidFill>
            <a:schemeClr val="accent5"/>
          </a:solidFill>
          <a:ln w="9525">
            <a:solidFill>
              <a:schemeClr val="accent6"/>
            </a:solidFill>
            <a:prstDash val="solid"/>
          </a:ln>
        </p:spPr>
      </p:sp>
      <p:pic>
        <p:nvPicPr>
          <p:cNvPr id="33" name="Split icon 3" descr="Split icon 3">    </p:cNvPr>
          <p:cNvPicPr>
            <a:picLocks noChangeAspect="1"/>
          </p:cNvPicPr>
          <p:nvPr/>
        </p:nvPicPr>
        <p:blipFill>
          <a:blip r:embed="rId3"/>
          <a:stretch>
            <a:fillRect/>
          </a:stretch>
        </p:blipFill>
        <p:spPr>
          <a:xfrm>
            <a:off x="8441741" y="3567989"/>
            <a:ext cx="307238" cy="307238"/>
          </a:xfrm>
          <a:prstGeom prst="rect">
            <a:avLst/>
          </a:prstGeom>
        </p:spPr>
      </p:pic>
      <p:sp>
        <p:nvSpPr>
          <p:cNvPr id="34" name="Split head 3"/>
          <p:cNvSpPr txBox="1"/>
          <p:nvPr/>
        </p:nvSpPr>
        <p:spPr>
          <a:xfrm>
            <a:off x="8275320" y="4206240"/>
            <a:ext cx="3154680" cy="365760"/>
          </a:xfrm>
          <a:prstGeom prst="rect">
            <a:avLst/>
          </a:prstGeom>
          <a:noFill/>
          <a:ln/>
        </p:spPr>
        <p:txBody>
          <a:bodyPr wrap="square" lIns="0" tIns="0" rIns="0" bIns="0" rtlCol="0" anchor="t"/>
          <a:lstStyle/>
          <a:p>
            <a:pPr indent="0" marL="0">
              <a:buNone/>
            </a:pPr>
            <a:r>
              <a:rPr lang="en-US" sz="1800" b="1" dirty="0">
                <a:solidFill>
                  <a:schemeClr val="tx1"/>
                </a:solidFill>
              </a:rPr>
              <a:t>Preprocessing in a pipeline</a:t>
            </a:r>
            <a:endParaRPr lang="en-US" sz="1800" dirty="0"/>
          </a:p>
        </p:txBody>
      </p:sp>
      <p:sp>
        <p:nvSpPr>
          <p:cNvPr id="35" name="Split text 3"/>
          <p:cNvSpPr txBox="1"/>
          <p:nvPr/>
        </p:nvSpPr>
        <p:spPr>
          <a:xfrm>
            <a:off x="8275320" y="4617720"/>
            <a:ext cx="3154680" cy="1234440"/>
          </a:xfrm>
          <a:prstGeom prst="rect">
            <a:avLst/>
          </a:prstGeom>
          <a:noFill/>
          <a:ln/>
        </p:spPr>
        <p:txBody>
          <a:bodyPr wrap="square" lIns="0" tIns="0" rIns="0" bIns="0" rtlCol="0" anchor="t"/>
          <a:lstStyle/>
          <a:p>
            <a:pPr indent="0" marL="0">
              <a:buNone/>
            </a:pPr>
            <a:r>
              <a:rPr lang="en-US" sz="1400" dirty="0">
                <a:solidFill>
                  <a:schemeClr val="tx2"/>
                </a:solidFill>
              </a:rPr>
              <a:t>Scaler and one-hot encoder are fitted on training rows only. Unseen venues are ignored.</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Select the models</a:t>
            </a:r>
            <a:endParaRPr lang="en-US" sz="3200" dirty="0"/>
          </a:p>
        </p:txBody>
      </p:sp>
      <p:sp>
        <p:nvSpPr>
          <p:cNvPr id="4" name="Stage label"/>
          <p:cNvSpPr txBox="1"/>
          <p:nvPr/>
        </p:nvSpPr>
        <p:spPr>
          <a:xfrm>
            <a:off x="7406640" y="347472"/>
            <a:ext cx="4233672" cy="274320"/>
          </a:xfrm>
          <a:prstGeom prst="rect">
            <a:avLst/>
          </a:prstGeom>
          <a:noFill/>
          <a:ln/>
        </p:spPr>
        <p:txBody>
          <a:bodyPr wrap="square" lIns="0" tIns="0" rIns="0" bIns="0" rtlCol="0" anchor="t"/>
          <a:lstStyle/>
          <a:p>
            <a:pPr algn="r" indent="0" marL="0">
              <a:buNone/>
            </a:pPr>
            <a:r>
              <a:rPr lang="en-US" sz="1100" b="1" spc="200" kern="0" dirty="0">
                <a:solidFill>
                  <a:schemeClr val="tx2"/>
                </a:solidFill>
              </a:rPr>
              <a:t>STAGE 5 OF 8 · MODEL</a:t>
            </a:r>
            <a:endParaRPr lang="en-US" sz="1100" dirty="0"/>
          </a:p>
        </p:txBody>
      </p:sp>
      <p:sp>
        <p:nvSpPr>
          <p:cNvPr id="5" name="Stage dot 1"/>
          <p:cNvSpPr/>
          <p:nvPr/>
        </p:nvSpPr>
        <p:spPr>
          <a:xfrm>
            <a:off x="9555480" y="731520"/>
            <a:ext cx="146304" cy="146304"/>
          </a:xfrm>
          <a:prstGeom prst="ellipse">
            <a:avLst/>
          </a:prstGeom>
          <a:solidFill>
            <a:schemeClr val="accent4"/>
          </a:solidFill>
          <a:ln w="9525">
            <a:solidFill>
              <a:schemeClr val="accent6"/>
            </a:solidFill>
            <a:prstDash val="solid"/>
          </a:ln>
        </p:spPr>
      </p:sp>
      <p:sp>
        <p:nvSpPr>
          <p:cNvPr id="6" name="Stage dot 2"/>
          <p:cNvSpPr/>
          <p:nvPr/>
        </p:nvSpPr>
        <p:spPr>
          <a:xfrm>
            <a:off x="9829800" y="731520"/>
            <a:ext cx="146304" cy="146304"/>
          </a:xfrm>
          <a:prstGeom prst="ellipse">
            <a:avLst/>
          </a:prstGeom>
          <a:solidFill>
            <a:schemeClr val="accent4"/>
          </a:solidFill>
          <a:ln w="9525">
            <a:solidFill>
              <a:schemeClr val="accent6"/>
            </a:solidFill>
            <a:prstDash val="solid"/>
          </a:ln>
        </p:spPr>
      </p:sp>
      <p:sp>
        <p:nvSpPr>
          <p:cNvPr id="7" name="Stage dot 3"/>
          <p:cNvSpPr/>
          <p:nvPr/>
        </p:nvSpPr>
        <p:spPr>
          <a:xfrm>
            <a:off x="10104120" y="731520"/>
            <a:ext cx="146304" cy="146304"/>
          </a:xfrm>
          <a:prstGeom prst="ellipse">
            <a:avLst/>
          </a:prstGeom>
          <a:solidFill>
            <a:schemeClr val="accent4"/>
          </a:solidFill>
          <a:ln w="9525">
            <a:solidFill>
              <a:schemeClr val="accent6"/>
            </a:solidFill>
            <a:prstDash val="solid"/>
          </a:ln>
        </p:spPr>
      </p:sp>
      <p:sp>
        <p:nvSpPr>
          <p:cNvPr id="8" name="Stage dot 4"/>
          <p:cNvSpPr/>
          <p:nvPr/>
        </p:nvSpPr>
        <p:spPr>
          <a:xfrm>
            <a:off x="10378440" y="731520"/>
            <a:ext cx="146304" cy="146304"/>
          </a:xfrm>
          <a:prstGeom prst="ellipse">
            <a:avLst/>
          </a:prstGeom>
          <a:solidFill>
            <a:schemeClr val="accent4"/>
          </a:solidFill>
          <a:ln w="9525">
            <a:solidFill>
              <a:schemeClr val="accent6"/>
            </a:solidFill>
            <a:prstDash val="solid"/>
          </a:ln>
        </p:spPr>
      </p:sp>
      <p:sp>
        <p:nvSpPr>
          <p:cNvPr id="9" name="Stage dot 5"/>
          <p:cNvSpPr/>
          <p:nvPr/>
        </p:nvSpPr>
        <p:spPr>
          <a:xfrm>
            <a:off x="10634472" y="713232"/>
            <a:ext cx="182880" cy="182880"/>
          </a:xfrm>
          <a:prstGeom prst="ellipse">
            <a:avLst/>
          </a:prstGeom>
          <a:solidFill>
            <a:schemeClr val="accent1"/>
          </a:solidFill>
          <a:ln w="9525">
            <a:solidFill>
              <a:schemeClr val="accent1"/>
            </a:solidFill>
            <a:prstDash val="solid"/>
          </a:ln>
        </p:spPr>
      </p:sp>
      <p:sp>
        <p:nvSpPr>
          <p:cNvPr id="10" name="Stage dot 6"/>
          <p:cNvSpPr/>
          <p:nvPr/>
        </p:nvSpPr>
        <p:spPr>
          <a:xfrm>
            <a:off x="10927080" y="731520"/>
            <a:ext cx="146304" cy="146304"/>
          </a:xfrm>
          <a:prstGeom prst="ellipse">
            <a:avLst/>
          </a:prstGeom>
          <a:solidFill>
            <a:schemeClr val="accent5"/>
          </a:solidFill>
          <a:ln w="9525">
            <a:solidFill>
              <a:schemeClr val="accent6"/>
            </a:solidFill>
            <a:prstDash val="solid"/>
          </a:ln>
        </p:spPr>
      </p:sp>
      <p:sp>
        <p:nvSpPr>
          <p:cNvPr id="11" name="Stage dot 7"/>
          <p:cNvSpPr/>
          <p:nvPr/>
        </p:nvSpPr>
        <p:spPr>
          <a:xfrm>
            <a:off x="11201400" y="731520"/>
            <a:ext cx="146304" cy="146304"/>
          </a:xfrm>
          <a:prstGeom prst="ellipse">
            <a:avLst/>
          </a:prstGeom>
          <a:solidFill>
            <a:schemeClr val="accent5"/>
          </a:solidFill>
          <a:ln w="9525">
            <a:solidFill>
              <a:schemeClr val="accent6"/>
            </a:solidFill>
            <a:prstDash val="solid"/>
          </a:ln>
        </p:spPr>
      </p:sp>
      <p:sp>
        <p:nvSpPr>
          <p:cNvPr id="12" name="Stage dot 8"/>
          <p:cNvSpPr/>
          <p:nvPr/>
        </p:nvSpPr>
        <p:spPr>
          <a:xfrm>
            <a:off x="11475720" y="731520"/>
            <a:ext cx="146304" cy="146304"/>
          </a:xfrm>
          <a:prstGeom prst="ellipse">
            <a:avLst/>
          </a:prstGeom>
          <a:solidFill>
            <a:schemeClr val="accent5"/>
          </a:solidFill>
          <a:ln w="9525">
            <a:solidFill>
              <a:schemeClr val="accent6"/>
            </a:solidFill>
            <a:prstDash val="solid"/>
          </a:ln>
        </p:spPr>
      </p:sp>
      <p:sp>
        <p:nvSpPr>
          <p:cNvPr id="13" name="Model card 1"/>
          <p:cNvSpPr/>
          <p:nvPr/>
        </p:nvSpPr>
        <p:spPr>
          <a:xfrm>
            <a:off x="548640" y="1463040"/>
            <a:ext cx="3593592" cy="3154680"/>
          </a:xfrm>
          <a:prstGeom prst="roundRect">
            <a:avLst>
              <a:gd name="adj" fmla="val 2899"/>
            </a:avLst>
          </a:prstGeom>
          <a:solidFill>
            <a:schemeClr val="bg2"/>
          </a:solidFill>
          <a:ln w="9525">
            <a:solidFill>
              <a:schemeClr val="accent5"/>
            </a:solidFill>
            <a:prstDash val="solid"/>
          </a:ln>
        </p:spPr>
      </p:sp>
      <p:sp>
        <p:nvSpPr>
          <p:cNvPr id="14" name="Model dot 1"/>
          <p:cNvSpPr/>
          <p:nvPr/>
        </p:nvSpPr>
        <p:spPr>
          <a:xfrm>
            <a:off x="777240" y="1691640"/>
            <a:ext cx="274320" cy="274320"/>
          </a:xfrm>
          <a:prstGeom prst="ellipse">
            <a:avLst/>
          </a:prstGeom>
          <a:solidFill>
            <a:schemeClr val="accent4"/>
          </a:solidFill>
          <a:ln w="6350">
            <a:solidFill>
              <a:schemeClr val="accent4"/>
            </a:solidFill>
            <a:prstDash val="solid"/>
          </a:ln>
        </p:spPr>
      </p:sp>
      <p:sp>
        <p:nvSpPr>
          <p:cNvPr id="15" name="Model name 1"/>
          <p:cNvSpPr txBox="1"/>
          <p:nvPr/>
        </p:nvSpPr>
        <p:spPr>
          <a:xfrm>
            <a:off x="1188720" y="1645920"/>
            <a:ext cx="2743200" cy="365760"/>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Baseline</a:t>
            </a:r>
            <a:endParaRPr lang="en-US" sz="2200" dirty="0"/>
          </a:p>
        </p:txBody>
      </p:sp>
      <p:sp>
        <p:nvSpPr>
          <p:cNvPr id="16" name="Model tag 1"/>
          <p:cNvSpPr txBox="1"/>
          <p:nvPr/>
        </p:nvSpPr>
        <p:spPr>
          <a:xfrm>
            <a:off x="777240" y="2194560"/>
            <a:ext cx="3154680" cy="320040"/>
          </a:xfrm>
          <a:prstGeom prst="rect">
            <a:avLst/>
          </a:prstGeom>
          <a:noFill/>
          <a:ln/>
        </p:spPr>
        <p:txBody>
          <a:bodyPr wrap="square" lIns="0" tIns="0" rIns="0" bIns="0" rtlCol="0" anchor="t"/>
          <a:lstStyle/>
          <a:p>
            <a:pPr indent="0" marL="0">
              <a:buNone/>
            </a:pPr>
            <a:r>
              <a:rPr lang="en-US" sz="1600" b="1" dirty="0">
                <a:solidFill>
                  <a:schemeClr val="tx2"/>
                </a:solidFill>
              </a:rPr>
              <a:t>Predict the mean</a:t>
            </a:r>
            <a:endParaRPr lang="en-US" sz="1600" dirty="0"/>
          </a:p>
        </p:txBody>
      </p:sp>
      <p:sp>
        <p:nvSpPr>
          <p:cNvPr id="17" name="Model formula box 1"/>
          <p:cNvSpPr/>
          <p:nvPr/>
        </p:nvSpPr>
        <p:spPr>
          <a:xfrm>
            <a:off x="777240" y="2651760"/>
            <a:ext cx="3136392" cy="548640"/>
          </a:xfrm>
          <a:prstGeom prst="roundRect">
            <a:avLst>
              <a:gd name="adj" fmla="val 13333"/>
            </a:avLst>
          </a:prstGeom>
          <a:solidFill>
            <a:schemeClr val="accent5"/>
          </a:solidFill>
          <a:ln w="6350">
            <a:solidFill>
              <a:schemeClr val="accent6"/>
            </a:solidFill>
            <a:prstDash val="solid"/>
          </a:ln>
        </p:spPr>
      </p:sp>
      <p:sp>
        <p:nvSpPr>
          <p:cNvPr id="18" name="Model formula 1"/>
          <p:cNvSpPr txBox="1"/>
          <p:nvPr/>
        </p:nvSpPr>
        <p:spPr>
          <a:xfrm>
            <a:off x="777240" y="2651760"/>
            <a:ext cx="3136392" cy="548640"/>
          </a:xfrm>
          <a:prstGeom prst="rect">
            <a:avLst/>
          </a:prstGeom>
          <a:noFill/>
          <a:ln/>
        </p:spPr>
        <p:txBody>
          <a:bodyPr wrap="square" lIns="0" tIns="0" rIns="0" bIns="0" rtlCol="0" anchor="ctr"/>
          <a:lstStyle/>
          <a:p>
            <a:pPr algn="ctr" indent="0" marL="0">
              <a:buNone/>
            </a:pPr>
            <a:r>
              <a:rPr lang="en-US" sz="1500" i="1" dirty="0">
                <a:solidFill>
                  <a:schemeClr val="tx1"/>
                </a:solidFill>
                <a:latin typeface="+mj-lt" pitchFamily="34" charset="0"/>
                <a:ea typeface="+mj-lt" pitchFamily="34" charset="-122"/>
                <a:cs typeface="+mj-lt" pitchFamily="34" charset="-120"/>
              </a:rPr>
              <a:t>ŷ = mean of training scores</a:t>
            </a:r>
            <a:endParaRPr lang="en-US" sz="1500" dirty="0"/>
          </a:p>
        </p:txBody>
      </p:sp>
      <p:sp>
        <p:nvSpPr>
          <p:cNvPr id="19" name="Model text 1"/>
          <p:cNvSpPr txBox="1"/>
          <p:nvPr/>
        </p:nvSpPr>
        <p:spPr>
          <a:xfrm>
            <a:off x="777240" y="3383280"/>
            <a:ext cx="3154680" cy="1143000"/>
          </a:xfrm>
          <a:prstGeom prst="rect">
            <a:avLst/>
          </a:prstGeom>
          <a:noFill/>
          <a:ln/>
        </p:spPr>
        <p:txBody>
          <a:bodyPr wrap="square" lIns="0" tIns="0" rIns="0" bIns="0" rtlCol="0" anchor="t"/>
          <a:lstStyle/>
          <a:p>
            <a:pPr indent="0" marL="0">
              <a:buNone/>
            </a:pPr>
            <a:r>
              <a:rPr lang="en-US" sz="1400" dirty="0">
                <a:solidFill>
                  <a:schemeClr val="tx2"/>
                </a:solidFill>
              </a:rPr>
              <a:t>The bar every model has to clear.</a:t>
            </a:r>
            <a:endParaRPr lang="en-US" sz="1400" dirty="0"/>
          </a:p>
        </p:txBody>
      </p:sp>
      <p:sp>
        <p:nvSpPr>
          <p:cNvPr id="20" name="Model card 2"/>
          <p:cNvSpPr/>
          <p:nvPr/>
        </p:nvSpPr>
        <p:spPr>
          <a:xfrm>
            <a:off x="4297680" y="1463040"/>
            <a:ext cx="3593592" cy="3154680"/>
          </a:xfrm>
          <a:prstGeom prst="roundRect">
            <a:avLst>
              <a:gd name="adj" fmla="val 2899"/>
            </a:avLst>
          </a:prstGeom>
          <a:solidFill>
            <a:schemeClr val="bg2"/>
          </a:solidFill>
          <a:ln w="9525">
            <a:solidFill>
              <a:schemeClr val="accent5"/>
            </a:solidFill>
            <a:prstDash val="solid"/>
          </a:ln>
        </p:spPr>
      </p:sp>
      <p:sp>
        <p:nvSpPr>
          <p:cNvPr id="21" name="Model dot 2"/>
          <p:cNvSpPr/>
          <p:nvPr/>
        </p:nvSpPr>
        <p:spPr>
          <a:xfrm>
            <a:off x="4526280" y="1691640"/>
            <a:ext cx="274320" cy="274320"/>
          </a:xfrm>
          <a:prstGeom prst="ellipse">
            <a:avLst/>
          </a:prstGeom>
          <a:solidFill>
            <a:schemeClr val="accent1"/>
          </a:solidFill>
          <a:ln w="6350">
            <a:solidFill>
              <a:schemeClr val="accent1"/>
            </a:solidFill>
            <a:prstDash val="solid"/>
          </a:ln>
        </p:spPr>
      </p:sp>
      <p:sp>
        <p:nvSpPr>
          <p:cNvPr id="22" name="Model name 2"/>
          <p:cNvSpPr txBox="1"/>
          <p:nvPr/>
        </p:nvSpPr>
        <p:spPr>
          <a:xfrm>
            <a:off x="4937760" y="1645920"/>
            <a:ext cx="2743200" cy="365760"/>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Ridge (L2)</a:t>
            </a:r>
            <a:endParaRPr lang="en-US" sz="2200" dirty="0"/>
          </a:p>
        </p:txBody>
      </p:sp>
      <p:sp>
        <p:nvSpPr>
          <p:cNvPr id="23" name="Model tag 2"/>
          <p:cNvSpPr txBox="1"/>
          <p:nvPr/>
        </p:nvSpPr>
        <p:spPr>
          <a:xfrm>
            <a:off x="4526280" y="2194560"/>
            <a:ext cx="3154680" cy="320040"/>
          </a:xfrm>
          <a:prstGeom prst="rect">
            <a:avLst/>
          </a:prstGeom>
          <a:noFill/>
          <a:ln/>
        </p:spPr>
        <p:txBody>
          <a:bodyPr wrap="square" lIns="0" tIns="0" rIns="0" bIns="0" rtlCol="0" anchor="t"/>
          <a:lstStyle/>
          <a:p>
            <a:pPr indent="0" marL="0">
              <a:buNone/>
            </a:pPr>
            <a:r>
              <a:rPr lang="en-US" sz="1600" b="1" dirty="0">
                <a:solidFill>
                  <a:schemeClr val="accent1"/>
                </a:solidFill>
              </a:rPr>
              <a:t>Shrink everything</a:t>
            </a:r>
            <a:endParaRPr lang="en-US" sz="1600" dirty="0"/>
          </a:p>
        </p:txBody>
      </p:sp>
      <p:sp>
        <p:nvSpPr>
          <p:cNvPr id="24" name="Model formula box 2"/>
          <p:cNvSpPr/>
          <p:nvPr/>
        </p:nvSpPr>
        <p:spPr>
          <a:xfrm>
            <a:off x="4526280" y="2651760"/>
            <a:ext cx="3136392" cy="548640"/>
          </a:xfrm>
          <a:prstGeom prst="roundRect">
            <a:avLst>
              <a:gd name="adj" fmla="val 13333"/>
            </a:avLst>
          </a:prstGeom>
          <a:solidFill>
            <a:schemeClr val="accent5"/>
          </a:solidFill>
          <a:ln w="6350">
            <a:solidFill>
              <a:schemeClr val="accent6"/>
            </a:solidFill>
            <a:prstDash val="solid"/>
          </a:ln>
        </p:spPr>
      </p:sp>
      <p:sp>
        <p:nvSpPr>
          <p:cNvPr id="25" name="Model formula 2"/>
          <p:cNvSpPr txBox="1"/>
          <p:nvPr/>
        </p:nvSpPr>
        <p:spPr>
          <a:xfrm>
            <a:off x="4526280" y="2651760"/>
            <a:ext cx="3136392" cy="548640"/>
          </a:xfrm>
          <a:prstGeom prst="rect">
            <a:avLst/>
          </a:prstGeom>
          <a:noFill/>
          <a:ln/>
        </p:spPr>
        <p:txBody>
          <a:bodyPr wrap="square" lIns="0" tIns="0" rIns="0" bIns="0" rtlCol="0" anchor="ctr"/>
          <a:lstStyle/>
          <a:p>
            <a:pPr algn="ctr" indent="0" marL="0">
              <a:buNone/>
            </a:pPr>
            <a:r>
              <a:rPr lang="en-US" sz="1500" i="1" dirty="0">
                <a:solidFill>
                  <a:schemeClr val="tx1"/>
                </a:solidFill>
                <a:latin typeface="+mj-lt" pitchFamily="34" charset="0"/>
                <a:ea typeface="+mj-lt" pitchFamily="34" charset="-122"/>
                <a:cs typeface="+mj-lt" pitchFamily="34" charset="-120"/>
              </a:rPr>
              <a:t>min Σ(y − ŷ)² + α Σ w²</a:t>
            </a:r>
            <a:endParaRPr lang="en-US" sz="1500" dirty="0"/>
          </a:p>
        </p:txBody>
      </p:sp>
      <p:sp>
        <p:nvSpPr>
          <p:cNvPr id="26" name="Model text 2"/>
          <p:cNvSpPr txBox="1"/>
          <p:nvPr/>
        </p:nvSpPr>
        <p:spPr>
          <a:xfrm>
            <a:off x="4526280" y="3383280"/>
            <a:ext cx="3154680" cy="1143000"/>
          </a:xfrm>
          <a:prstGeom prst="rect">
            <a:avLst/>
          </a:prstGeom>
          <a:noFill/>
          <a:ln/>
        </p:spPr>
        <p:txBody>
          <a:bodyPr wrap="square" lIns="0" tIns="0" rIns="0" bIns="0" rtlCol="0" anchor="t"/>
          <a:lstStyle/>
          <a:p>
            <a:pPr indent="0" marL="0">
              <a:buNone/>
            </a:pPr>
            <a:r>
              <a:rPr lang="en-US" sz="1400" dirty="0">
                <a:solidFill>
                  <a:schemeClr val="tx2"/>
                </a:solidFill>
              </a:rPr>
              <a:t>Correlated features share the weight. All 101 inputs stay in.</a:t>
            </a:r>
            <a:endParaRPr lang="en-US" sz="1400" dirty="0"/>
          </a:p>
        </p:txBody>
      </p:sp>
      <p:sp>
        <p:nvSpPr>
          <p:cNvPr id="27" name="Model card 3"/>
          <p:cNvSpPr/>
          <p:nvPr/>
        </p:nvSpPr>
        <p:spPr>
          <a:xfrm>
            <a:off x="8046720" y="1463040"/>
            <a:ext cx="3593592" cy="3154680"/>
          </a:xfrm>
          <a:prstGeom prst="roundRect">
            <a:avLst>
              <a:gd name="adj" fmla="val 2899"/>
            </a:avLst>
          </a:prstGeom>
          <a:solidFill>
            <a:schemeClr val="bg2"/>
          </a:solidFill>
          <a:ln w="9525">
            <a:solidFill>
              <a:schemeClr val="accent5"/>
            </a:solidFill>
            <a:prstDash val="solid"/>
          </a:ln>
        </p:spPr>
      </p:sp>
      <p:sp>
        <p:nvSpPr>
          <p:cNvPr id="28" name="Model dot 3"/>
          <p:cNvSpPr/>
          <p:nvPr/>
        </p:nvSpPr>
        <p:spPr>
          <a:xfrm>
            <a:off x="8275320" y="1691640"/>
            <a:ext cx="274320" cy="274320"/>
          </a:xfrm>
          <a:prstGeom prst="ellipse">
            <a:avLst/>
          </a:prstGeom>
          <a:solidFill>
            <a:schemeClr val="accent2"/>
          </a:solidFill>
          <a:ln w="6350">
            <a:solidFill>
              <a:schemeClr val="accent2"/>
            </a:solidFill>
            <a:prstDash val="solid"/>
          </a:ln>
        </p:spPr>
      </p:sp>
      <p:sp>
        <p:nvSpPr>
          <p:cNvPr id="29" name="Model name 3"/>
          <p:cNvSpPr txBox="1"/>
          <p:nvPr/>
        </p:nvSpPr>
        <p:spPr>
          <a:xfrm>
            <a:off x="8686800" y="1645920"/>
            <a:ext cx="2743200" cy="365760"/>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Lasso (L1)</a:t>
            </a:r>
            <a:endParaRPr lang="en-US" sz="2200" dirty="0"/>
          </a:p>
        </p:txBody>
      </p:sp>
      <p:sp>
        <p:nvSpPr>
          <p:cNvPr id="30" name="Model tag 3"/>
          <p:cNvSpPr txBox="1"/>
          <p:nvPr/>
        </p:nvSpPr>
        <p:spPr>
          <a:xfrm>
            <a:off x="8275320" y="2194560"/>
            <a:ext cx="3154680" cy="320040"/>
          </a:xfrm>
          <a:prstGeom prst="rect">
            <a:avLst/>
          </a:prstGeom>
          <a:noFill/>
          <a:ln/>
        </p:spPr>
        <p:txBody>
          <a:bodyPr wrap="square" lIns="0" tIns="0" rIns="0" bIns="0" rtlCol="0" anchor="t"/>
          <a:lstStyle/>
          <a:p>
            <a:pPr indent="0" marL="0">
              <a:buNone/>
            </a:pPr>
            <a:r>
              <a:rPr lang="en-US" sz="1600" b="1" dirty="0">
                <a:solidFill>
                  <a:schemeClr val="accent2"/>
                </a:solidFill>
              </a:rPr>
              <a:t>Shrink and select</a:t>
            </a:r>
            <a:endParaRPr lang="en-US" sz="1600" dirty="0"/>
          </a:p>
        </p:txBody>
      </p:sp>
      <p:sp>
        <p:nvSpPr>
          <p:cNvPr id="31" name="Model formula box 3"/>
          <p:cNvSpPr/>
          <p:nvPr/>
        </p:nvSpPr>
        <p:spPr>
          <a:xfrm>
            <a:off x="8275320" y="2651760"/>
            <a:ext cx="3136392" cy="548640"/>
          </a:xfrm>
          <a:prstGeom prst="roundRect">
            <a:avLst>
              <a:gd name="adj" fmla="val 13333"/>
            </a:avLst>
          </a:prstGeom>
          <a:solidFill>
            <a:schemeClr val="accent5"/>
          </a:solidFill>
          <a:ln w="6350">
            <a:solidFill>
              <a:schemeClr val="accent6"/>
            </a:solidFill>
            <a:prstDash val="solid"/>
          </a:ln>
        </p:spPr>
      </p:sp>
      <p:sp>
        <p:nvSpPr>
          <p:cNvPr id="32" name="Model formula 3"/>
          <p:cNvSpPr txBox="1"/>
          <p:nvPr/>
        </p:nvSpPr>
        <p:spPr>
          <a:xfrm>
            <a:off x="8275320" y="2651760"/>
            <a:ext cx="3136392" cy="548640"/>
          </a:xfrm>
          <a:prstGeom prst="rect">
            <a:avLst/>
          </a:prstGeom>
          <a:noFill/>
          <a:ln/>
        </p:spPr>
        <p:txBody>
          <a:bodyPr wrap="square" lIns="0" tIns="0" rIns="0" bIns="0" rtlCol="0" anchor="ctr"/>
          <a:lstStyle/>
          <a:p>
            <a:pPr algn="ctr" indent="0" marL="0">
              <a:buNone/>
            </a:pPr>
            <a:r>
              <a:rPr lang="en-US" sz="1500" i="1" dirty="0">
                <a:solidFill>
                  <a:schemeClr val="tx1"/>
                </a:solidFill>
                <a:latin typeface="+mj-lt" pitchFamily="34" charset="0"/>
                <a:ea typeface="+mj-lt" pitchFamily="34" charset="-122"/>
                <a:cs typeface="+mj-lt" pitchFamily="34" charset="-120"/>
              </a:rPr>
              <a:t>min Σ(y − ŷ)² + α Σ |w|</a:t>
            </a:r>
            <a:endParaRPr lang="en-US" sz="1500" dirty="0"/>
          </a:p>
        </p:txBody>
      </p:sp>
      <p:sp>
        <p:nvSpPr>
          <p:cNvPr id="33" name="Model text 3"/>
          <p:cNvSpPr txBox="1"/>
          <p:nvPr/>
        </p:nvSpPr>
        <p:spPr>
          <a:xfrm>
            <a:off x="8275320" y="3383280"/>
            <a:ext cx="3154680" cy="1143000"/>
          </a:xfrm>
          <a:prstGeom prst="rect">
            <a:avLst/>
          </a:prstGeom>
          <a:noFill/>
          <a:ln/>
        </p:spPr>
        <p:txBody>
          <a:bodyPr wrap="square" lIns="0" tIns="0" rIns="0" bIns="0" rtlCol="0" anchor="t"/>
          <a:lstStyle/>
          <a:p>
            <a:pPr indent="0" marL="0">
              <a:buNone/>
            </a:pPr>
            <a:r>
              <a:rPr lang="en-US" sz="1400" dirty="0">
                <a:solidFill>
                  <a:schemeClr val="tx2"/>
                </a:solidFill>
              </a:rPr>
              <a:t>Weak coefficients drop to exactly zero: built-in feature selection.</a:t>
            </a:r>
            <a:endParaRPr lang="en-US" sz="1400" dirty="0"/>
          </a:p>
        </p:txBody>
      </p:sp>
      <p:sp>
        <p:nvSpPr>
          <p:cNvPr id="34" name="Why linear card"/>
          <p:cNvSpPr/>
          <p:nvPr/>
        </p:nvSpPr>
        <p:spPr>
          <a:xfrm>
            <a:off x="548640" y="4846320"/>
            <a:ext cx="11091672" cy="1097280"/>
          </a:xfrm>
          <a:prstGeom prst="roundRect">
            <a:avLst>
              <a:gd name="adj" fmla="val 8333"/>
            </a:avLst>
          </a:prstGeom>
          <a:solidFill>
            <a:schemeClr val="bg2"/>
          </a:solidFill>
          <a:ln w="9525">
            <a:solidFill>
              <a:schemeClr val="accent5"/>
            </a:solidFill>
            <a:prstDash val="solid"/>
          </a:ln>
        </p:spPr>
      </p:sp>
      <p:sp>
        <p:nvSpPr>
          <p:cNvPr id="35" name="Why linear head"/>
          <p:cNvSpPr txBox="1"/>
          <p:nvPr/>
        </p:nvSpPr>
        <p:spPr>
          <a:xfrm>
            <a:off x="777240" y="4956048"/>
            <a:ext cx="3657600" cy="365760"/>
          </a:xfrm>
          <a:prstGeom prst="rect">
            <a:avLst/>
          </a:prstGeom>
          <a:noFill/>
          <a:ln/>
        </p:spPr>
        <p:txBody>
          <a:bodyPr wrap="square" lIns="0" tIns="0" rIns="0" bIns="0" rtlCol="0" anchor="ctr"/>
          <a:lstStyle/>
          <a:p>
            <a:pPr indent="0" marL="0">
              <a:buNone/>
            </a:pPr>
            <a:r>
              <a:rPr lang="en-US" sz="1800" b="1" dirty="0">
                <a:solidFill>
                  <a:schemeClr val="tx1"/>
                </a:solidFill>
              </a:rPr>
              <a:t>Why regularised linear models?</a:t>
            </a:r>
            <a:endParaRPr lang="en-US" sz="1800" dirty="0"/>
          </a:p>
        </p:txBody>
      </p:sp>
      <p:pic>
        <p:nvPicPr>
          <p:cNvPr id="36" name="Why check 1" descr="Check mark">    </p:cNvPr>
          <p:cNvPicPr>
            <a:picLocks noChangeAspect="1"/>
          </p:cNvPicPr>
          <p:nvPr/>
        </p:nvPicPr>
        <p:blipFill>
          <a:blip r:embed="rId1"/>
          <a:stretch>
            <a:fillRect/>
          </a:stretch>
        </p:blipFill>
        <p:spPr>
          <a:xfrm>
            <a:off x="777240" y="5504688"/>
            <a:ext cx="237744" cy="237744"/>
          </a:xfrm>
          <a:prstGeom prst="rect">
            <a:avLst/>
          </a:prstGeom>
        </p:spPr>
      </p:pic>
      <p:sp>
        <p:nvSpPr>
          <p:cNvPr id="37" name="Why point 1"/>
          <p:cNvSpPr txBox="1"/>
          <p:nvPr/>
        </p:nvSpPr>
        <p:spPr>
          <a:xfrm>
            <a:off x="1124712" y="5468112"/>
            <a:ext cx="3017520" cy="310896"/>
          </a:xfrm>
          <a:prstGeom prst="rect">
            <a:avLst/>
          </a:prstGeom>
          <a:noFill/>
          <a:ln/>
        </p:spPr>
        <p:txBody>
          <a:bodyPr wrap="square" lIns="0" tIns="0" rIns="0" bIns="0" rtlCol="0" anchor="ctr"/>
          <a:lstStyle/>
          <a:p>
            <a:pPr indent="0" marL="0">
              <a:buNone/>
            </a:pPr>
            <a:r>
              <a:rPr lang="en-US" sz="1400" dirty="0">
                <a:solidFill>
                  <a:schemeClr val="tx2"/>
                </a:solidFill>
              </a:rPr>
              <a:t>101 inputs, many correlated</a:t>
            </a:r>
            <a:endParaRPr lang="en-US" sz="1400" dirty="0"/>
          </a:p>
        </p:txBody>
      </p:sp>
      <p:pic>
        <p:nvPicPr>
          <p:cNvPr id="38" name="Why check 2" descr="Check mark">    </p:cNvPr>
          <p:cNvPicPr>
            <a:picLocks noChangeAspect="1"/>
          </p:cNvPicPr>
          <p:nvPr/>
        </p:nvPicPr>
        <p:blipFill>
          <a:blip r:embed="rId2"/>
          <a:stretch>
            <a:fillRect/>
          </a:stretch>
        </p:blipFill>
        <p:spPr>
          <a:xfrm>
            <a:off x="4389120" y="5504688"/>
            <a:ext cx="237744" cy="237744"/>
          </a:xfrm>
          <a:prstGeom prst="rect">
            <a:avLst/>
          </a:prstGeom>
        </p:spPr>
      </p:pic>
      <p:sp>
        <p:nvSpPr>
          <p:cNvPr id="39" name="Why point 2"/>
          <p:cNvSpPr txBox="1"/>
          <p:nvPr/>
        </p:nvSpPr>
        <p:spPr>
          <a:xfrm>
            <a:off x="4736592" y="5468112"/>
            <a:ext cx="3017520" cy="310896"/>
          </a:xfrm>
          <a:prstGeom prst="rect">
            <a:avLst/>
          </a:prstGeom>
          <a:noFill/>
          <a:ln/>
        </p:spPr>
        <p:txBody>
          <a:bodyPr wrap="square" lIns="0" tIns="0" rIns="0" bIns="0" rtlCol="0" anchor="ctr"/>
          <a:lstStyle/>
          <a:p>
            <a:pPr indent="0" marL="0">
              <a:buNone/>
            </a:pPr>
            <a:r>
              <a:rPr lang="en-US" sz="1400" dirty="0">
                <a:solidFill>
                  <a:schemeClr val="tx2"/>
                </a:solidFill>
              </a:rPr>
              <a:t>Coefficients you can read</a:t>
            </a:r>
            <a:endParaRPr lang="en-US" sz="1400" dirty="0"/>
          </a:p>
        </p:txBody>
      </p:sp>
      <p:pic>
        <p:nvPicPr>
          <p:cNvPr id="40" name="Why check 3" descr="Check mark">    </p:cNvPr>
          <p:cNvPicPr>
            <a:picLocks noChangeAspect="1"/>
          </p:cNvPicPr>
          <p:nvPr/>
        </p:nvPicPr>
        <p:blipFill>
          <a:blip r:embed="rId3"/>
          <a:stretch>
            <a:fillRect/>
          </a:stretch>
        </p:blipFill>
        <p:spPr>
          <a:xfrm>
            <a:off x="8001000" y="5504688"/>
            <a:ext cx="237744" cy="237744"/>
          </a:xfrm>
          <a:prstGeom prst="rect">
            <a:avLst/>
          </a:prstGeom>
        </p:spPr>
      </p:pic>
      <p:sp>
        <p:nvSpPr>
          <p:cNvPr id="41" name="Why point 3"/>
          <p:cNvSpPr txBox="1"/>
          <p:nvPr/>
        </p:nvSpPr>
        <p:spPr>
          <a:xfrm>
            <a:off x="8348472" y="5468112"/>
            <a:ext cx="3017520" cy="310896"/>
          </a:xfrm>
          <a:prstGeom prst="rect">
            <a:avLst/>
          </a:prstGeom>
          <a:noFill/>
          <a:ln/>
        </p:spPr>
        <p:txBody>
          <a:bodyPr wrap="square" lIns="0" tIns="0" rIns="0" bIns="0" rtlCol="0" anchor="ctr"/>
          <a:lstStyle/>
          <a:p>
            <a:pPr indent="0" marL="0">
              <a:buNone/>
            </a:pPr>
            <a:r>
              <a:rPr lang="en-US" sz="1400" dirty="0">
                <a:solidFill>
                  <a:schemeClr val="tx2"/>
                </a:solidFill>
              </a:rPr>
              <a:t>Fast to retrain each season</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Train and tune</a:t>
            </a:r>
            <a:endParaRPr lang="en-US" sz="3200" dirty="0"/>
          </a:p>
        </p:txBody>
      </p:sp>
      <p:sp>
        <p:nvSpPr>
          <p:cNvPr id="4" name="Stage label"/>
          <p:cNvSpPr txBox="1"/>
          <p:nvPr/>
        </p:nvSpPr>
        <p:spPr>
          <a:xfrm>
            <a:off x="7406640" y="347472"/>
            <a:ext cx="4233672" cy="274320"/>
          </a:xfrm>
          <a:prstGeom prst="rect">
            <a:avLst/>
          </a:prstGeom>
          <a:noFill/>
          <a:ln/>
        </p:spPr>
        <p:txBody>
          <a:bodyPr wrap="square" lIns="0" tIns="0" rIns="0" bIns="0" rtlCol="0" anchor="t"/>
          <a:lstStyle/>
          <a:p>
            <a:pPr algn="r" indent="0" marL="0">
              <a:buNone/>
            </a:pPr>
            <a:r>
              <a:rPr lang="en-US" sz="1100" b="1" spc="200" kern="0" dirty="0">
                <a:solidFill>
                  <a:schemeClr val="tx2"/>
                </a:solidFill>
              </a:rPr>
              <a:t>STAGE 5 OF 8 · MODEL</a:t>
            </a:r>
            <a:endParaRPr lang="en-US" sz="1100" dirty="0"/>
          </a:p>
        </p:txBody>
      </p:sp>
      <p:sp>
        <p:nvSpPr>
          <p:cNvPr id="5" name="Stage dot 1"/>
          <p:cNvSpPr/>
          <p:nvPr/>
        </p:nvSpPr>
        <p:spPr>
          <a:xfrm>
            <a:off x="9555480" y="731520"/>
            <a:ext cx="146304" cy="146304"/>
          </a:xfrm>
          <a:prstGeom prst="ellipse">
            <a:avLst/>
          </a:prstGeom>
          <a:solidFill>
            <a:schemeClr val="accent4"/>
          </a:solidFill>
          <a:ln w="9525">
            <a:solidFill>
              <a:schemeClr val="accent6"/>
            </a:solidFill>
            <a:prstDash val="solid"/>
          </a:ln>
        </p:spPr>
      </p:sp>
      <p:sp>
        <p:nvSpPr>
          <p:cNvPr id="6" name="Stage dot 2"/>
          <p:cNvSpPr/>
          <p:nvPr/>
        </p:nvSpPr>
        <p:spPr>
          <a:xfrm>
            <a:off x="9829800" y="731520"/>
            <a:ext cx="146304" cy="146304"/>
          </a:xfrm>
          <a:prstGeom prst="ellipse">
            <a:avLst/>
          </a:prstGeom>
          <a:solidFill>
            <a:schemeClr val="accent4"/>
          </a:solidFill>
          <a:ln w="9525">
            <a:solidFill>
              <a:schemeClr val="accent6"/>
            </a:solidFill>
            <a:prstDash val="solid"/>
          </a:ln>
        </p:spPr>
      </p:sp>
      <p:sp>
        <p:nvSpPr>
          <p:cNvPr id="7" name="Stage dot 3"/>
          <p:cNvSpPr/>
          <p:nvPr/>
        </p:nvSpPr>
        <p:spPr>
          <a:xfrm>
            <a:off x="10104120" y="731520"/>
            <a:ext cx="146304" cy="146304"/>
          </a:xfrm>
          <a:prstGeom prst="ellipse">
            <a:avLst/>
          </a:prstGeom>
          <a:solidFill>
            <a:schemeClr val="accent4"/>
          </a:solidFill>
          <a:ln w="9525">
            <a:solidFill>
              <a:schemeClr val="accent6"/>
            </a:solidFill>
            <a:prstDash val="solid"/>
          </a:ln>
        </p:spPr>
      </p:sp>
      <p:sp>
        <p:nvSpPr>
          <p:cNvPr id="8" name="Stage dot 4"/>
          <p:cNvSpPr/>
          <p:nvPr/>
        </p:nvSpPr>
        <p:spPr>
          <a:xfrm>
            <a:off x="10378440" y="731520"/>
            <a:ext cx="146304" cy="146304"/>
          </a:xfrm>
          <a:prstGeom prst="ellipse">
            <a:avLst/>
          </a:prstGeom>
          <a:solidFill>
            <a:schemeClr val="accent4"/>
          </a:solidFill>
          <a:ln w="9525">
            <a:solidFill>
              <a:schemeClr val="accent6"/>
            </a:solidFill>
            <a:prstDash val="solid"/>
          </a:ln>
        </p:spPr>
      </p:sp>
      <p:sp>
        <p:nvSpPr>
          <p:cNvPr id="9" name="Stage dot 5"/>
          <p:cNvSpPr/>
          <p:nvPr/>
        </p:nvSpPr>
        <p:spPr>
          <a:xfrm>
            <a:off x="10634472" y="713232"/>
            <a:ext cx="182880" cy="182880"/>
          </a:xfrm>
          <a:prstGeom prst="ellipse">
            <a:avLst/>
          </a:prstGeom>
          <a:solidFill>
            <a:schemeClr val="accent1"/>
          </a:solidFill>
          <a:ln w="9525">
            <a:solidFill>
              <a:schemeClr val="accent1"/>
            </a:solidFill>
            <a:prstDash val="solid"/>
          </a:ln>
        </p:spPr>
      </p:sp>
      <p:sp>
        <p:nvSpPr>
          <p:cNvPr id="10" name="Stage dot 6"/>
          <p:cNvSpPr/>
          <p:nvPr/>
        </p:nvSpPr>
        <p:spPr>
          <a:xfrm>
            <a:off x="10927080" y="731520"/>
            <a:ext cx="146304" cy="146304"/>
          </a:xfrm>
          <a:prstGeom prst="ellipse">
            <a:avLst/>
          </a:prstGeom>
          <a:solidFill>
            <a:schemeClr val="accent5"/>
          </a:solidFill>
          <a:ln w="9525">
            <a:solidFill>
              <a:schemeClr val="accent6"/>
            </a:solidFill>
            <a:prstDash val="solid"/>
          </a:ln>
        </p:spPr>
      </p:sp>
      <p:sp>
        <p:nvSpPr>
          <p:cNvPr id="11" name="Stage dot 7"/>
          <p:cNvSpPr/>
          <p:nvPr/>
        </p:nvSpPr>
        <p:spPr>
          <a:xfrm>
            <a:off x="11201400" y="731520"/>
            <a:ext cx="146304" cy="146304"/>
          </a:xfrm>
          <a:prstGeom prst="ellipse">
            <a:avLst/>
          </a:prstGeom>
          <a:solidFill>
            <a:schemeClr val="accent5"/>
          </a:solidFill>
          <a:ln w="9525">
            <a:solidFill>
              <a:schemeClr val="accent6"/>
            </a:solidFill>
            <a:prstDash val="solid"/>
          </a:ln>
        </p:spPr>
      </p:sp>
      <p:sp>
        <p:nvSpPr>
          <p:cNvPr id="12" name="Stage dot 8"/>
          <p:cNvSpPr/>
          <p:nvPr/>
        </p:nvSpPr>
        <p:spPr>
          <a:xfrm>
            <a:off x="11475720" y="731520"/>
            <a:ext cx="146304" cy="146304"/>
          </a:xfrm>
          <a:prstGeom prst="ellipse">
            <a:avLst/>
          </a:prstGeom>
          <a:solidFill>
            <a:schemeClr val="accent5"/>
          </a:solidFill>
          <a:ln w="9525">
            <a:solidFill>
              <a:schemeClr val="accent6"/>
            </a:solidFill>
            <a:prstDash val="solid"/>
          </a:ln>
        </p:spPr>
      </p:sp>
      <p:sp>
        <p:nvSpPr>
          <p:cNvPr id="13" name="Train step 1"/>
          <p:cNvSpPr/>
          <p:nvPr/>
        </p:nvSpPr>
        <p:spPr>
          <a:xfrm>
            <a:off x="548640" y="1463040"/>
            <a:ext cx="5577840" cy="1005840"/>
          </a:xfrm>
          <a:prstGeom prst="roundRect">
            <a:avLst>
              <a:gd name="adj" fmla="val 9091"/>
            </a:avLst>
          </a:prstGeom>
          <a:solidFill>
            <a:schemeClr val="bg2"/>
          </a:solidFill>
          <a:ln w="9525">
            <a:solidFill>
              <a:schemeClr val="accent5"/>
            </a:solidFill>
            <a:prstDash val="solid"/>
          </a:ln>
        </p:spPr>
      </p:sp>
      <p:sp>
        <p:nvSpPr>
          <p:cNvPr id="14" name="Train step number 1"/>
          <p:cNvSpPr/>
          <p:nvPr/>
        </p:nvSpPr>
        <p:spPr>
          <a:xfrm>
            <a:off x="749808" y="1728216"/>
            <a:ext cx="475488" cy="475488"/>
          </a:xfrm>
          <a:prstGeom prst="ellipse">
            <a:avLst/>
          </a:prstGeom>
          <a:solidFill>
            <a:schemeClr val="accent1"/>
          </a:solidFill>
          <a:ln w="6350">
            <a:solidFill>
              <a:schemeClr val="accent1"/>
            </a:solidFill>
            <a:prstDash val="solid"/>
          </a:ln>
        </p:spPr>
      </p:sp>
      <p:sp>
        <p:nvSpPr>
          <p:cNvPr id="15" name="Train step digit 1"/>
          <p:cNvSpPr txBox="1"/>
          <p:nvPr/>
        </p:nvSpPr>
        <p:spPr>
          <a:xfrm>
            <a:off x="749808" y="1728216"/>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6" name="Train step head 1"/>
          <p:cNvSpPr txBox="1"/>
          <p:nvPr/>
        </p:nvSpPr>
        <p:spPr>
          <a:xfrm>
            <a:off x="1463040" y="1591056"/>
            <a:ext cx="1097280" cy="731520"/>
          </a:xfrm>
          <a:prstGeom prst="rect">
            <a:avLst/>
          </a:prstGeom>
          <a:noFill/>
          <a:ln/>
        </p:spPr>
        <p:txBody>
          <a:bodyPr wrap="square" lIns="0" tIns="0" rIns="0" bIns="0" rtlCol="0" anchor="ctr"/>
          <a:lstStyle/>
          <a:p>
            <a:pPr indent="0" marL="0">
              <a:buNone/>
            </a:pPr>
            <a:r>
              <a:rPr lang="en-US" sz="1800" b="1" dirty="0">
                <a:solidFill>
                  <a:schemeClr val="tx1"/>
                </a:solidFill>
              </a:rPr>
              <a:t>Scale</a:t>
            </a:r>
            <a:endParaRPr lang="en-US" sz="1800" dirty="0"/>
          </a:p>
        </p:txBody>
      </p:sp>
      <p:sp>
        <p:nvSpPr>
          <p:cNvPr id="17" name="Train step text 1"/>
          <p:cNvSpPr txBox="1"/>
          <p:nvPr/>
        </p:nvSpPr>
        <p:spPr>
          <a:xfrm>
            <a:off x="2560320" y="1554480"/>
            <a:ext cx="3429000" cy="822960"/>
          </a:xfrm>
          <a:prstGeom prst="rect">
            <a:avLst/>
          </a:prstGeom>
          <a:noFill/>
          <a:ln/>
        </p:spPr>
        <p:txBody>
          <a:bodyPr wrap="square" lIns="0" tIns="0" rIns="0" bIns="0" rtlCol="0" anchor="ctr"/>
          <a:lstStyle/>
          <a:p>
            <a:pPr indent="0" marL="0">
              <a:buNone/>
            </a:pPr>
            <a:r>
              <a:rPr lang="en-US" sz="1400" dirty="0">
                <a:solidFill>
                  <a:schemeClr val="tx2"/>
                </a:solidFill>
              </a:rPr>
              <a:t>Standardise the 17 numeric features</a:t>
            </a:r>
            <a:endParaRPr lang="en-US" sz="1400" dirty="0"/>
          </a:p>
        </p:txBody>
      </p:sp>
      <p:sp>
        <p:nvSpPr>
          <p:cNvPr id="18" name="Train step 2"/>
          <p:cNvSpPr/>
          <p:nvPr/>
        </p:nvSpPr>
        <p:spPr>
          <a:xfrm>
            <a:off x="548640" y="2578608"/>
            <a:ext cx="5577840" cy="1005840"/>
          </a:xfrm>
          <a:prstGeom prst="roundRect">
            <a:avLst>
              <a:gd name="adj" fmla="val 9091"/>
            </a:avLst>
          </a:prstGeom>
          <a:solidFill>
            <a:schemeClr val="bg2"/>
          </a:solidFill>
          <a:ln w="9525">
            <a:solidFill>
              <a:schemeClr val="accent5"/>
            </a:solidFill>
            <a:prstDash val="solid"/>
          </a:ln>
        </p:spPr>
      </p:sp>
      <p:sp>
        <p:nvSpPr>
          <p:cNvPr id="19" name="Train step number 2"/>
          <p:cNvSpPr/>
          <p:nvPr/>
        </p:nvSpPr>
        <p:spPr>
          <a:xfrm>
            <a:off x="749808" y="2843784"/>
            <a:ext cx="475488" cy="475488"/>
          </a:xfrm>
          <a:prstGeom prst="ellipse">
            <a:avLst/>
          </a:prstGeom>
          <a:solidFill>
            <a:schemeClr val="accent1"/>
          </a:solidFill>
          <a:ln w="6350">
            <a:solidFill>
              <a:schemeClr val="accent1"/>
            </a:solidFill>
            <a:prstDash val="solid"/>
          </a:ln>
        </p:spPr>
      </p:sp>
      <p:sp>
        <p:nvSpPr>
          <p:cNvPr id="20" name="Train step digit 2"/>
          <p:cNvSpPr txBox="1"/>
          <p:nvPr/>
        </p:nvSpPr>
        <p:spPr>
          <a:xfrm>
            <a:off x="749808" y="2843784"/>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1" name="Train step head 2"/>
          <p:cNvSpPr txBox="1"/>
          <p:nvPr/>
        </p:nvSpPr>
        <p:spPr>
          <a:xfrm>
            <a:off x="1463040" y="2706624"/>
            <a:ext cx="1097280" cy="731520"/>
          </a:xfrm>
          <a:prstGeom prst="rect">
            <a:avLst/>
          </a:prstGeom>
          <a:noFill/>
          <a:ln/>
        </p:spPr>
        <p:txBody>
          <a:bodyPr wrap="square" lIns="0" tIns="0" rIns="0" bIns="0" rtlCol="0" anchor="ctr"/>
          <a:lstStyle/>
          <a:p>
            <a:pPr indent="0" marL="0">
              <a:buNone/>
            </a:pPr>
            <a:r>
              <a:rPr lang="en-US" sz="1800" b="1" dirty="0">
                <a:solidFill>
                  <a:schemeClr val="tx1"/>
                </a:solidFill>
              </a:rPr>
              <a:t>Encode</a:t>
            </a:r>
            <a:endParaRPr lang="en-US" sz="1800" dirty="0"/>
          </a:p>
        </p:txBody>
      </p:sp>
      <p:sp>
        <p:nvSpPr>
          <p:cNvPr id="22" name="Train step text 2"/>
          <p:cNvSpPr txBox="1"/>
          <p:nvPr/>
        </p:nvSpPr>
        <p:spPr>
          <a:xfrm>
            <a:off x="2560320" y="2670048"/>
            <a:ext cx="3429000" cy="822960"/>
          </a:xfrm>
          <a:prstGeom prst="rect">
            <a:avLst/>
          </a:prstGeom>
          <a:noFill/>
          <a:ln/>
        </p:spPr>
        <p:txBody>
          <a:bodyPr wrap="square" lIns="0" tIns="0" rIns="0" bIns="0" rtlCol="0" anchor="ctr"/>
          <a:lstStyle/>
          <a:p>
            <a:pPr indent="0" marL="0">
              <a:buNone/>
            </a:pPr>
            <a:r>
              <a:rPr lang="en-US" sz="1400" dirty="0">
                <a:solidFill>
                  <a:schemeClr val="tx2"/>
                </a:solidFill>
              </a:rPr>
              <a:t>One-hot encode innings, venue and both teams</a:t>
            </a:r>
            <a:endParaRPr lang="en-US" sz="1400" dirty="0"/>
          </a:p>
        </p:txBody>
      </p:sp>
      <p:sp>
        <p:nvSpPr>
          <p:cNvPr id="23" name="Train step 3"/>
          <p:cNvSpPr/>
          <p:nvPr/>
        </p:nvSpPr>
        <p:spPr>
          <a:xfrm>
            <a:off x="548640" y="3694176"/>
            <a:ext cx="5577840" cy="1005840"/>
          </a:xfrm>
          <a:prstGeom prst="roundRect">
            <a:avLst>
              <a:gd name="adj" fmla="val 9091"/>
            </a:avLst>
          </a:prstGeom>
          <a:solidFill>
            <a:schemeClr val="bg2"/>
          </a:solidFill>
          <a:ln w="9525">
            <a:solidFill>
              <a:schemeClr val="accent5"/>
            </a:solidFill>
            <a:prstDash val="solid"/>
          </a:ln>
        </p:spPr>
      </p:sp>
      <p:sp>
        <p:nvSpPr>
          <p:cNvPr id="24" name="Train step number 3"/>
          <p:cNvSpPr/>
          <p:nvPr/>
        </p:nvSpPr>
        <p:spPr>
          <a:xfrm>
            <a:off x="749808" y="3959352"/>
            <a:ext cx="475488" cy="475488"/>
          </a:xfrm>
          <a:prstGeom prst="ellipse">
            <a:avLst/>
          </a:prstGeom>
          <a:solidFill>
            <a:schemeClr val="accent1"/>
          </a:solidFill>
          <a:ln w="6350">
            <a:solidFill>
              <a:schemeClr val="accent1"/>
            </a:solidFill>
            <a:prstDash val="solid"/>
          </a:ln>
        </p:spPr>
      </p:sp>
      <p:sp>
        <p:nvSpPr>
          <p:cNvPr id="25" name="Train step digit 3"/>
          <p:cNvSpPr txBox="1"/>
          <p:nvPr/>
        </p:nvSpPr>
        <p:spPr>
          <a:xfrm>
            <a:off x="749808" y="3959352"/>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6" name="Train step head 3"/>
          <p:cNvSpPr txBox="1"/>
          <p:nvPr/>
        </p:nvSpPr>
        <p:spPr>
          <a:xfrm>
            <a:off x="1463040" y="3822192"/>
            <a:ext cx="1097280" cy="731520"/>
          </a:xfrm>
          <a:prstGeom prst="rect">
            <a:avLst/>
          </a:prstGeom>
          <a:noFill/>
          <a:ln/>
        </p:spPr>
        <p:txBody>
          <a:bodyPr wrap="square" lIns="0" tIns="0" rIns="0" bIns="0" rtlCol="0" anchor="ctr"/>
          <a:lstStyle/>
          <a:p>
            <a:pPr indent="0" marL="0">
              <a:buNone/>
            </a:pPr>
            <a:r>
              <a:rPr lang="en-US" sz="1800" b="1" dirty="0">
                <a:solidFill>
                  <a:schemeClr val="tx1"/>
                </a:solidFill>
              </a:rPr>
              <a:t>Search</a:t>
            </a:r>
            <a:endParaRPr lang="en-US" sz="1800" dirty="0"/>
          </a:p>
        </p:txBody>
      </p:sp>
      <p:sp>
        <p:nvSpPr>
          <p:cNvPr id="27" name="Train step text 3"/>
          <p:cNvSpPr txBox="1"/>
          <p:nvPr/>
        </p:nvSpPr>
        <p:spPr>
          <a:xfrm>
            <a:off x="2560320" y="3785616"/>
            <a:ext cx="3429000" cy="822960"/>
          </a:xfrm>
          <a:prstGeom prst="rect">
            <a:avLst/>
          </a:prstGeom>
          <a:noFill/>
          <a:ln/>
        </p:spPr>
        <p:txBody>
          <a:bodyPr wrap="square" lIns="0" tIns="0" rIns="0" bIns="0" rtlCol="0" anchor="ctr"/>
          <a:lstStyle/>
          <a:p>
            <a:pPr indent="0" marL="0">
              <a:buNone/>
            </a:pPr>
            <a:r>
              <a:rPr lang="en-US" sz="1400" dirty="0">
                <a:solidFill>
                  <a:schemeClr val="tx2"/>
                </a:solidFill>
              </a:rPr>
              <a:t>Cross-validate 25 values of α from 0.01 to 10,000 (log scale)</a:t>
            </a:r>
            <a:endParaRPr lang="en-US" sz="1400" dirty="0"/>
          </a:p>
        </p:txBody>
      </p:sp>
      <p:sp>
        <p:nvSpPr>
          <p:cNvPr id="28" name="Train step 4"/>
          <p:cNvSpPr/>
          <p:nvPr/>
        </p:nvSpPr>
        <p:spPr>
          <a:xfrm>
            <a:off x="548640" y="4809744"/>
            <a:ext cx="5577840" cy="1005840"/>
          </a:xfrm>
          <a:prstGeom prst="roundRect">
            <a:avLst>
              <a:gd name="adj" fmla="val 9091"/>
            </a:avLst>
          </a:prstGeom>
          <a:solidFill>
            <a:schemeClr val="bg2"/>
          </a:solidFill>
          <a:ln w="9525">
            <a:solidFill>
              <a:schemeClr val="accent5"/>
            </a:solidFill>
            <a:prstDash val="solid"/>
          </a:ln>
        </p:spPr>
      </p:sp>
      <p:sp>
        <p:nvSpPr>
          <p:cNvPr id="29" name="Train step number 4"/>
          <p:cNvSpPr/>
          <p:nvPr/>
        </p:nvSpPr>
        <p:spPr>
          <a:xfrm>
            <a:off x="749808" y="5074920"/>
            <a:ext cx="475488" cy="475488"/>
          </a:xfrm>
          <a:prstGeom prst="ellipse">
            <a:avLst/>
          </a:prstGeom>
          <a:solidFill>
            <a:schemeClr val="accent1"/>
          </a:solidFill>
          <a:ln w="6350">
            <a:solidFill>
              <a:schemeClr val="accent1"/>
            </a:solidFill>
            <a:prstDash val="solid"/>
          </a:ln>
        </p:spPr>
      </p:sp>
      <p:sp>
        <p:nvSpPr>
          <p:cNvPr id="30" name="Train step digit 4"/>
          <p:cNvSpPr txBox="1"/>
          <p:nvPr/>
        </p:nvSpPr>
        <p:spPr>
          <a:xfrm>
            <a:off x="749808" y="5074920"/>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1" name="Train step head 4"/>
          <p:cNvSpPr txBox="1"/>
          <p:nvPr/>
        </p:nvSpPr>
        <p:spPr>
          <a:xfrm>
            <a:off x="1463040" y="4937760"/>
            <a:ext cx="1097280" cy="731520"/>
          </a:xfrm>
          <a:prstGeom prst="rect">
            <a:avLst/>
          </a:prstGeom>
          <a:noFill/>
          <a:ln/>
        </p:spPr>
        <p:txBody>
          <a:bodyPr wrap="square" lIns="0" tIns="0" rIns="0" bIns="0" rtlCol="0" anchor="ctr"/>
          <a:lstStyle/>
          <a:p>
            <a:pPr indent="0" marL="0">
              <a:buNone/>
            </a:pPr>
            <a:r>
              <a:rPr lang="en-US" sz="1800" b="1" dirty="0">
                <a:solidFill>
                  <a:schemeClr val="tx1"/>
                </a:solidFill>
              </a:rPr>
              <a:t>Refit</a:t>
            </a:r>
            <a:endParaRPr lang="en-US" sz="1800" dirty="0"/>
          </a:p>
        </p:txBody>
      </p:sp>
      <p:sp>
        <p:nvSpPr>
          <p:cNvPr id="32" name="Train step text 4"/>
          <p:cNvSpPr txBox="1"/>
          <p:nvPr/>
        </p:nvSpPr>
        <p:spPr>
          <a:xfrm>
            <a:off x="2560320" y="4901184"/>
            <a:ext cx="3429000" cy="822960"/>
          </a:xfrm>
          <a:prstGeom prst="rect">
            <a:avLst/>
          </a:prstGeom>
          <a:noFill/>
          <a:ln/>
        </p:spPr>
        <p:txBody>
          <a:bodyPr wrap="square" lIns="0" tIns="0" rIns="0" bIns="0" rtlCol="0" anchor="ctr"/>
          <a:lstStyle/>
          <a:p>
            <a:pPr indent="0" marL="0">
              <a:buNone/>
            </a:pPr>
            <a:r>
              <a:rPr lang="en-US" sz="1400" dirty="0">
                <a:solidFill>
                  <a:schemeClr val="tx2"/>
                </a:solidFill>
              </a:rPr>
              <a:t>Refit on all training rows with the best α</a:t>
            </a:r>
            <a:endParaRPr lang="en-US" sz="1400" dirty="0"/>
          </a:p>
        </p:txBody>
      </p:sp>
      <p:sp>
        <p:nvSpPr>
          <p:cNvPr id="33" name="CV chart card"/>
          <p:cNvSpPr/>
          <p:nvPr/>
        </p:nvSpPr>
        <p:spPr>
          <a:xfrm>
            <a:off x="6400800" y="1463040"/>
            <a:ext cx="5239512" cy="3246120"/>
          </a:xfrm>
          <a:prstGeom prst="roundRect">
            <a:avLst>
              <a:gd name="adj" fmla="val 2817"/>
            </a:avLst>
          </a:prstGeom>
          <a:solidFill>
            <a:schemeClr val="bg2"/>
          </a:solidFill>
          <a:ln w="9525">
            <a:solidFill>
              <a:schemeClr val="accent5"/>
            </a:solidFill>
            <a:prstDash val="solid"/>
          </a:ln>
        </p:spPr>
      </p:sp>
      <p:pic>
        <p:nvPicPr>
          <p:cNvPr id="34" name="Lasso CV curve" descr="Lasso cross-validated error against regularisation strength, with the selected alpha marked">    </p:cNvPr>
          <p:cNvPicPr>
            <a:picLocks noChangeAspect="1"/>
          </p:cNvPicPr>
          <p:nvPr/>
        </p:nvPicPr>
        <p:blipFill>
          <a:blip r:embed="rId1"/>
          <a:stretch>
            <a:fillRect/>
          </a:stretch>
        </p:blipFill>
        <p:spPr>
          <a:xfrm>
            <a:off x="6537960" y="1600200"/>
            <a:ext cx="4965192" cy="2655984"/>
          </a:xfrm>
          <a:prstGeom prst="rect">
            <a:avLst/>
          </a:prstGeom>
        </p:spPr>
      </p:pic>
      <p:sp>
        <p:nvSpPr>
          <p:cNvPr id="35" name="CV caption"/>
          <p:cNvSpPr txBox="1"/>
          <p:nvPr/>
        </p:nvSpPr>
        <p:spPr>
          <a:xfrm>
            <a:off x="6583680" y="4347624"/>
            <a:ext cx="4846320" cy="457200"/>
          </a:xfrm>
          <a:prstGeom prst="rect">
            <a:avLst/>
          </a:prstGeom>
          <a:noFill/>
          <a:ln/>
        </p:spPr>
        <p:txBody>
          <a:bodyPr wrap="square" lIns="0" tIns="0" rIns="0" bIns="0" rtlCol="0" anchor="t"/>
          <a:lstStyle/>
          <a:p>
            <a:pPr indent="0" marL="0">
              <a:buNone/>
            </a:pPr>
            <a:r>
              <a:rPr lang="en-US" sz="1200" dirty="0">
                <a:solidFill>
                  <a:schemeClr val="tx2"/>
                </a:solidFill>
              </a:rPr>
              <a:t>Lasso cross-validated error against α. The dashed line is the selected value.</a:t>
            </a:r>
            <a:endParaRPr lang="en-US" sz="1200" dirty="0"/>
          </a:p>
        </p:txBody>
      </p:sp>
      <p:sp>
        <p:nvSpPr>
          <p:cNvPr id="36" name="Ridge alpha card"/>
          <p:cNvSpPr/>
          <p:nvPr/>
        </p:nvSpPr>
        <p:spPr>
          <a:xfrm>
            <a:off x="6400800" y="4892040"/>
            <a:ext cx="2542032" cy="1051560"/>
          </a:xfrm>
          <a:prstGeom prst="roundRect">
            <a:avLst>
              <a:gd name="adj" fmla="val 8696"/>
            </a:avLst>
          </a:prstGeom>
          <a:solidFill>
            <a:schemeClr val="bg2"/>
          </a:solidFill>
          <a:ln w="9525">
            <a:solidFill>
              <a:schemeClr val="accent5"/>
            </a:solidFill>
            <a:prstDash val="solid"/>
          </a:ln>
        </p:spPr>
      </p:sp>
      <p:sp>
        <p:nvSpPr>
          <p:cNvPr id="37" name="Ridge alpha value"/>
          <p:cNvSpPr txBox="1"/>
          <p:nvPr/>
        </p:nvSpPr>
        <p:spPr>
          <a:xfrm>
            <a:off x="6583680" y="4956048"/>
            <a:ext cx="2194560" cy="54864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56.2</a:t>
            </a:r>
            <a:endParaRPr lang="en-US" sz="3000" dirty="0"/>
          </a:p>
        </p:txBody>
      </p:sp>
      <p:sp>
        <p:nvSpPr>
          <p:cNvPr id="38" name="Ridge alpha label"/>
          <p:cNvSpPr txBox="1"/>
          <p:nvPr/>
        </p:nvSpPr>
        <p:spPr>
          <a:xfrm>
            <a:off x="6583680" y="5532120"/>
            <a:ext cx="2194560" cy="274320"/>
          </a:xfrm>
          <a:prstGeom prst="rect">
            <a:avLst/>
          </a:prstGeom>
          <a:noFill/>
          <a:ln/>
        </p:spPr>
        <p:txBody>
          <a:bodyPr wrap="square" lIns="0" tIns="0" rIns="0" bIns="0" rtlCol="0" anchor="t"/>
          <a:lstStyle/>
          <a:p>
            <a:pPr indent="0" marL="0">
              <a:buNone/>
            </a:pPr>
            <a:r>
              <a:rPr lang="en-US" sz="1200" dirty="0">
                <a:solidFill>
                  <a:schemeClr val="tx2"/>
                </a:solidFill>
              </a:rPr>
              <a:t>Ridge α</a:t>
            </a:r>
            <a:endParaRPr lang="en-US" sz="1200" dirty="0"/>
          </a:p>
        </p:txBody>
      </p:sp>
      <p:sp>
        <p:nvSpPr>
          <p:cNvPr id="39" name="Lasso alpha card"/>
          <p:cNvSpPr/>
          <p:nvPr/>
        </p:nvSpPr>
        <p:spPr>
          <a:xfrm>
            <a:off x="9098280" y="4892040"/>
            <a:ext cx="2542032" cy="1051560"/>
          </a:xfrm>
          <a:prstGeom prst="roundRect">
            <a:avLst>
              <a:gd name="adj" fmla="val 8696"/>
            </a:avLst>
          </a:prstGeom>
          <a:solidFill>
            <a:schemeClr val="bg2"/>
          </a:solidFill>
          <a:ln w="9525">
            <a:solidFill>
              <a:schemeClr val="accent5"/>
            </a:solidFill>
            <a:prstDash val="solid"/>
          </a:ln>
        </p:spPr>
      </p:sp>
      <p:sp>
        <p:nvSpPr>
          <p:cNvPr id="40" name="Lasso alpha value"/>
          <p:cNvSpPr txBox="1"/>
          <p:nvPr/>
        </p:nvSpPr>
        <p:spPr>
          <a:xfrm>
            <a:off x="9281160" y="4956048"/>
            <a:ext cx="2194560" cy="548640"/>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0.0316</a:t>
            </a:r>
            <a:endParaRPr lang="en-US" sz="3000" dirty="0"/>
          </a:p>
        </p:txBody>
      </p:sp>
      <p:sp>
        <p:nvSpPr>
          <p:cNvPr id="41" name="Lasso alpha label"/>
          <p:cNvSpPr txBox="1"/>
          <p:nvPr/>
        </p:nvSpPr>
        <p:spPr>
          <a:xfrm>
            <a:off x="9281160" y="5532120"/>
            <a:ext cx="2286000" cy="274320"/>
          </a:xfrm>
          <a:prstGeom prst="rect">
            <a:avLst/>
          </a:prstGeom>
          <a:noFill/>
          <a:ln/>
        </p:spPr>
        <p:txBody>
          <a:bodyPr wrap="square" lIns="0" tIns="0" rIns="0" bIns="0" rtlCol="0" anchor="t"/>
          <a:lstStyle/>
          <a:p>
            <a:pPr indent="0" marL="0">
              <a:buNone/>
            </a:pPr>
            <a:r>
              <a:rPr lang="en-US" sz="1200" dirty="0">
                <a:solidFill>
                  <a:schemeClr val="tx2"/>
                </a:solidFill>
              </a:rPr>
              <a:t>Lasso α, keeps 34 of 101 inputs</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Evaluate on unseen matches</a:t>
            </a:r>
            <a:endParaRPr lang="en-US" sz="3200" dirty="0"/>
          </a:p>
        </p:txBody>
      </p:sp>
      <p:sp>
        <p:nvSpPr>
          <p:cNvPr id="4" name="Stage label"/>
          <p:cNvSpPr txBox="1"/>
          <p:nvPr/>
        </p:nvSpPr>
        <p:spPr>
          <a:xfrm>
            <a:off x="7406640" y="347472"/>
            <a:ext cx="4233672" cy="274320"/>
          </a:xfrm>
          <a:prstGeom prst="rect">
            <a:avLst/>
          </a:prstGeom>
          <a:noFill/>
          <a:ln/>
        </p:spPr>
        <p:txBody>
          <a:bodyPr wrap="square" lIns="0" tIns="0" rIns="0" bIns="0" rtlCol="0" anchor="t"/>
          <a:lstStyle/>
          <a:p>
            <a:pPr algn="r" indent="0" marL="0">
              <a:buNone/>
            </a:pPr>
            <a:r>
              <a:rPr lang="en-US" sz="1100" b="1" spc="200" kern="0" dirty="0">
                <a:solidFill>
                  <a:schemeClr val="tx2"/>
                </a:solidFill>
              </a:rPr>
              <a:t>STAGE 6 OF 8 · EVALUATE</a:t>
            </a:r>
            <a:endParaRPr lang="en-US" sz="1100" dirty="0"/>
          </a:p>
        </p:txBody>
      </p:sp>
      <p:sp>
        <p:nvSpPr>
          <p:cNvPr id="5" name="Stage dot 1"/>
          <p:cNvSpPr/>
          <p:nvPr/>
        </p:nvSpPr>
        <p:spPr>
          <a:xfrm>
            <a:off x="9555480" y="731520"/>
            <a:ext cx="146304" cy="146304"/>
          </a:xfrm>
          <a:prstGeom prst="ellipse">
            <a:avLst/>
          </a:prstGeom>
          <a:solidFill>
            <a:schemeClr val="accent4"/>
          </a:solidFill>
          <a:ln w="9525">
            <a:solidFill>
              <a:schemeClr val="accent6"/>
            </a:solidFill>
            <a:prstDash val="solid"/>
          </a:ln>
        </p:spPr>
      </p:sp>
      <p:sp>
        <p:nvSpPr>
          <p:cNvPr id="6" name="Stage dot 2"/>
          <p:cNvSpPr/>
          <p:nvPr/>
        </p:nvSpPr>
        <p:spPr>
          <a:xfrm>
            <a:off x="9829800" y="731520"/>
            <a:ext cx="146304" cy="146304"/>
          </a:xfrm>
          <a:prstGeom prst="ellipse">
            <a:avLst/>
          </a:prstGeom>
          <a:solidFill>
            <a:schemeClr val="accent4"/>
          </a:solidFill>
          <a:ln w="9525">
            <a:solidFill>
              <a:schemeClr val="accent6"/>
            </a:solidFill>
            <a:prstDash val="solid"/>
          </a:ln>
        </p:spPr>
      </p:sp>
      <p:sp>
        <p:nvSpPr>
          <p:cNvPr id="7" name="Stage dot 3"/>
          <p:cNvSpPr/>
          <p:nvPr/>
        </p:nvSpPr>
        <p:spPr>
          <a:xfrm>
            <a:off x="10104120" y="731520"/>
            <a:ext cx="146304" cy="146304"/>
          </a:xfrm>
          <a:prstGeom prst="ellipse">
            <a:avLst/>
          </a:prstGeom>
          <a:solidFill>
            <a:schemeClr val="accent4"/>
          </a:solidFill>
          <a:ln w="9525">
            <a:solidFill>
              <a:schemeClr val="accent6"/>
            </a:solidFill>
            <a:prstDash val="solid"/>
          </a:ln>
        </p:spPr>
      </p:sp>
      <p:sp>
        <p:nvSpPr>
          <p:cNvPr id="8" name="Stage dot 4"/>
          <p:cNvSpPr/>
          <p:nvPr/>
        </p:nvSpPr>
        <p:spPr>
          <a:xfrm>
            <a:off x="10378440" y="731520"/>
            <a:ext cx="146304" cy="146304"/>
          </a:xfrm>
          <a:prstGeom prst="ellipse">
            <a:avLst/>
          </a:prstGeom>
          <a:solidFill>
            <a:schemeClr val="accent4"/>
          </a:solidFill>
          <a:ln w="9525">
            <a:solidFill>
              <a:schemeClr val="accent6"/>
            </a:solidFill>
            <a:prstDash val="solid"/>
          </a:ln>
        </p:spPr>
      </p:sp>
      <p:sp>
        <p:nvSpPr>
          <p:cNvPr id="9" name="Stage dot 5"/>
          <p:cNvSpPr/>
          <p:nvPr/>
        </p:nvSpPr>
        <p:spPr>
          <a:xfrm>
            <a:off x="10652760" y="731520"/>
            <a:ext cx="146304" cy="146304"/>
          </a:xfrm>
          <a:prstGeom prst="ellipse">
            <a:avLst/>
          </a:prstGeom>
          <a:solidFill>
            <a:schemeClr val="accent4"/>
          </a:solidFill>
          <a:ln w="9525">
            <a:solidFill>
              <a:schemeClr val="accent6"/>
            </a:solidFill>
            <a:prstDash val="solid"/>
          </a:ln>
        </p:spPr>
      </p:sp>
      <p:sp>
        <p:nvSpPr>
          <p:cNvPr id="10" name="Stage dot 6"/>
          <p:cNvSpPr/>
          <p:nvPr/>
        </p:nvSpPr>
        <p:spPr>
          <a:xfrm>
            <a:off x="10908792" y="713232"/>
            <a:ext cx="182880" cy="182880"/>
          </a:xfrm>
          <a:prstGeom prst="ellipse">
            <a:avLst/>
          </a:prstGeom>
          <a:solidFill>
            <a:schemeClr val="accent1"/>
          </a:solidFill>
          <a:ln w="9525">
            <a:solidFill>
              <a:schemeClr val="accent1"/>
            </a:solidFill>
            <a:prstDash val="solid"/>
          </a:ln>
        </p:spPr>
      </p:sp>
      <p:sp>
        <p:nvSpPr>
          <p:cNvPr id="11" name="Stage dot 7"/>
          <p:cNvSpPr/>
          <p:nvPr/>
        </p:nvSpPr>
        <p:spPr>
          <a:xfrm>
            <a:off x="11201400" y="731520"/>
            <a:ext cx="146304" cy="146304"/>
          </a:xfrm>
          <a:prstGeom prst="ellipse">
            <a:avLst/>
          </a:prstGeom>
          <a:solidFill>
            <a:schemeClr val="accent5"/>
          </a:solidFill>
          <a:ln w="9525">
            <a:solidFill>
              <a:schemeClr val="accent6"/>
            </a:solidFill>
            <a:prstDash val="solid"/>
          </a:ln>
        </p:spPr>
      </p:sp>
      <p:sp>
        <p:nvSpPr>
          <p:cNvPr id="12" name="Stage dot 8"/>
          <p:cNvSpPr/>
          <p:nvPr/>
        </p:nvSpPr>
        <p:spPr>
          <a:xfrm>
            <a:off x="11475720" y="731520"/>
            <a:ext cx="146304" cy="146304"/>
          </a:xfrm>
          <a:prstGeom prst="ellipse">
            <a:avLst/>
          </a:prstGeom>
          <a:solidFill>
            <a:schemeClr val="accent5"/>
          </a:solidFill>
          <a:ln w="9525">
            <a:solidFill>
              <a:schemeClr val="accent6"/>
            </a:solidFill>
            <a:prstDash val="solid"/>
          </a:ln>
        </p:spPr>
      </p:sp>
      <p:graphicFrame>
        <p:nvGraphicFramePr>
          <p:cNvPr id="12" name="Metrics table"/>
          <p:cNvGraphicFramePr>
            <a:graphicFrameLocks noGrp="1"/>
          </p:cNvGraphicFramePr>
          <p:nvPr>
            <p:extLst>
              <p:ext uri="{D42A27DB-BD31-4B8C-83A1-F6EECF244321}">
                <p14:modId xmlns:p14="http://schemas.microsoft.com/office/powerpoint/2010/main" val="1579011935"/>
              </p:ext>
            </p:extLst>
          </p:nvPr>
        </p:nvGraphicFramePr>
        <p:xfrm>
          <a:off x="548640" y="1463040"/>
          <a:ext cx="5577840" cy="914400"/>
        </p:xfrm>
        <a:graphic>
          <a:graphicData uri="http://schemas.openxmlformats.org/drawingml/2006/table">
            <a:tbl>
              <a:tblPr/>
              <a:tblGrid>
                <a:gridCol w="1554480"/>
                <a:gridCol w="914400"/>
                <a:gridCol w="1005840"/>
                <a:gridCol w="914400"/>
                <a:gridCol w="1188720"/>
              </a:tblGrid>
              <a:tr h="457200">
                <a:tc>
                  <a:txBody>
                    <a:bodyPr/>
                    <a:lstStyle/>
                    <a:p>
                      <a:pPr algn="l" indent="0" marL="0">
                        <a:buNone/>
                      </a:pPr>
                      <a:r>
                        <a:rPr lang="en-US" sz="1400" b="1" dirty="0">
                          <a:solidFill>
                            <a:schemeClr val="tx2"/>
                          </a:solidFill>
                        </a:rPr>
                        <a:t>Model</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2"/>
                          </a:solidFill>
                        </a:rPr>
                        <a:t>MAE</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2"/>
                          </a:solidFill>
                        </a:rPr>
                        <a:t>MSE</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2"/>
                          </a:solidFill>
                        </a:rPr>
                        <a:t>RMSE</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2"/>
                          </a:solidFill>
                        </a:rPr>
                        <a:t>R²</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r>
              <a:tr h="457200">
                <a:tc>
                  <a:txBody>
                    <a:bodyPr/>
                    <a:lstStyle/>
                    <a:p>
                      <a:pPr algn="l" indent="0" marL="0">
                        <a:buNone/>
                      </a:pPr>
                      <a:r>
                        <a:rPr lang="en-US" sz="1400" dirty="0">
                          <a:solidFill>
                            <a:schemeClr val="tx1"/>
                          </a:solidFill>
                        </a:rPr>
                        <a:t>Ridge (L2)</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16.018</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452.5</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21.27</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0.1186</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r>
              <a:tr h="457200">
                <a:tc>
                  <a:txBody>
                    <a:bodyPr/>
                    <a:lstStyle/>
                    <a:p>
                      <a:pPr algn="l" indent="0" marL="0">
                        <a:buNone/>
                      </a:pPr>
                      <a:r>
                        <a:rPr lang="en-US" sz="1400" b="1" dirty="0">
                          <a:solidFill>
                            <a:schemeClr val="accent1"/>
                          </a:solidFill>
                        </a:rPr>
                        <a:t>Lasso (L1)</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5"/>
                    </a:solidFill>
                  </a:tcPr>
                </a:tc>
                <a:tc>
                  <a:txBody>
                    <a:bodyPr/>
                    <a:lstStyle/>
                    <a:p>
                      <a:pPr algn="r" indent="0" marL="0">
                        <a:buNone/>
                      </a:pPr>
                      <a:r>
                        <a:rPr lang="en-US" sz="1400" b="1" dirty="0">
                          <a:solidFill>
                            <a:schemeClr val="accent1"/>
                          </a:solidFill>
                        </a:rPr>
                        <a:t>16.011</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5"/>
                    </a:solidFill>
                  </a:tcPr>
                </a:tc>
                <a:tc>
                  <a:txBody>
                    <a:bodyPr/>
                    <a:lstStyle/>
                    <a:p>
                      <a:pPr algn="r" indent="0" marL="0">
                        <a:buNone/>
                      </a:pPr>
                      <a:r>
                        <a:rPr lang="en-US" sz="1400" b="1" dirty="0">
                          <a:solidFill>
                            <a:schemeClr val="accent1"/>
                          </a:solidFill>
                        </a:rPr>
                        <a:t>452.3</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5"/>
                    </a:solidFill>
                  </a:tcPr>
                </a:tc>
                <a:tc>
                  <a:txBody>
                    <a:bodyPr/>
                    <a:lstStyle/>
                    <a:p>
                      <a:pPr algn="r" indent="0" marL="0">
                        <a:buNone/>
                      </a:pPr>
                      <a:r>
                        <a:rPr lang="en-US" sz="1400" b="1" dirty="0">
                          <a:solidFill>
                            <a:schemeClr val="accent1"/>
                          </a:solidFill>
                        </a:rPr>
                        <a:t>21.27</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5"/>
                    </a:solidFill>
                  </a:tcPr>
                </a:tc>
                <a:tc>
                  <a:txBody>
                    <a:bodyPr/>
                    <a:lstStyle/>
                    <a:p>
                      <a:pPr algn="r" indent="0" marL="0">
                        <a:buNone/>
                      </a:pPr>
                      <a:r>
                        <a:rPr lang="en-US" sz="1400" b="1" dirty="0">
                          <a:solidFill>
                            <a:schemeClr val="accent1"/>
                          </a:solidFill>
                        </a:rPr>
                        <a:t>0.1191</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5"/>
                    </a:solidFill>
                  </a:tcPr>
                </a:tc>
              </a:tr>
              <a:tr h="457200">
                <a:tc>
                  <a:txBody>
                    <a:bodyPr/>
                    <a:lstStyle/>
                    <a:p>
                      <a:pPr algn="l" indent="0" marL="0">
                        <a:buNone/>
                      </a:pPr>
                      <a:r>
                        <a:rPr lang="en-US" sz="1400" dirty="0">
                          <a:solidFill>
                            <a:schemeClr val="tx1"/>
                          </a:solidFill>
                        </a:rPr>
                        <a:t>Baseline</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17.455</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513.9</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22.67</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−0.001</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r>
            </a:tbl>
          </a:graphicData>
        </a:graphic>
      </p:graphicFrame>
      <p:sp>
        <p:nvSpPr>
          <p:cNvPr id="14" name="KPI card 1"/>
          <p:cNvSpPr/>
          <p:nvPr/>
        </p:nvSpPr>
        <p:spPr>
          <a:xfrm>
            <a:off x="548640" y="3566160"/>
            <a:ext cx="1737360" cy="2377440"/>
          </a:xfrm>
          <a:prstGeom prst="roundRect">
            <a:avLst>
              <a:gd name="adj" fmla="val 5263"/>
            </a:avLst>
          </a:prstGeom>
          <a:solidFill>
            <a:schemeClr val="bg2"/>
          </a:solidFill>
          <a:ln w="9525">
            <a:solidFill>
              <a:schemeClr val="accent5"/>
            </a:solidFill>
            <a:prstDash val="solid"/>
          </a:ln>
        </p:spPr>
      </p:sp>
      <p:sp>
        <p:nvSpPr>
          <p:cNvPr id="15" name="KPI value 1"/>
          <p:cNvSpPr txBox="1"/>
          <p:nvPr/>
        </p:nvSpPr>
        <p:spPr>
          <a:xfrm>
            <a:off x="685800" y="4114800"/>
            <a:ext cx="1463040" cy="73152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−8.3%</a:t>
            </a:r>
            <a:endParaRPr lang="en-US" sz="3000" dirty="0"/>
          </a:p>
        </p:txBody>
      </p:sp>
      <p:sp>
        <p:nvSpPr>
          <p:cNvPr id="16" name="KPI label 1"/>
          <p:cNvSpPr txBox="1"/>
          <p:nvPr/>
        </p:nvSpPr>
        <p:spPr>
          <a:xfrm>
            <a:off x="685800" y="4937760"/>
            <a:ext cx="1463040" cy="822960"/>
          </a:xfrm>
          <a:prstGeom prst="rect">
            <a:avLst/>
          </a:prstGeom>
          <a:noFill/>
          <a:ln/>
        </p:spPr>
        <p:txBody>
          <a:bodyPr wrap="square" lIns="0" tIns="0" rIns="0" bIns="0" rtlCol="0" anchor="t"/>
          <a:lstStyle/>
          <a:p>
            <a:pPr indent="0" marL="0">
              <a:buNone/>
            </a:pPr>
            <a:r>
              <a:rPr lang="en-US" sz="1200" dirty="0">
                <a:solidFill>
                  <a:schemeClr val="tx2"/>
                </a:solidFill>
              </a:rPr>
              <a:t>MAE vs the mean baseline</a:t>
            </a:r>
            <a:endParaRPr lang="en-US" sz="1200" dirty="0"/>
          </a:p>
        </p:txBody>
      </p:sp>
      <p:sp>
        <p:nvSpPr>
          <p:cNvPr id="17" name="KPI card 2"/>
          <p:cNvSpPr/>
          <p:nvPr/>
        </p:nvSpPr>
        <p:spPr>
          <a:xfrm>
            <a:off x="2468880" y="3566160"/>
            <a:ext cx="1737360" cy="2377440"/>
          </a:xfrm>
          <a:prstGeom prst="roundRect">
            <a:avLst>
              <a:gd name="adj" fmla="val 5263"/>
            </a:avLst>
          </a:prstGeom>
          <a:solidFill>
            <a:schemeClr val="bg2"/>
          </a:solidFill>
          <a:ln w="9525">
            <a:solidFill>
              <a:schemeClr val="accent5"/>
            </a:solidFill>
            <a:prstDash val="solid"/>
          </a:ln>
        </p:spPr>
      </p:sp>
      <p:sp>
        <p:nvSpPr>
          <p:cNvPr id="18" name="KPI value 2"/>
          <p:cNvSpPr txBox="1"/>
          <p:nvPr/>
        </p:nvSpPr>
        <p:spPr>
          <a:xfrm>
            <a:off x="2606040" y="4114800"/>
            <a:ext cx="1463040" cy="731520"/>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0.119</a:t>
            </a:r>
            <a:endParaRPr lang="en-US" sz="3000" dirty="0"/>
          </a:p>
        </p:txBody>
      </p:sp>
      <p:sp>
        <p:nvSpPr>
          <p:cNvPr id="19" name="KPI label 2"/>
          <p:cNvSpPr txBox="1"/>
          <p:nvPr/>
        </p:nvSpPr>
        <p:spPr>
          <a:xfrm>
            <a:off x="2606040" y="4937760"/>
            <a:ext cx="1463040" cy="822960"/>
          </a:xfrm>
          <a:prstGeom prst="rect">
            <a:avLst/>
          </a:prstGeom>
          <a:noFill/>
          <a:ln/>
        </p:spPr>
        <p:txBody>
          <a:bodyPr wrap="square" lIns="0" tIns="0" rIns="0" bIns="0" rtlCol="0" anchor="t"/>
          <a:lstStyle/>
          <a:p>
            <a:pPr indent="0" marL="0">
              <a:buNone/>
            </a:pPr>
            <a:r>
              <a:rPr lang="en-US" sz="1200" dirty="0">
                <a:solidFill>
                  <a:schemeClr val="tx2"/>
                </a:solidFill>
              </a:rPr>
              <a:t>R² for Lasso</a:t>
            </a:r>
            <a:endParaRPr lang="en-US" sz="1200" dirty="0"/>
          </a:p>
        </p:txBody>
      </p:sp>
      <p:sp>
        <p:nvSpPr>
          <p:cNvPr id="20" name="KPI card 3"/>
          <p:cNvSpPr/>
          <p:nvPr/>
        </p:nvSpPr>
        <p:spPr>
          <a:xfrm>
            <a:off x="4389120" y="3566160"/>
            <a:ext cx="1737360" cy="2377440"/>
          </a:xfrm>
          <a:prstGeom prst="roundRect">
            <a:avLst>
              <a:gd name="adj" fmla="val 5263"/>
            </a:avLst>
          </a:prstGeom>
          <a:solidFill>
            <a:schemeClr val="bg2"/>
          </a:solidFill>
          <a:ln w="9525">
            <a:solidFill>
              <a:schemeClr val="accent5"/>
            </a:solidFill>
            <a:prstDash val="solid"/>
          </a:ln>
        </p:spPr>
      </p:sp>
      <p:sp>
        <p:nvSpPr>
          <p:cNvPr id="21" name="KPI value 3"/>
          <p:cNvSpPr txBox="1"/>
          <p:nvPr/>
        </p:nvSpPr>
        <p:spPr>
          <a:xfrm>
            <a:off x="4526280" y="4114800"/>
            <a:ext cx="1463040" cy="731520"/>
          </a:xfrm>
          <a:prstGeom prst="rect">
            <a:avLst/>
          </a:prstGeom>
          <a:noFill/>
          <a:ln/>
        </p:spPr>
        <p:txBody>
          <a:bodyPr wrap="square" lIns="0" tIns="0" rIns="0" bIns="0" rtlCol="0" anchor="ctr"/>
          <a:lstStyle/>
          <a:p>
            <a:pPr indent="0" marL="0">
              <a:buNone/>
            </a:pPr>
            <a:r>
              <a:rPr lang="en-US" sz="3000" b="1" dirty="0">
                <a:solidFill>
                  <a:schemeClr val="tx1"/>
                </a:solidFill>
                <a:latin typeface="+mj-lt" pitchFamily="34" charset="0"/>
                <a:ea typeface="+mj-lt" pitchFamily="34" charset="-122"/>
                <a:cs typeface="+mj-lt" pitchFamily="34" charset="-120"/>
              </a:rPr>
              <a:t>2,117</a:t>
            </a:r>
            <a:endParaRPr lang="en-US" sz="3000" dirty="0"/>
          </a:p>
        </p:txBody>
      </p:sp>
      <p:sp>
        <p:nvSpPr>
          <p:cNvPr id="22" name="KPI label 3"/>
          <p:cNvSpPr txBox="1"/>
          <p:nvPr/>
        </p:nvSpPr>
        <p:spPr>
          <a:xfrm>
            <a:off x="4526280" y="4937760"/>
            <a:ext cx="1463040" cy="822960"/>
          </a:xfrm>
          <a:prstGeom prst="rect">
            <a:avLst/>
          </a:prstGeom>
          <a:noFill/>
          <a:ln/>
        </p:spPr>
        <p:txBody>
          <a:bodyPr wrap="square" lIns="0" tIns="0" rIns="0" bIns="0" rtlCol="0" anchor="t"/>
          <a:lstStyle/>
          <a:p>
            <a:pPr indent="0" marL="0">
              <a:buNone/>
            </a:pPr>
            <a:r>
              <a:rPr lang="en-US" sz="1200" dirty="0">
                <a:solidFill>
                  <a:schemeClr val="tx2"/>
                </a:solidFill>
              </a:rPr>
              <a:t>unseen test innings</a:t>
            </a:r>
            <a:endParaRPr lang="en-US" sz="1200" dirty="0"/>
          </a:p>
        </p:txBody>
      </p:sp>
      <p:sp>
        <p:nvSpPr>
          <p:cNvPr id="23" name="Error chart card"/>
          <p:cNvSpPr/>
          <p:nvPr/>
        </p:nvSpPr>
        <p:spPr>
          <a:xfrm>
            <a:off x="6400800" y="1463040"/>
            <a:ext cx="5239512" cy="4480560"/>
          </a:xfrm>
          <a:prstGeom prst="roundRect">
            <a:avLst>
              <a:gd name="adj" fmla="val 2041"/>
            </a:avLst>
          </a:prstGeom>
          <a:solidFill>
            <a:schemeClr val="bg2"/>
          </a:solidFill>
          <a:ln w="9525">
            <a:solidFill>
              <a:schemeClr val="accent5"/>
            </a:solidFill>
            <a:prstDash val="solid"/>
          </a:ln>
        </p:spPr>
      </p:sp>
      <p:graphicFrame>
        <p:nvGraphicFramePr>
          <p:cNvPr id="24" name="Error chart" descr=""/>
          <p:cNvGraphicFramePr/>
          <p:nvPr/>
        </p:nvGraphicFramePr>
        <p:xfrm>
          <a:off x="6537960" y="1600200"/>
          <a:ext cx="4965192" cy="42062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Check the diagnostics</a:t>
            </a:r>
            <a:endParaRPr lang="en-US" sz="3200" dirty="0"/>
          </a:p>
        </p:txBody>
      </p:sp>
      <p:sp>
        <p:nvSpPr>
          <p:cNvPr id="4" name="Stage label"/>
          <p:cNvSpPr txBox="1"/>
          <p:nvPr/>
        </p:nvSpPr>
        <p:spPr>
          <a:xfrm>
            <a:off x="7406640" y="347472"/>
            <a:ext cx="4233672" cy="274320"/>
          </a:xfrm>
          <a:prstGeom prst="rect">
            <a:avLst/>
          </a:prstGeom>
          <a:noFill/>
          <a:ln/>
        </p:spPr>
        <p:txBody>
          <a:bodyPr wrap="square" lIns="0" tIns="0" rIns="0" bIns="0" rtlCol="0" anchor="t"/>
          <a:lstStyle/>
          <a:p>
            <a:pPr algn="r" indent="0" marL="0">
              <a:buNone/>
            </a:pPr>
            <a:r>
              <a:rPr lang="en-US" sz="1100" b="1" spc="200" kern="0" dirty="0">
                <a:solidFill>
                  <a:schemeClr val="tx2"/>
                </a:solidFill>
              </a:rPr>
              <a:t>STAGE 6 OF 8 · EVALUATE</a:t>
            </a:r>
            <a:endParaRPr lang="en-US" sz="1100" dirty="0"/>
          </a:p>
        </p:txBody>
      </p:sp>
      <p:sp>
        <p:nvSpPr>
          <p:cNvPr id="5" name="Stage dot 1"/>
          <p:cNvSpPr/>
          <p:nvPr/>
        </p:nvSpPr>
        <p:spPr>
          <a:xfrm>
            <a:off x="9555480" y="731520"/>
            <a:ext cx="146304" cy="146304"/>
          </a:xfrm>
          <a:prstGeom prst="ellipse">
            <a:avLst/>
          </a:prstGeom>
          <a:solidFill>
            <a:schemeClr val="accent4"/>
          </a:solidFill>
          <a:ln w="9525">
            <a:solidFill>
              <a:schemeClr val="accent6"/>
            </a:solidFill>
            <a:prstDash val="solid"/>
          </a:ln>
        </p:spPr>
      </p:sp>
      <p:sp>
        <p:nvSpPr>
          <p:cNvPr id="6" name="Stage dot 2"/>
          <p:cNvSpPr/>
          <p:nvPr/>
        </p:nvSpPr>
        <p:spPr>
          <a:xfrm>
            <a:off x="9829800" y="731520"/>
            <a:ext cx="146304" cy="146304"/>
          </a:xfrm>
          <a:prstGeom prst="ellipse">
            <a:avLst/>
          </a:prstGeom>
          <a:solidFill>
            <a:schemeClr val="accent4"/>
          </a:solidFill>
          <a:ln w="9525">
            <a:solidFill>
              <a:schemeClr val="accent6"/>
            </a:solidFill>
            <a:prstDash val="solid"/>
          </a:ln>
        </p:spPr>
      </p:sp>
      <p:sp>
        <p:nvSpPr>
          <p:cNvPr id="7" name="Stage dot 3"/>
          <p:cNvSpPr/>
          <p:nvPr/>
        </p:nvSpPr>
        <p:spPr>
          <a:xfrm>
            <a:off x="10104120" y="731520"/>
            <a:ext cx="146304" cy="146304"/>
          </a:xfrm>
          <a:prstGeom prst="ellipse">
            <a:avLst/>
          </a:prstGeom>
          <a:solidFill>
            <a:schemeClr val="accent4"/>
          </a:solidFill>
          <a:ln w="9525">
            <a:solidFill>
              <a:schemeClr val="accent6"/>
            </a:solidFill>
            <a:prstDash val="solid"/>
          </a:ln>
        </p:spPr>
      </p:sp>
      <p:sp>
        <p:nvSpPr>
          <p:cNvPr id="8" name="Stage dot 4"/>
          <p:cNvSpPr/>
          <p:nvPr/>
        </p:nvSpPr>
        <p:spPr>
          <a:xfrm>
            <a:off x="10378440" y="731520"/>
            <a:ext cx="146304" cy="146304"/>
          </a:xfrm>
          <a:prstGeom prst="ellipse">
            <a:avLst/>
          </a:prstGeom>
          <a:solidFill>
            <a:schemeClr val="accent4"/>
          </a:solidFill>
          <a:ln w="9525">
            <a:solidFill>
              <a:schemeClr val="accent6"/>
            </a:solidFill>
            <a:prstDash val="solid"/>
          </a:ln>
        </p:spPr>
      </p:sp>
      <p:sp>
        <p:nvSpPr>
          <p:cNvPr id="9" name="Stage dot 5"/>
          <p:cNvSpPr/>
          <p:nvPr/>
        </p:nvSpPr>
        <p:spPr>
          <a:xfrm>
            <a:off x="10652760" y="731520"/>
            <a:ext cx="146304" cy="146304"/>
          </a:xfrm>
          <a:prstGeom prst="ellipse">
            <a:avLst/>
          </a:prstGeom>
          <a:solidFill>
            <a:schemeClr val="accent4"/>
          </a:solidFill>
          <a:ln w="9525">
            <a:solidFill>
              <a:schemeClr val="accent6"/>
            </a:solidFill>
            <a:prstDash val="solid"/>
          </a:ln>
        </p:spPr>
      </p:sp>
      <p:sp>
        <p:nvSpPr>
          <p:cNvPr id="10" name="Stage dot 6"/>
          <p:cNvSpPr/>
          <p:nvPr/>
        </p:nvSpPr>
        <p:spPr>
          <a:xfrm>
            <a:off x="10908792" y="713232"/>
            <a:ext cx="182880" cy="182880"/>
          </a:xfrm>
          <a:prstGeom prst="ellipse">
            <a:avLst/>
          </a:prstGeom>
          <a:solidFill>
            <a:schemeClr val="accent1"/>
          </a:solidFill>
          <a:ln w="9525">
            <a:solidFill>
              <a:schemeClr val="accent1"/>
            </a:solidFill>
            <a:prstDash val="solid"/>
          </a:ln>
        </p:spPr>
      </p:sp>
      <p:sp>
        <p:nvSpPr>
          <p:cNvPr id="11" name="Stage dot 7"/>
          <p:cNvSpPr/>
          <p:nvPr/>
        </p:nvSpPr>
        <p:spPr>
          <a:xfrm>
            <a:off x="11201400" y="731520"/>
            <a:ext cx="146304" cy="146304"/>
          </a:xfrm>
          <a:prstGeom prst="ellipse">
            <a:avLst/>
          </a:prstGeom>
          <a:solidFill>
            <a:schemeClr val="accent5"/>
          </a:solidFill>
          <a:ln w="9525">
            <a:solidFill>
              <a:schemeClr val="accent6"/>
            </a:solidFill>
            <a:prstDash val="solid"/>
          </a:ln>
        </p:spPr>
      </p:sp>
      <p:sp>
        <p:nvSpPr>
          <p:cNvPr id="12" name="Stage dot 8"/>
          <p:cNvSpPr/>
          <p:nvPr/>
        </p:nvSpPr>
        <p:spPr>
          <a:xfrm>
            <a:off x="11475720" y="731520"/>
            <a:ext cx="146304" cy="146304"/>
          </a:xfrm>
          <a:prstGeom prst="ellipse">
            <a:avLst/>
          </a:prstGeom>
          <a:solidFill>
            <a:schemeClr val="accent5"/>
          </a:solidFill>
          <a:ln w="9525">
            <a:solidFill>
              <a:schemeClr val="accent6"/>
            </a:solidFill>
            <a:prstDash val="solid"/>
          </a:ln>
        </p:spPr>
      </p:sp>
      <p:sp>
        <p:nvSpPr>
          <p:cNvPr id="13" name="Scatter card"/>
          <p:cNvSpPr/>
          <p:nvPr/>
        </p:nvSpPr>
        <p:spPr>
          <a:xfrm>
            <a:off x="548640" y="1417320"/>
            <a:ext cx="7863840" cy="3703320"/>
          </a:xfrm>
          <a:prstGeom prst="roundRect">
            <a:avLst>
              <a:gd name="adj" fmla="val 2469"/>
            </a:avLst>
          </a:prstGeom>
          <a:solidFill>
            <a:schemeClr val="bg2"/>
          </a:solidFill>
          <a:ln w="9525">
            <a:solidFill>
              <a:schemeClr val="accent5"/>
            </a:solidFill>
            <a:prstDash val="solid"/>
          </a:ln>
        </p:spPr>
      </p:sp>
      <p:pic>
        <p:nvPicPr>
          <p:cNvPr id="14" name="Predicted vs actual" descr="Predicted against actual runs for Ridge and Lasso on the 2022 to 2023 test set">    </p:cNvPr>
          <p:cNvPicPr>
            <a:picLocks noChangeAspect="1"/>
          </p:cNvPicPr>
          <p:nvPr/>
        </p:nvPicPr>
        <p:blipFill>
          <a:blip r:embed="rId1"/>
          <a:stretch>
            <a:fillRect/>
          </a:stretch>
        </p:blipFill>
        <p:spPr>
          <a:xfrm>
            <a:off x="685800" y="1536192"/>
            <a:ext cx="7589520" cy="3170423"/>
          </a:xfrm>
          <a:prstGeom prst="rect">
            <a:avLst/>
          </a:prstGeom>
        </p:spPr>
      </p:pic>
      <p:sp>
        <p:nvSpPr>
          <p:cNvPr id="15" name="Scatter caption"/>
          <p:cNvSpPr txBox="1"/>
          <p:nvPr/>
        </p:nvSpPr>
        <p:spPr>
          <a:xfrm>
            <a:off x="777240" y="4798055"/>
            <a:ext cx="7315200" cy="365760"/>
          </a:xfrm>
          <a:prstGeom prst="rect">
            <a:avLst/>
          </a:prstGeom>
          <a:noFill/>
          <a:ln/>
        </p:spPr>
        <p:txBody>
          <a:bodyPr wrap="square" lIns="0" tIns="0" rIns="0" bIns="0" rtlCol="0" anchor="t"/>
          <a:lstStyle/>
          <a:p>
            <a:pPr indent="0" marL="0">
              <a:buNone/>
            </a:pPr>
            <a:r>
              <a:rPr lang="en-US" sz="1200" dirty="0">
                <a:solidFill>
                  <a:schemeClr val="tx2"/>
                </a:solidFill>
              </a:rPr>
              <a:t>Test set, 2022–2023. Points on the dashed line would be perfect predictions.</a:t>
            </a:r>
            <a:endParaRPr lang="en-US" sz="1200" dirty="0"/>
          </a:p>
        </p:txBody>
      </p:sp>
      <p:sp>
        <p:nvSpPr>
          <p:cNvPr id="16" name="Diagnostic card 1"/>
          <p:cNvSpPr/>
          <p:nvPr/>
        </p:nvSpPr>
        <p:spPr>
          <a:xfrm>
            <a:off x="8641080" y="1417320"/>
            <a:ext cx="2999232" cy="1143000"/>
          </a:xfrm>
          <a:prstGeom prst="roundRect">
            <a:avLst>
              <a:gd name="adj" fmla="val 8000"/>
            </a:avLst>
          </a:prstGeom>
          <a:solidFill>
            <a:schemeClr val="bg2"/>
          </a:solidFill>
          <a:ln w="9525">
            <a:solidFill>
              <a:schemeClr val="accent5"/>
            </a:solidFill>
            <a:prstDash val="solid"/>
          </a:ln>
        </p:spPr>
      </p:sp>
      <p:sp>
        <p:nvSpPr>
          <p:cNvPr id="17" name="Diagnostic head 1"/>
          <p:cNvSpPr txBox="1"/>
          <p:nvPr/>
        </p:nvSpPr>
        <p:spPr>
          <a:xfrm>
            <a:off x="8823960" y="1527048"/>
            <a:ext cx="2697480" cy="320040"/>
          </a:xfrm>
          <a:prstGeom prst="rect">
            <a:avLst/>
          </a:prstGeom>
          <a:noFill/>
          <a:ln/>
        </p:spPr>
        <p:txBody>
          <a:bodyPr wrap="square" lIns="0" tIns="0" rIns="0" bIns="0" rtlCol="0" anchor="t"/>
          <a:lstStyle/>
          <a:p>
            <a:pPr indent="0" marL="0">
              <a:buNone/>
            </a:pPr>
            <a:r>
              <a:rPr lang="en-US" sz="1800" b="1" dirty="0">
                <a:solidFill>
                  <a:schemeClr val="accent1"/>
                </a:solidFill>
              </a:rPr>
              <a:t>Narrow band</a:t>
            </a:r>
            <a:endParaRPr lang="en-US" sz="1800" dirty="0"/>
          </a:p>
        </p:txBody>
      </p:sp>
      <p:sp>
        <p:nvSpPr>
          <p:cNvPr id="18" name="Diagnostic text 1"/>
          <p:cNvSpPr txBox="1"/>
          <p:nvPr/>
        </p:nvSpPr>
        <p:spPr>
          <a:xfrm>
            <a:off x="8823960" y="1874520"/>
            <a:ext cx="2697480" cy="658368"/>
          </a:xfrm>
          <a:prstGeom prst="rect">
            <a:avLst/>
          </a:prstGeom>
          <a:noFill/>
          <a:ln/>
        </p:spPr>
        <p:txBody>
          <a:bodyPr wrap="square" lIns="0" tIns="0" rIns="0" bIns="0" rtlCol="0" anchor="t"/>
          <a:lstStyle/>
          <a:p>
            <a:pPr indent="0" marL="0">
              <a:buNone/>
            </a:pPr>
            <a:r>
              <a:rPr lang="en-US" sz="1400" dirty="0">
                <a:solidFill>
                  <a:schemeClr val="tx2"/>
                </a:solidFill>
              </a:rPr>
              <a:t>Predictions sit between about 2 and 40 runs. The models play it safe.</a:t>
            </a:r>
            <a:endParaRPr lang="en-US" sz="1400" dirty="0"/>
          </a:p>
        </p:txBody>
      </p:sp>
      <p:sp>
        <p:nvSpPr>
          <p:cNvPr id="19" name="Diagnostic card 2"/>
          <p:cNvSpPr/>
          <p:nvPr/>
        </p:nvSpPr>
        <p:spPr>
          <a:xfrm>
            <a:off x="8641080" y="2697480"/>
            <a:ext cx="2999232" cy="1143000"/>
          </a:xfrm>
          <a:prstGeom prst="roundRect">
            <a:avLst>
              <a:gd name="adj" fmla="val 8000"/>
            </a:avLst>
          </a:prstGeom>
          <a:solidFill>
            <a:schemeClr val="bg2"/>
          </a:solidFill>
          <a:ln w="9525">
            <a:solidFill>
              <a:schemeClr val="accent5"/>
            </a:solidFill>
            <a:prstDash val="solid"/>
          </a:ln>
        </p:spPr>
      </p:sp>
      <p:sp>
        <p:nvSpPr>
          <p:cNvPr id="20" name="Diagnostic head 2"/>
          <p:cNvSpPr txBox="1"/>
          <p:nvPr/>
        </p:nvSpPr>
        <p:spPr>
          <a:xfrm>
            <a:off x="8823960" y="2807208"/>
            <a:ext cx="2697480" cy="320040"/>
          </a:xfrm>
          <a:prstGeom prst="rect">
            <a:avLst/>
          </a:prstGeom>
          <a:noFill/>
          <a:ln/>
        </p:spPr>
        <p:txBody>
          <a:bodyPr wrap="square" lIns="0" tIns="0" rIns="0" bIns="0" rtlCol="0" anchor="t"/>
          <a:lstStyle/>
          <a:p>
            <a:pPr indent="0" marL="0">
              <a:buNone/>
            </a:pPr>
            <a:r>
              <a:rPr lang="en-US" sz="1800" b="1" dirty="0">
                <a:solidFill>
                  <a:schemeClr val="accent2"/>
                </a:solidFill>
              </a:rPr>
              <a:t>Big scores missed</a:t>
            </a:r>
            <a:endParaRPr lang="en-US" sz="1800" dirty="0"/>
          </a:p>
        </p:txBody>
      </p:sp>
      <p:sp>
        <p:nvSpPr>
          <p:cNvPr id="21" name="Diagnostic text 2"/>
          <p:cNvSpPr txBox="1"/>
          <p:nvPr/>
        </p:nvSpPr>
        <p:spPr>
          <a:xfrm>
            <a:off x="8823960" y="3154680"/>
            <a:ext cx="2697480" cy="658368"/>
          </a:xfrm>
          <a:prstGeom prst="rect">
            <a:avLst/>
          </a:prstGeom>
          <a:noFill/>
          <a:ln/>
        </p:spPr>
        <p:txBody>
          <a:bodyPr wrap="square" lIns="0" tIns="0" rIns="0" bIns="0" rtlCol="0" anchor="t"/>
          <a:lstStyle/>
          <a:p>
            <a:pPr indent="0" marL="0">
              <a:buNone/>
            </a:pPr>
            <a:r>
              <a:rPr lang="en-US" sz="1400" dirty="0">
                <a:solidFill>
                  <a:schemeClr val="tx2"/>
                </a:solidFill>
              </a:rPr>
              <a:t>Every innings above 60 is under-predicted. They are rare.</a:t>
            </a:r>
            <a:endParaRPr lang="en-US" sz="1400" dirty="0"/>
          </a:p>
        </p:txBody>
      </p:sp>
      <p:sp>
        <p:nvSpPr>
          <p:cNvPr id="22" name="Diagnostic card 3"/>
          <p:cNvSpPr/>
          <p:nvPr/>
        </p:nvSpPr>
        <p:spPr>
          <a:xfrm>
            <a:off x="8641080" y="3977640"/>
            <a:ext cx="2999232" cy="1143000"/>
          </a:xfrm>
          <a:prstGeom prst="roundRect">
            <a:avLst>
              <a:gd name="adj" fmla="val 8000"/>
            </a:avLst>
          </a:prstGeom>
          <a:solidFill>
            <a:schemeClr val="bg2"/>
          </a:solidFill>
          <a:ln w="9525">
            <a:solidFill>
              <a:schemeClr val="accent5"/>
            </a:solidFill>
            <a:prstDash val="solid"/>
          </a:ln>
        </p:spPr>
      </p:sp>
      <p:sp>
        <p:nvSpPr>
          <p:cNvPr id="23" name="Diagnostic head 3"/>
          <p:cNvSpPr txBox="1"/>
          <p:nvPr/>
        </p:nvSpPr>
        <p:spPr>
          <a:xfrm>
            <a:off x="8823960" y="4087368"/>
            <a:ext cx="2697480" cy="320040"/>
          </a:xfrm>
          <a:prstGeom prst="rect">
            <a:avLst/>
          </a:prstGeom>
          <a:noFill/>
          <a:ln/>
        </p:spPr>
        <p:txBody>
          <a:bodyPr wrap="square" lIns="0" tIns="0" rIns="0" bIns="0" rtlCol="0" anchor="t"/>
          <a:lstStyle/>
          <a:p>
            <a:pPr indent="0" marL="0">
              <a:buNone/>
            </a:pPr>
            <a:r>
              <a:rPr lang="en-US" sz="1800" b="1" dirty="0">
                <a:solidFill>
                  <a:schemeClr val="accent1"/>
                </a:solidFill>
              </a:rPr>
              <a:t>No strong bias</a:t>
            </a:r>
            <a:endParaRPr lang="en-US" sz="1800" dirty="0"/>
          </a:p>
        </p:txBody>
      </p:sp>
      <p:sp>
        <p:nvSpPr>
          <p:cNvPr id="24" name="Diagnostic text 3"/>
          <p:cNvSpPr txBox="1"/>
          <p:nvPr/>
        </p:nvSpPr>
        <p:spPr>
          <a:xfrm>
            <a:off x="8823960" y="4434840"/>
            <a:ext cx="2697480" cy="658368"/>
          </a:xfrm>
          <a:prstGeom prst="rect">
            <a:avLst/>
          </a:prstGeom>
          <a:noFill/>
          <a:ln/>
        </p:spPr>
        <p:txBody>
          <a:bodyPr wrap="square" lIns="0" tIns="0" rIns="0" bIns="0" rtlCol="0" anchor="t"/>
          <a:lstStyle/>
          <a:p>
            <a:pPr indent="0" marL="0">
              <a:buNone/>
            </a:pPr>
            <a:r>
              <a:rPr lang="en-US" sz="1400" dirty="0">
                <a:solidFill>
                  <a:schemeClr val="tx2"/>
                </a:solidFill>
              </a:rPr>
              <a:t>Residuals average under 1 run, with wider spread at high scores.</a:t>
            </a:r>
            <a:endParaRPr lang="en-US" sz="1400" dirty="0"/>
          </a:p>
        </p:txBody>
      </p:sp>
      <p:sp>
        <p:nvSpPr>
          <p:cNvPr id="25" name="Takeaway bar"/>
          <p:cNvSpPr/>
          <p:nvPr/>
        </p:nvSpPr>
        <p:spPr>
          <a:xfrm>
            <a:off x="548640" y="5303520"/>
            <a:ext cx="11091672" cy="640080"/>
          </a:xfrm>
          <a:prstGeom prst="roundRect">
            <a:avLst>
              <a:gd name="adj" fmla="val 14286"/>
            </a:avLst>
          </a:prstGeom>
          <a:solidFill>
            <a:schemeClr val="bg2"/>
          </a:solidFill>
          <a:ln w="9525">
            <a:solidFill>
              <a:schemeClr val="accent5"/>
            </a:solidFill>
            <a:prstDash val="solid"/>
          </a:ln>
        </p:spPr>
      </p:sp>
      <p:sp>
        <p:nvSpPr>
          <p:cNvPr id="26" name="Takeaway text"/>
          <p:cNvSpPr txBox="1"/>
          <p:nvPr/>
        </p:nvSpPr>
        <p:spPr>
          <a:xfrm>
            <a:off x="777240" y="5303520"/>
            <a:ext cx="10698480" cy="640080"/>
          </a:xfrm>
          <a:prstGeom prst="rect">
            <a:avLst/>
          </a:prstGeom>
          <a:noFill/>
          <a:ln/>
        </p:spPr>
        <p:txBody>
          <a:bodyPr wrap="square" lIns="0" tIns="0" rIns="0" bIns="0" rtlCol="0" anchor="ctr"/>
          <a:lstStyle/>
          <a:p>
            <a:pPr indent="0" marL="0">
              <a:buNone/>
            </a:pPr>
            <a:r>
              <a:rPr lang="en-US" sz="1600" b="1" dirty="0">
                <a:solidFill>
                  <a:schemeClr val="tx1"/>
                </a:solidFill>
              </a:rPr>
              <a:t>Ridge and Lasso make almost the same predictions: the limit is the information in the inputs, not the penalty.</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Interpret what was learned</a:t>
            </a:r>
            <a:endParaRPr lang="en-US" sz="3200" dirty="0"/>
          </a:p>
        </p:txBody>
      </p:sp>
      <p:sp>
        <p:nvSpPr>
          <p:cNvPr id="4" name="Stage label"/>
          <p:cNvSpPr txBox="1"/>
          <p:nvPr/>
        </p:nvSpPr>
        <p:spPr>
          <a:xfrm>
            <a:off x="7406640" y="347472"/>
            <a:ext cx="4233672" cy="274320"/>
          </a:xfrm>
          <a:prstGeom prst="rect">
            <a:avLst/>
          </a:prstGeom>
          <a:noFill/>
          <a:ln/>
        </p:spPr>
        <p:txBody>
          <a:bodyPr wrap="square" lIns="0" tIns="0" rIns="0" bIns="0" rtlCol="0" anchor="t"/>
          <a:lstStyle/>
          <a:p>
            <a:pPr algn="r" indent="0" marL="0">
              <a:buNone/>
            </a:pPr>
            <a:r>
              <a:rPr lang="en-US" sz="1100" b="1" spc="200" kern="0" dirty="0">
                <a:solidFill>
                  <a:schemeClr val="tx2"/>
                </a:solidFill>
              </a:rPr>
              <a:t>STAGE 6 OF 8 · EVALUATE</a:t>
            </a:r>
            <a:endParaRPr lang="en-US" sz="1100" dirty="0"/>
          </a:p>
        </p:txBody>
      </p:sp>
      <p:sp>
        <p:nvSpPr>
          <p:cNvPr id="5" name="Stage dot 1"/>
          <p:cNvSpPr/>
          <p:nvPr/>
        </p:nvSpPr>
        <p:spPr>
          <a:xfrm>
            <a:off x="9555480" y="731520"/>
            <a:ext cx="146304" cy="146304"/>
          </a:xfrm>
          <a:prstGeom prst="ellipse">
            <a:avLst/>
          </a:prstGeom>
          <a:solidFill>
            <a:schemeClr val="accent4"/>
          </a:solidFill>
          <a:ln w="9525">
            <a:solidFill>
              <a:schemeClr val="accent6"/>
            </a:solidFill>
            <a:prstDash val="solid"/>
          </a:ln>
        </p:spPr>
      </p:sp>
      <p:sp>
        <p:nvSpPr>
          <p:cNvPr id="6" name="Stage dot 2"/>
          <p:cNvSpPr/>
          <p:nvPr/>
        </p:nvSpPr>
        <p:spPr>
          <a:xfrm>
            <a:off x="9829800" y="731520"/>
            <a:ext cx="146304" cy="146304"/>
          </a:xfrm>
          <a:prstGeom prst="ellipse">
            <a:avLst/>
          </a:prstGeom>
          <a:solidFill>
            <a:schemeClr val="accent4"/>
          </a:solidFill>
          <a:ln w="9525">
            <a:solidFill>
              <a:schemeClr val="accent6"/>
            </a:solidFill>
            <a:prstDash val="solid"/>
          </a:ln>
        </p:spPr>
      </p:sp>
      <p:sp>
        <p:nvSpPr>
          <p:cNvPr id="7" name="Stage dot 3"/>
          <p:cNvSpPr/>
          <p:nvPr/>
        </p:nvSpPr>
        <p:spPr>
          <a:xfrm>
            <a:off x="10104120" y="731520"/>
            <a:ext cx="146304" cy="146304"/>
          </a:xfrm>
          <a:prstGeom prst="ellipse">
            <a:avLst/>
          </a:prstGeom>
          <a:solidFill>
            <a:schemeClr val="accent4"/>
          </a:solidFill>
          <a:ln w="9525">
            <a:solidFill>
              <a:schemeClr val="accent6"/>
            </a:solidFill>
            <a:prstDash val="solid"/>
          </a:ln>
        </p:spPr>
      </p:sp>
      <p:sp>
        <p:nvSpPr>
          <p:cNvPr id="8" name="Stage dot 4"/>
          <p:cNvSpPr/>
          <p:nvPr/>
        </p:nvSpPr>
        <p:spPr>
          <a:xfrm>
            <a:off x="10378440" y="731520"/>
            <a:ext cx="146304" cy="146304"/>
          </a:xfrm>
          <a:prstGeom prst="ellipse">
            <a:avLst/>
          </a:prstGeom>
          <a:solidFill>
            <a:schemeClr val="accent4"/>
          </a:solidFill>
          <a:ln w="9525">
            <a:solidFill>
              <a:schemeClr val="accent6"/>
            </a:solidFill>
            <a:prstDash val="solid"/>
          </a:ln>
        </p:spPr>
      </p:sp>
      <p:sp>
        <p:nvSpPr>
          <p:cNvPr id="9" name="Stage dot 5"/>
          <p:cNvSpPr/>
          <p:nvPr/>
        </p:nvSpPr>
        <p:spPr>
          <a:xfrm>
            <a:off x="10652760" y="731520"/>
            <a:ext cx="146304" cy="146304"/>
          </a:xfrm>
          <a:prstGeom prst="ellipse">
            <a:avLst/>
          </a:prstGeom>
          <a:solidFill>
            <a:schemeClr val="accent4"/>
          </a:solidFill>
          <a:ln w="9525">
            <a:solidFill>
              <a:schemeClr val="accent6"/>
            </a:solidFill>
            <a:prstDash val="solid"/>
          </a:ln>
        </p:spPr>
      </p:sp>
      <p:sp>
        <p:nvSpPr>
          <p:cNvPr id="10" name="Stage dot 6"/>
          <p:cNvSpPr/>
          <p:nvPr/>
        </p:nvSpPr>
        <p:spPr>
          <a:xfrm>
            <a:off x="10908792" y="713232"/>
            <a:ext cx="182880" cy="182880"/>
          </a:xfrm>
          <a:prstGeom prst="ellipse">
            <a:avLst/>
          </a:prstGeom>
          <a:solidFill>
            <a:schemeClr val="accent1"/>
          </a:solidFill>
          <a:ln w="9525">
            <a:solidFill>
              <a:schemeClr val="accent1"/>
            </a:solidFill>
            <a:prstDash val="solid"/>
          </a:ln>
        </p:spPr>
      </p:sp>
      <p:sp>
        <p:nvSpPr>
          <p:cNvPr id="11" name="Stage dot 7"/>
          <p:cNvSpPr/>
          <p:nvPr/>
        </p:nvSpPr>
        <p:spPr>
          <a:xfrm>
            <a:off x="11201400" y="731520"/>
            <a:ext cx="146304" cy="146304"/>
          </a:xfrm>
          <a:prstGeom prst="ellipse">
            <a:avLst/>
          </a:prstGeom>
          <a:solidFill>
            <a:schemeClr val="accent5"/>
          </a:solidFill>
          <a:ln w="9525">
            <a:solidFill>
              <a:schemeClr val="accent6"/>
            </a:solidFill>
            <a:prstDash val="solid"/>
          </a:ln>
        </p:spPr>
      </p:sp>
      <p:sp>
        <p:nvSpPr>
          <p:cNvPr id="12" name="Stage dot 8"/>
          <p:cNvSpPr/>
          <p:nvPr/>
        </p:nvSpPr>
        <p:spPr>
          <a:xfrm>
            <a:off x="11475720" y="731520"/>
            <a:ext cx="146304" cy="146304"/>
          </a:xfrm>
          <a:prstGeom prst="ellipse">
            <a:avLst/>
          </a:prstGeom>
          <a:solidFill>
            <a:schemeClr val="accent5"/>
          </a:solidFill>
          <a:ln w="9525">
            <a:solidFill>
              <a:schemeClr val="accent6"/>
            </a:solidFill>
            <a:prstDash val="solid"/>
          </a:ln>
        </p:spPr>
      </p:sp>
      <p:sp>
        <p:nvSpPr>
          <p:cNvPr id="13" name="Coefficient card"/>
          <p:cNvSpPr/>
          <p:nvPr/>
        </p:nvSpPr>
        <p:spPr>
          <a:xfrm>
            <a:off x="548640" y="1417320"/>
            <a:ext cx="7863840" cy="4526280"/>
          </a:xfrm>
          <a:prstGeom prst="roundRect">
            <a:avLst>
              <a:gd name="adj" fmla="val 2020"/>
            </a:avLst>
          </a:prstGeom>
          <a:solidFill>
            <a:schemeClr val="bg2"/>
          </a:solidFill>
          <a:ln w="9525">
            <a:solidFill>
              <a:schemeClr val="accent5"/>
            </a:solidFill>
            <a:prstDash val="solid"/>
          </a:ln>
        </p:spPr>
      </p:sp>
      <p:pic>
        <p:nvPicPr>
          <p:cNvPr id="14" name="Coefficient comparison" descr="Top 15 feature coefficients for Ridge compared with Lasso">    </p:cNvPr>
          <p:cNvPicPr>
            <a:picLocks noChangeAspect="1"/>
          </p:cNvPicPr>
          <p:nvPr/>
        </p:nvPicPr>
        <p:blipFill>
          <a:blip r:embed="rId1"/>
          <a:stretch>
            <a:fillRect/>
          </a:stretch>
        </p:blipFill>
        <p:spPr>
          <a:xfrm>
            <a:off x="685800" y="1554480"/>
            <a:ext cx="7589520" cy="3551060"/>
          </a:xfrm>
          <a:prstGeom prst="rect">
            <a:avLst/>
          </a:prstGeom>
        </p:spPr>
      </p:pic>
      <p:sp>
        <p:nvSpPr>
          <p:cNvPr id="15" name="Coefficient caption"/>
          <p:cNvSpPr txBox="1"/>
          <p:nvPr/>
        </p:nvSpPr>
        <p:spPr>
          <a:xfrm>
            <a:off x="777240" y="5242700"/>
            <a:ext cx="7315200" cy="457200"/>
          </a:xfrm>
          <a:prstGeom prst="rect">
            <a:avLst/>
          </a:prstGeom>
          <a:noFill/>
          <a:ln/>
        </p:spPr>
        <p:txBody>
          <a:bodyPr wrap="square" lIns="0" tIns="0" rIns="0" bIns="0" rtlCol="0" anchor="t"/>
          <a:lstStyle/>
          <a:p>
            <a:pPr indent="0" marL="0">
              <a:buNone/>
            </a:pPr>
            <a:r>
              <a:rPr lang="en-US" sz="1200" dirty="0">
                <a:solidFill>
                  <a:schemeClr val="tx2"/>
                </a:solidFill>
              </a:rPr>
              <a:t>Top 15 features by Ridge coefficient size. Lasso sets the weaker ones to exactly zero.</a:t>
            </a:r>
            <a:endParaRPr lang="en-US" sz="1200" dirty="0"/>
          </a:p>
        </p:txBody>
      </p:sp>
      <p:sp>
        <p:nvSpPr>
          <p:cNvPr id="16" name="Kept card"/>
          <p:cNvSpPr/>
          <p:nvPr/>
        </p:nvSpPr>
        <p:spPr>
          <a:xfrm>
            <a:off x="8641080" y="1417320"/>
            <a:ext cx="2999232" cy="1554480"/>
          </a:xfrm>
          <a:prstGeom prst="roundRect">
            <a:avLst>
              <a:gd name="adj" fmla="val 5882"/>
            </a:avLst>
          </a:prstGeom>
          <a:solidFill>
            <a:schemeClr val="bg2"/>
          </a:solidFill>
          <a:ln w="9525">
            <a:solidFill>
              <a:schemeClr val="accent5"/>
            </a:solidFill>
            <a:prstDash val="solid"/>
          </a:ln>
        </p:spPr>
      </p:sp>
      <p:sp>
        <p:nvSpPr>
          <p:cNvPr id="17" name="Kept value"/>
          <p:cNvSpPr txBox="1"/>
          <p:nvPr/>
        </p:nvSpPr>
        <p:spPr>
          <a:xfrm>
            <a:off x="8823960" y="1536192"/>
            <a:ext cx="2651760" cy="640080"/>
          </a:xfrm>
          <a:prstGeom prst="rect">
            <a:avLst/>
          </a:prstGeom>
          <a:noFill/>
          <a:ln/>
        </p:spPr>
        <p:txBody>
          <a:bodyPr wrap="square" lIns="0" tIns="0" rIns="0" bIns="0" rtlCol="0" anchor="ctr"/>
          <a:lstStyle/>
          <a:p>
            <a:pPr indent="0" marL="0">
              <a:buNone/>
            </a:pPr>
            <a:r>
              <a:rPr lang="en-US" sz="3200" b="1" dirty="0">
                <a:solidFill>
                  <a:schemeClr val="accent2"/>
                </a:solidFill>
                <a:latin typeface="+mj-lt" pitchFamily="34" charset="0"/>
                <a:ea typeface="+mj-lt" pitchFamily="34" charset="-122"/>
                <a:cs typeface="+mj-lt" pitchFamily="34" charset="-120"/>
              </a:rPr>
              <a:t>34 of 101</a:t>
            </a:r>
            <a:endParaRPr lang="en-US" sz="3200" dirty="0"/>
          </a:p>
        </p:txBody>
      </p:sp>
      <p:sp>
        <p:nvSpPr>
          <p:cNvPr id="18" name="Kept text"/>
          <p:cNvSpPr txBox="1"/>
          <p:nvPr/>
        </p:nvSpPr>
        <p:spPr>
          <a:xfrm>
            <a:off x="8823960" y="2212848"/>
            <a:ext cx="2651760" cy="685800"/>
          </a:xfrm>
          <a:prstGeom prst="rect">
            <a:avLst/>
          </a:prstGeom>
          <a:noFill/>
          <a:ln/>
        </p:spPr>
        <p:txBody>
          <a:bodyPr wrap="square" lIns="0" tIns="0" rIns="0" bIns="0" rtlCol="0" anchor="t"/>
          <a:lstStyle/>
          <a:p>
            <a:pPr indent="0" marL="0">
              <a:buNone/>
            </a:pPr>
            <a:r>
              <a:rPr lang="en-US" sz="1400" dirty="0">
                <a:solidFill>
                  <a:schemeClr val="tx2"/>
                </a:solidFill>
              </a:rPr>
              <a:t>inputs kept by Lasso. The rest are exactly zero.</a:t>
            </a:r>
            <a:endParaRPr lang="en-US" sz="1400" dirty="0"/>
          </a:p>
        </p:txBody>
      </p:sp>
      <p:sp>
        <p:nvSpPr>
          <p:cNvPr id="19" name="Largest card"/>
          <p:cNvSpPr/>
          <p:nvPr/>
        </p:nvSpPr>
        <p:spPr>
          <a:xfrm>
            <a:off x="8641080" y="3154680"/>
            <a:ext cx="2999232" cy="1371600"/>
          </a:xfrm>
          <a:prstGeom prst="roundRect">
            <a:avLst>
              <a:gd name="adj" fmla="val 6667"/>
            </a:avLst>
          </a:prstGeom>
          <a:solidFill>
            <a:schemeClr val="bg2"/>
          </a:solidFill>
          <a:ln w="9525">
            <a:solidFill>
              <a:schemeClr val="accent5"/>
            </a:solidFill>
            <a:prstDash val="solid"/>
          </a:ln>
        </p:spPr>
      </p:sp>
      <p:sp>
        <p:nvSpPr>
          <p:cNvPr id="20" name="Largest head"/>
          <p:cNvSpPr txBox="1"/>
          <p:nvPr/>
        </p:nvSpPr>
        <p:spPr>
          <a:xfrm>
            <a:off x="8823960" y="3273552"/>
            <a:ext cx="2651760" cy="320040"/>
          </a:xfrm>
          <a:prstGeom prst="rect">
            <a:avLst/>
          </a:prstGeom>
          <a:noFill/>
          <a:ln/>
        </p:spPr>
        <p:txBody>
          <a:bodyPr wrap="square" lIns="0" tIns="0" rIns="0" bIns="0" rtlCol="0" anchor="t"/>
          <a:lstStyle/>
          <a:p>
            <a:pPr indent="0" marL="0">
              <a:buNone/>
            </a:pPr>
            <a:r>
              <a:rPr lang="en-US" sz="1800" b="1" dirty="0">
                <a:solidFill>
                  <a:schemeClr val="accent1"/>
                </a:solidFill>
              </a:rPr>
              <a:t>Largest weights</a:t>
            </a:r>
            <a:endParaRPr lang="en-US" sz="1800" dirty="0"/>
          </a:p>
        </p:txBody>
      </p:sp>
      <p:sp>
        <p:nvSpPr>
          <p:cNvPr id="21" name="Largest text"/>
          <p:cNvSpPr txBox="1"/>
          <p:nvPr/>
        </p:nvSpPr>
        <p:spPr>
          <a:xfrm>
            <a:off x="8823960" y="3657600"/>
            <a:ext cx="2651760" cy="822960"/>
          </a:xfrm>
          <a:prstGeom prst="rect">
            <a:avLst/>
          </a:prstGeom>
          <a:noFill/>
          <a:ln/>
        </p:spPr>
        <p:txBody>
          <a:bodyPr wrap="square" lIns="0" tIns="0" rIns="0" bIns="0" rtlCol="0" anchor="t"/>
          <a:lstStyle/>
          <a:p>
            <a:pPr indent="0" marL="0">
              <a:buNone/>
            </a:pPr>
            <a:r>
              <a:rPr lang="en-US" sz="1400" dirty="0">
                <a:solidFill>
                  <a:schemeClr val="tx2"/>
                </a:solidFill>
              </a:rPr>
              <a:t>Innings number, career average and career runs, plus a few venues.</a:t>
            </a:r>
            <a:endParaRPr lang="en-US" sz="1400" dirty="0"/>
          </a:p>
        </p:txBody>
      </p:sp>
      <p:sp>
        <p:nvSpPr>
          <p:cNvPr id="22" name="Agree card"/>
          <p:cNvSpPr/>
          <p:nvPr/>
        </p:nvSpPr>
        <p:spPr>
          <a:xfrm>
            <a:off x="8641080" y="4709160"/>
            <a:ext cx="2999232" cy="1234440"/>
          </a:xfrm>
          <a:prstGeom prst="roundRect">
            <a:avLst>
              <a:gd name="adj" fmla="val 7407"/>
            </a:avLst>
          </a:prstGeom>
          <a:solidFill>
            <a:schemeClr val="bg2"/>
          </a:solidFill>
          <a:ln w="9525">
            <a:solidFill>
              <a:schemeClr val="accent5"/>
            </a:solidFill>
            <a:prstDash val="solid"/>
          </a:ln>
        </p:spPr>
      </p:sp>
      <p:sp>
        <p:nvSpPr>
          <p:cNvPr id="23" name="Agree head"/>
          <p:cNvSpPr txBox="1"/>
          <p:nvPr/>
        </p:nvSpPr>
        <p:spPr>
          <a:xfrm>
            <a:off x="8823960" y="4818888"/>
            <a:ext cx="2651760" cy="320040"/>
          </a:xfrm>
          <a:prstGeom prst="rect">
            <a:avLst/>
          </a:prstGeom>
          <a:noFill/>
          <a:ln/>
        </p:spPr>
        <p:txBody>
          <a:bodyPr wrap="square" lIns="0" tIns="0" rIns="0" bIns="0" rtlCol="0" anchor="t"/>
          <a:lstStyle/>
          <a:p>
            <a:pPr indent="0" marL="0">
              <a:buNone/>
            </a:pPr>
            <a:r>
              <a:rPr lang="en-US" sz="1800" b="1" dirty="0">
                <a:solidFill>
                  <a:schemeClr val="accent1"/>
                </a:solidFill>
              </a:rPr>
              <a:t>Same story</a:t>
            </a:r>
            <a:endParaRPr lang="en-US" sz="1800" dirty="0"/>
          </a:p>
        </p:txBody>
      </p:sp>
      <p:sp>
        <p:nvSpPr>
          <p:cNvPr id="24" name="Agree text"/>
          <p:cNvSpPr txBox="1"/>
          <p:nvPr/>
        </p:nvSpPr>
        <p:spPr>
          <a:xfrm>
            <a:off x="8823960" y="5193792"/>
            <a:ext cx="2651760" cy="685800"/>
          </a:xfrm>
          <a:prstGeom prst="rect">
            <a:avLst/>
          </a:prstGeom>
          <a:noFill/>
          <a:ln/>
        </p:spPr>
        <p:txBody>
          <a:bodyPr wrap="square" lIns="0" tIns="0" rIns="0" bIns="0" rtlCol="0" anchor="t"/>
          <a:lstStyle/>
          <a:p>
            <a:pPr indent="0" marL="0">
              <a:buNone/>
            </a:pPr>
            <a:r>
              <a:rPr lang="en-US" sz="1400" dirty="0">
                <a:solidFill>
                  <a:schemeClr val="tx2"/>
                </a:solidFill>
              </a:rPr>
              <a:t>Where both keep a feature, the sign agrees.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Deploy and monitor</a:t>
            </a:r>
            <a:endParaRPr lang="en-US" sz="3200" dirty="0"/>
          </a:p>
        </p:txBody>
      </p:sp>
      <p:sp>
        <p:nvSpPr>
          <p:cNvPr id="4" name="Stage label"/>
          <p:cNvSpPr txBox="1"/>
          <p:nvPr/>
        </p:nvSpPr>
        <p:spPr>
          <a:xfrm>
            <a:off x="7406640" y="347472"/>
            <a:ext cx="4233672" cy="274320"/>
          </a:xfrm>
          <a:prstGeom prst="rect">
            <a:avLst/>
          </a:prstGeom>
          <a:noFill/>
          <a:ln/>
        </p:spPr>
        <p:txBody>
          <a:bodyPr wrap="square" lIns="0" tIns="0" rIns="0" bIns="0" rtlCol="0" anchor="t"/>
          <a:lstStyle/>
          <a:p>
            <a:pPr algn="r" indent="0" marL="0">
              <a:buNone/>
            </a:pPr>
            <a:r>
              <a:rPr lang="en-US" sz="1100" b="1" spc="200" kern="0" dirty="0">
                <a:solidFill>
                  <a:schemeClr val="tx2"/>
                </a:solidFill>
              </a:rPr>
              <a:t>STAGES 7–8 OF 8 · DEPLOY &amp; MONITOR</a:t>
            </a:r>
            <a:endParaRPr lang="en-US" sz="1100" dirty="0"/>
          </a:p>
        </p:txBody>
      </p:sp>
      <p:sp>
        <p:nvSpPr>
          <p:cNvPr id="5" name="Stage dot 1"/>
          <p:cNvSpPr/>
          <p:nvPr/>
        </p:nvSpPr>
        <p:spPr>
          <a:xfrm>
            <a:off x="9555480" y="731520"/>
            <a:ext cx="146304" cy="146304"/>
          </a:xfrm>
          <a:prstGeom prst="ellipse">
            <a:avLst/>
          </a:prstGeom>
          <a:solidFill>
            <a:schemeClr val="accent4"/>
          </a:solidFill>
          <a:ln w="9525">
            <a:solidFill>
              <a:schemeClr val="accent6"/>
            </a:solidFill>
            <a:prstDash val="solid"/>
          </a:ln>
        </p:spPr>
      </p:sp>
      <p:sp>
        <p:nvSpPr>
          <p:cNvPr id="6" name="Stage dot 2"/>
          <p:cNvSpPr/>
          <p:nvPr/>
        </p:nvSpPr>
        <p:spPr>
          <a:xfrm>
            <a:off x="9829800" y="731520"/>
            <a:ext cx="146304" cy="146304"/>
          </a:xfrm>
          <a:prstGeom prst="ellipse">
            <a:avLst/>
          </a:prstGeom>
          <a:solidFill>
            <a:schemeClr val="accent4"/>
          </a:solidFill>
          <a:ln w="9525">
            <a:solidFill>
              <a:schemeClr val="accent6"/>
            </a:solidFill>
            <a:prstDash val="solid"/>
          </a:ln>
        </p:spPr>
      </p:sp>
      <p:sp>
        <p:nvSpPr>
          <p:cNvPr id="7" name="Stage dot 3"/>
          <p:cNvSpPr/>
          <p:nvPr/>
        </p:nvSpPr>
        <p:spPr>
          <a:xfrm>
            <a:off x="10104120" y="731520"/>
            <a:ext cx="146304" cy="146304"/>
          </a:xfrm>
          <a:prstGeom prst="ellipse">
            <a:avLst/>
          </a:prstGeom>
          <a:solidFill>
            <a:schemeClr val="accent4"/>
          </a:solidFill>
          <a:ln w="9525">
            <a:solidFill>
              <a:schemeClr val="accent6"/>
            </a:solidFill>
            <a:prstDash val="solid"/>
          </a:ln>
        </p:spPr>
      </p:sp>
      <p:sp>
        <p:nvSpPr>
          <p:cNvPr id="8" name="Stage dot 4"/>
          <p:cNvSpPr/>
          <p:nvPr/>
        </p:nvSpPr>
        <p:spPr>
          <a:xfrm>
            <a:off x="10378440" y="731520"/>
            <a:ext cx="146304" cy="146304"/>
          </a:xfrm>
          <a:prstGeom prst="ellipse">
            <a:avLst/>
          </a:prstGeom>
          <a:solidFill>
            <a:schemeClr val="accent4"/>
          </a:solidFill>
          <a:ln w="9525">
            <a:solidFill>
              <a:schemeClr val="accent6"/>
            </a:solidFill>
            <a:prstDash val="solid"/>
          </a:ln>
        </p:spPr>
      </p:sp>
      <p:sp>
        <p:nvSpPr>
          <p:cNvPr id="9" name="Stage dot 5"/>
          <p:cNvSpPr/>
          <p:nvPr/>
        </p:nvSpPr>
        <p:spPr>
          <a:xfrm>
            <a:off x="10652760" y="731520"/>
            <a:ext cx="146304" cy="146304"/>
          </a:xfrm>
          <a:prstGeom prst="ellipse">
            <a:avLst/>
          </a:prstGeom>
          <a:solidFill>
            <a:schemeClr val="accent4"/>
          </a:solidFill>
          <a:ln w="9525">
            <a:solidFill>
              <a:schemeClr val="accent6"/>
            </a:solidFill>
            <a:prstDash val="solid"/>
          </a:ln>
        </p:spPr>
      </p:sp>
      <p:sp>
        <p:nvSpPr>
          <p:cNvPr id="10" name="Stage dot 6"/>
          <p:cNvSpPr/>
          <p:nvPr/>
        </p:nvSpPr>
        <p:spPr>
          <a:xfrm>
            <a:off x="10927080" y="731520"/>
            <a:ext cx="146304" cy="146304"/>
          </a:xfrm>
          <a:prstGeom prst="ellipse">
            <a:avLst/>
          </a:prstGeom>
          <a:solidFill>
            <a:schemeClr val="accent4"/>
          </a:solidFill>
          <a:ln w="9525">
            <a:solidFill>
              <a:schemeClr val="accent6"/>
            </a:solidFill>
            <a:prstDash val="solid"/>
          </a:ln>
        </p:spPr>
      </p:sp>
      <p:sp>
        <p:nvSpPr>
          <p:cNvPr id="11" name="Stage dot 7"/>
          <p:cNvSpPr/>
          <p:nvPr/>
        </p:nvSpPr>
        <p:spPr>
          <a:xfrm>
            <a:off x="11183112" y="713232"/>
            <a:ext cx="182880" cy="182880"/>
          </a:xfrm>
          <a:prstGeom prst="ellipse">
            <a:avLst/>
          </a:prstGeom>
          <a:solidFill>
            <a:schemeClr val="accent1"/>
          </a:solidFill>
          <a:ln w="9525">
            <a:solidFill>
              <a:schemeClr val="accent1"/>
            </a:solidFill>
            <a:prstDash val="solid"/>
          </a:ln>
        </p:spPr>
      </p:sp>
      <p:sp>
        <p:nvSpPr>
          <p:cNvPr id="12" name="Stage dot 8"/>
          <p:cNvSpPr/>
          <p:nvPr/>
        </p:nvSpPr>
        <p:spPr>
          <a:xfrm>
            <a:off x="11457432" y="713232"/>
            <a:ext cx="182880" cy="182880"/>
          </a:xfrm>
          <a:prstGeom prst="ellipse">
            <a:avLst/>
          </a:prstGeom>
          <a:solidFill>
            <a:schemeClr val="accent1"/>
          </a:solidFill>
          <a:ln w="9525">
            <a:solidFill>
              <a:schemeClr val="accent1"/>
            </a:solidFill>
            <a:prstDash val="solid"/>
          </a:ln>
        </p:spPr>
      </p:sp>
      <p:sp>
        <p:nvSpPr>
          <p:cNvPr id="13" name="Deploy box 1"/>
          <p:cNvSpPr/>
          <p:nvPr/>
        </p:nvSpPr>
        <p:spPr>
          <a:xfrm>
            <a:off x="548640" y="1463040"/>
            <a:ext cx="5760720" cy="685800"/>
          </a:xfrm>
          <a:prstGeom prst="roundRect">
            <a:avLst>
              <a:gd name="adj" fmla="val 13333"/>
            </a:avLst>
          </a:prstGeom>
          <a:solidFill>
            <a:schemeClr val="bg2"/>
          </a:solidFill>
          <a:ln w="9525">
            <a:solidFill>
              <a:schemeClr val="accent5"/>
            </a:solidFill>
            <a:prstDash val="solid"/>
          </a:ln>
        </p:spPr>
      </p:sp>
      <p:sp>
        <p:nvSpPr>
          <p:cNvPr id="14" name="Deploy icon 1 circle"/>
          <p:cNvSpPr/>
          <p:nvPr/>
        </p:nvSpPr>
        <p:spPr>
          <a:xfrm>
            <a:off x="713232" y="1531620"/>
            <a:ext cx="548640" cy="548640"/>
          </a:xfrm>
          <a:prstGeom prst="ellipse">
            <a:avLst/>
          </a:prstGeom>
          <a:solidFill>
            <a:schemeClr val="accent5"/>
          </a:solidFill>
          <a:ln w="9525">
            <a:solidFill>
              <a:schemeClr val="accent6"/>
            </a:solidFill>
            <a:prstDash val="solid"/>
          </a:ln>
        </p:spPr>
      </p:sp>
      <p:pic>
        <p:nvPicPr>
          <p:cNvPr id="15" name="Deploy icon 1" descr="Deploy icon 1">    </p:cNvPr>
          <p:cNvPicPr>
            <a:picLocks noChangeAspect="1"/>
          </p:cNvPicPr>
          <p:nvPr/>
        </p:nvPicPr>
        <p:blipFill>
          <a:blip r:embed="rId1"/>
          <a:stretch>
            <a:fillRect/>
          </a:stretch>
        </p:blipFill>
        <p:spPr>
          <a:xfrm>
            <a:off x="855878" y="1674266"/>
            <a:ext cx="263347" cy="263347"/>
          </a:xfrm>
          <a:prstGeom prst="rect">
            <a:avLst/>
          </a:prstGeom>
        </p:spPr>
      </p:pic>
      <p:sp>
        <p:nvSpPr>
          <p:cNvPr id="16" name="Deploy name 1"/>
          <p:cNvSpPr txBox="1"/>
          <p:nvPr/>
        </p:nvSpPr>
        <p:spPr>
          <a:xfrm>
            <a:off x="1463040" y="1531620"/>
            <a:ext cx="1554480" cy="548640"/>
          </a:xfrm>
          <a:prstGeom prst="rect">
            <a:avLst/>
          </a:prstGeom>
          <a:noFill/>
          <a:ln/>
        </p:spPr>
        <p:txBody>
          <a:bodyPr wrap="square" lIns="0" tIns="0" rIns="0" bIns="0" rtlCol="0" anchor="ctr"/>
          <a:lstStyle/>
          <a:p>
            <a:pPr indent="0" marL="0">
              <a:buNone/>
            </a:pPr>
            <a:r>
              <a:rPr lang="en-US" sz="1600" b="1" dirty="0">
                <a:solidFill>
                  <a:schemeClr val="tx1"/>
                </a:solidFill>
              </a:rPr>
              <a:t>train.py</a:t>
            </a:r>
            <a:endParaRPr lang="en-US" sz="1600" dirty="0"/>
          </a:p>
        </p:txBody>
      </p:sp>
      <p:sp>
        <p:nvSpPr>
          <p:cNvPr id="17" name="Deploy text 1"/>
          <p:cNvSpPr txBox="1"/>
          <p:nvPr/>
        </p:nvSpPr>
        <p:spPr>
          <a:xfrm>
            <a:off x="3017520" y="1531620"/>
            <a:ext cx="3200400" cy="548640"/>
          </a:xfrm>
          <a:prstGeom prst="rect">
            <a:avLst/>
          </a:prstGeom>
          <a:noFill/>
          <a:ln/>
        </p:spPr>
        <p:txBody>
          <a:bodyPr wrap="square" lIns="0" tIns="0" rIns="0" bIns="0" rtlCol="0" anchor="ctr"/>
          <a:lstStyle/>
          <a:p>
            <a:pPr indent="0" marL="0">
              <a:buNone/>
            </a:pPr>
            <a:r>
              <a:rPr lang="en-US" sz="1400" dirty="0">
                <a:solidFill>
                  <a:schemeClr val="tx2"/>
                </a:solidFill>
              </a:rPr>
              <a:t>Fits the models and saves them to disk</a:t>
            </a:r>
            <a:endParaRPr lang="en-US" sz="1400" dirty="0"/>
          </a:p>
        </p:txBody>
      </p:sp>
      <p:sp>
        <p:nvSpPr>
          <p:cNvPr id="18" name="Deploy box 2"/>
          <p:cNvSpPr/>
          <p:nvPr/>
        </p:nvSpPr>
        <p:spPr>
          <a:xfrm>
            <a:off x="548640" y="2286000"/>
            <a:ext cx="5760720" cy="685800"/>
          </a:xfrm>
          <a:prstGeom prst="roundRect">
            <a:avLst>
              <a:gd name="adj" fmla="val 13333"/>
            </a:avLst>
          </a:prstGeom>
          <a:solidFill>
            <a:schemeClr val="bg2"/>
          </a:solidFill>
          <a:ln w="9525">
            <a:solidFill>
              <a:schemeClr val="accent5"/>
            </a:solidFill>
            <a:prstDash val="solid"/>
          </a:ln>
        </p:spPr>
      </p:sp>
      <p:sp>
        <p:nvSpPr>
          <p:cNvPr id="19" name="Deploy icon 2 circle"/>
          <p:cNvSpPr/>
          <p:nvPr/>
        </p:nvSpPr>
        <p:spPr>
          <a:xfrm>
            <a:off x="713232" y="2354580"/>
            <a:ext cx="548640" cy="548640"/>
          </a:xfrm>
          <a:prstGeom prst="ellipse">
            <a:avLst/>
          </a:prstGeom>
          <a:solidFill>
            <a:schemeClr val="accent5"/>
          </a:solidFill>
          <a:ln w="9525">
            <a:solidFill>
              <a:schemeClr val="accent6"/>
            </a:solidFill>
            <a:prstDash val="solid"/>
          </a:ln>
        </p:spPr>
      </p:sp>
      <p:pic>
        <p:nvPicPr>
          <p:cNvPr id="20" name="Deploy icon 2" descr="Deploy icon 2">    </p:cNvPr>
          <p:cNvPicPr>
            <a:picLocks noChangeAspect="1"/>
          </p:cNvPicPr>
          <p:nvPr/>
        </p:nvPicPr>
        <p:blipFill>
          <a:blip r:embed="rId2"/>
          <a:stretch>
            <a:fillRect/>
          </a:stretch>
        </p:blipFill>
        <p:spPr>
          <a:xfrm>
            <a:off x="855878" y="2497226"/>
            <a:ext cx="263347" cy="263347"/>
          </a:xfrm>
          <a:prstGeom prst="rect">
            <a:avLst/>
          </a:prstGeom>
        </p:spPr>
      </p:pic>
      <p:sp>
        <p:nvSpPr>
          <p:cNvPr id="21" name="Deploy name 2"/>
          <p:cNvSpPr txBox="1"/>
          <p:nvPr/>
        </p:nvSpPr>
        <p:spPr>
          <a:xfrm>
            <a:off x="1463040" y="2354580"/>
            <a:ext cx="1554480" cy="548640"/>
          </a:xfrm>
          <a:prstGeom prst="rect">
            <a:avLst/>
          </a:prstGeom>
          <a:noFill/>
          <a:ln/>
        </p:spPr>
        <p:txBody>
          <a:bodyPr wrap="square" lIns="0" tIns="0" rIns="0" bIns="0" rtlCol="0" anchor="ctr"/>
          <a:lstStyle/>
          <a:p>
            <a:pPr indent="0" marL="0">
              <a:buNone/>
            </a:pPr>
            <a:r>
              <a:rPr lang="en-US" sz="1600" b="1" dirty="0">
                <a:solidFill>
                  <a:schemeClr val="tx1"/>
                </a:solidFill>
              </a:rPr>
              <a:t>Flask API</a:t>
            </a:r>
            <a:endParaRPr lang="en-US" sz="1600" dirty="0"/>
          </a:p>
        </p:txBody>
      </p:sp>
      <p:sp>
        <p:nvSpPr>
          <p:cNvPr id="22" name="Deploy text 2"/>
          <p:cNvSpPr txBox="1"/>
          <p:nvPr/>
        </p:nvSpPr>
        <p:spPr>
          <a:xfrm>
            <a:off x="3017520" y="2354580"/>
            <a:ext cx="3200400" cy="548640"/>
          </a:xfrm>
          <a:prstGeom prst="rect">
            <a:avLst/>
          </a:prstGeom>
          <a:noFill/>
          <a:ln/>
        </p:spPr>
        <p:txBody>
          <a:bodyPr wrap="square" lIns="0" tIns="0" rIns="0" bIns="0" rtlCol="0" anchor="ctr"/>
          <a:lstStyle/>
          <a:p>
            <a:pPr indent="0" marL="0">
              <a:buNone/>
            </a:pPr>
            <a:r>
              <a:rPr lang="en-US" sz="1400" dirty="0">
                <a:solidFill>
                  <a:schemeClr val="tx2"/>
                </a:solidFill>
              </a:rPr>
              <a:t>/api/meta, /api/players and /api/predict</a:t>
            </a:r>
            <a:endParaRPr lang="en-US" sz="1400" dirty="0"/>
          </a:p>
        </p:txBody>
      </p:sp>
      <p:sp>
        <p:nvSpPr>
          <p:cNvPr id="23" name="Deploy box 3"/>
          <p:cNvSpPr/>
          <p:nvPr/>
        </p:nvSpPr>
        <p:spPr>
          <a:xfrm>
            <a:off x="548640" y="3108960"/>
            <a:ext cx="5760720" cy="685800"/>
          </a:xfrm>
          <a:prstGeom prst="roundRect">
            <a:avLst>
              <a:gd name="adj" fmla="val 13333"/>
            </a:avLst>
          </a:prstGeom>
          <a:solidFill>
            <a:schemeClr val="bg2"/>
          </a:solidFill>
          <a:ln w="9525">
            <a:solidFill>
              <a:schemeClr val="accent5"/>
            </a:solidFill>
            <a:prstDash val="solid"/>
          </a:ln>
        </p:spPr>
      </p:sp>
      <p:sp>
        <p:nvSpPr>
          <p:cNvPr id="24" name="Deploy icon 3 circle"/>
          <p:cNvSpPr/>
          <p:nvPr/>
        </p:nvSpPr>
        <p:spPr>
          <a:xfrm>
            <a:off x="713232" y="3177540"/>
            <a:ext cx="548640" cy="548640"/>
          </a:xfrm>
          <a:prstGeom prst="ellipse">
            <a:avLst/>
          </a:prstGeom>
          <a:solidFill>
            <a:schemeClr val="accent5"/>
          </a:solidFill>
          <a:ln w="9525">
            <a:solidFill>
              <a:schemeClr val="accent6"/>
            </a:solidFill>
            <a:prstDash val="solid"/>
          </a:ln>
        </p:spPr>
      </p:sp>
      <p:pic>
        <p:nvPicPr>
          <p:cNvPr id="25" name="Deploy icon 3" descr="Deploy icon 3">    </p:cNvPr>
          <p:cNvPicPr>
            <a:picLocks noChangeAspect="1"/>
          </p:cNvPicPr>
          <p:nvPr/>
        </p:nvPicPr>
        <p:blipFill>
          <a:blip r:embed="rId3"/>
          <a:stretch>
            <a:fillRect/>
          </a:stretch>
        </p:blipFill>
        <p:spPr>
          <a:xfrm>
            <a:off x="855878" y="3320186"/>
            <a:ext cx="263347" cy="263347"/>
          </a:xfrm>
          <a:prstGeom prst="rect">
            <a:avLst/>
          </a:prstGeom>
        </p:spPr>
      </p:pic>
      <p:sp>
        <p:nvSpPr>
          <p:cNvPr id="26" name="Deploy name 3"/>
          <p:cNvSpPr txBox="1"/>
          <p:nvPr/>
        </p:nvSpPr>
        <p:spPr>
          <a:xfrm>
            <a:off x="1463040" y="3177540"/>
            <a:ext cx="1554480" cy="548640"/>
          </a:xfrm>
          <a:prstGeom prst="rect">
            <a:avLst/>
          </a:prstGeom>
          <a:noFill/>
          <a:ln/>
        </p:spPr>
        <p:txBody>
          <a:bodyPr wrap="square" lIns="0" tIns="0" rIns="0" bIns="0" rtlCol="0" anchor="ctr"/>
          <a:lstStyle/>
          <a:p>
            <a:pPr indent="0" marL="0">
              <a:buNone/>
            </a:pPr>
            <a:r>
              <a:rPr lang="en-US" sz="1600" b="1" dirty="0">
                <a:solidFill>
                  <a:schemeClr val="tx1"/>
                </a:solidFill>
              </a:rPr>
              <a:t>Web app</a:t>
            </a:r>
            <a:endParaRPr lang="en-US" sz="1600" dirty="0"/>
          </a:p>
        </p:txBody>
      </p:sp>
      <p:sp>
        <p:nvSpPr>
          <p:cNvPr id="27" name="Deploy text 3"/>
          <p:cNvSpPr txBox="1"/>
          <p:nvPr/>
        </p:nvSpPr>
        <p:spPr>
          <a:xfrm>
            <a:off x="3017520" y="3177540"/>
            <a:ext cx="3200400" cy="548640"/>
          </a:xfrm>
          <a:prstGeom prst="rect">
            <a:avLst/>
          </a:prstGeom>
          <a:noFill/>
          <a:ln/>
        </p:spPr>
        <p:txBody>
          <a:bodyPr wrap="square" lIns="0" tIns="0" rIns="0" bIns="0" rtlCol="0" anchor="ctr"/>
          <a:lstStyle/>
          <a:p>
            <a:pPr indent="0" marL="0">
              <a:buNone/>
            </a:pPr>
            <a:r>
              <a:rPr lang="en-US" sz="1400" dirty="0">
                <a:solidFill>
                  <a:schemeClr val="tx2"/>
                </a:solidFill>
              </a:rPr>
              <a:t>Autocomplete, forecasts and charts</a:t>
            </a:r>
            <a:endParaRPr lang="en-US" sz="1400" dirty="0"/>
          </a:p>
        </p:txBody>
      </p:sp>
      <p:sp>
        <p:nvSpPr>
          <p:cNvPr id="28" name="Monitor card"/>
          <p:cNvSpPr/>
          <p:nvPr/>
        </p:nvSpPr>
        <p:spPr>
          <a:xfrm>
            <a:off x="548640" y="4023360"/>
            <a:ext cx="5760720" cy="1920240"/>
          </a:xfrm>
          <a:prstGeom prst="roundRect">
            <a:avLst>
              <a:gd name="adj" fmla="val 4762"/>
            </a:avLst>
          </a:prstGeom>
          <a:solidFill>
            <a:schemeClr val="bg2"/>
          </a:solidFill>
          <a:ln w="9525">
            <a:solidFill>
              <a:schemeClr val="accent5"/>
            </a:solidFill>
            <a:prstDash val="solid"/>
          </a:ln>
        </p:spPr>
      </p:sp>
      <p:sp>
        <p:nvSpPr>
          <p:cNvPr id="29" name="Monitor icon circle"/>
          <p:cNvSpPr/>
          <p:nvPr/>
        </p:nvSpPr>
        <p:spPr>
          <a:xfrm>
            <a:off x="713232" y="4160520"/>
            <a:ext cx="457200" cy="457200"/>
          </a:xfrm>
          <a:prstGeom prst="ellipse">
            <a:avLst/>
          </a:prstGeom>
          <a:solidFill>
            <a:schemeClr val="accent5"/>
          </a:solidFill>
          <a:ln w="9525">
            <a:solidFill>
              <a:schemeClr val="accent6"/>
            </a:solidFill>
            <a:prstDash val="solid"/>
          </a:ln>
        </p:spPr>
      </p:sp>
      <p:pic>
        <p:nvPicPr>
          <p:cNvPr id="30" name="Monitor icon" descr="Monitor icon">    </p:cNvPr>
          <p:cNvPicPr>
            <a:picLocks noChangeAspect="1"/>
          </p:cNvPicPr>
          <p:nvPr/>
        </p:nvPicPr>
        <p:blipFill>
          <a:blip r:embed="rId4"/>
          <a:stretch>
            <a:fillRect/>
          </a:stretch>
        </p:blipFill>
        <p:spPr>
          <a:xfrm>
            <a:off x="832104" y="4279392"/>
            <a:ext cx="219456" cy="219456"/>
          </a:xfrm>
          <a:prstGeom prst="rect">
            <a:avLst/>
          </a:prstGeom>
        </p:spPr>
      </p:pic>
      <p:sp>
        <p:nvSpPr>
          <p:cNvPr id="31" name="Monitor head"/>
          <p:cNvSpPr txBox="1"/>
          <p:nvPr/>
        </p:nvSpPr>
        <p:spPr>
          <a:xfrm>
            <a:off x="1325880" y="4160520"/>
            <a:ext cx="4572000" cy="457200"/>
          </a:xfrm>
          <a:prstGeom prst="rect">
            <a:avLst/>
          </a:prstGeom>
          <a:noFill/>
          <a:ln/>
        </p:spPr>
        <p:txBody>
          <a:bodyPr wrap="square" lIns="0" tIns="0" rIns="0" bIns="0" rtlCol="0" anchor="ctr"/>
          <a:lstStyle/>
          <a:p>
            <a:pPr indent="0" marL="0">
              <a:buNone/>
            </a:pPr>
            <a:r>
              <a:rPr lang="en-US" sz="1800" b="1" dirty="0">
                <a:solidFill>
                  <a:schemeClr val="tx1"/>
                </a:solidFill>
              </a:rPr>
              <a:t>Monitor and retrain</a:t>
            </a:r>
            <a:endParaRPr lang="en-US" sz="1800" dirty="0"/>
          </a:p>
        </p:txBody>
      </p:sp>
      <p:sp>
        <p:nvSpPr>
          <p:cNvPr id="32" name="Monitor list"/>
          <p:cNvSpPr txBox="1"/>
          <p:nvPr/>
        </p:nvSpPr>
        <p:spPr>
          <a:xfrm>
            <a:off x="777240" y="4754880"/>
            <a:ext cx="5394960" cy="10972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2"/>
                </a:solidFill>
              </a:rPr>
              <a:t>Compare MAE with the mean baseline every season</a:t>
            </a:r>
            <a:endParaRPr lang="en-US" sz="1400" dirty="0"/>
          </a:p>
          <a:p>
            <a:pPr marL="203200" indent="-203200">
              <a:spcAft>
                <a:spcPts val="600"/>
              </a:spcAft>
              <a:buSzPct val="100000"/>
              <a:buChar char="•"/>
            </a:pPr>
            <a:r>
              <a:rPr lang="en-US" sz="1400" dirty="0">
                <a:solidFill>
                  <a:schemeClr val="tx2"/>
                </a:solidFill>
              </a:rPr>
              <a:t>Retrain as new matches arrive, keeping the date split</a:t>
            </a:r>
            <a:endParaRPr lang="en-US" sz="1400" dirty="0"/>
          </a:p>
          <a:p>
            <a:pPr marL="203200" indent="-203200">
              <a:spcAft>
                <a:spcPts val="600"/>
              </a:spcAft>
              <a:buSzPct val="100000"/>
              <a:buChar char="•"/>
            </a:pPr>
            <a:r>
              <a:rPr lang="en-US" sz="1400" dirty="0">
                <a:solidFill>
                  <a:schemeClr val="tx2"/>
                </a:solidFill>
              </a:rPr>
              <a:t>Flag drift above the 16-run test error</a:t>
            </a:r>
            <a:endParaRPr lang="en-US" sz="1400" dirty="0"/>
          </a:p>
        </p:txBody>
      </p:sp>
      <p:sp>
        <p:nvSpPr>
          <p:cNvPr id="33" name="UI card"/>
          <p:cNvSpPr/>
          <p:nvPr/>
        </p:nvSpPr>
        <p:spPr>
          <a:xfrm>
            <a:off x="6583680" y="1463040"/>
            <a:ext cx="5056632" cy="4480560"/>
          </a:xfrm>
          <a:prstGeom prst="roundRect">
            <a:avLst>
              <a:gd name="adj" fmla="val 2041"/>
            </a:avLst>
          </a:prstGeom>
          <a:solidFill>
            <a:schemeClr val="bg2"/>
          </a:solidFill>
          <a:ln w="9525">
            <a:solidFill>
              <a:schemeClr val="accent5"/>
            </a:solidFill>
            <a:prstDash val="solid"/>
          </a:ln>
        </p:spPr>
      </p:sp>
      <p:pic>
        <p:nvPicPr>
          <p:cNvPr id="34" name="UI screenshot" descr="Screenshot of the web interface showing Ridge and Lasso predictions for a batter">    </p:cNvPr>
          <p:cNvPicPr>
            <a:picLocks noChangeAspect="1"/>
          </p:cNvPicPr>
          <p:nvPr/>
        </p:nvPicPr>
        <p:blipFill>
          <a:blip r:embed="rId5"/>
          <a:stretch>
            <a:fillRect/>
          </a:stretch>
        </p:blipFill>
        <p:spPr>
          <a:xfrm>
            <a:off x="6720840" y="1600200"/>
            <a:ext cx="4782312" cy="3673685"/>
          </a:xfrm>
          <a:prstGeom prst="rect">
            <a:avLst/>
          </a:prstGeom>
        </p:spPr>
      </p:pic>
      <p:sp>
        <p:nvSpPr>
          <p:cNvPr id="35" name="UI caption"/>
          <p:cNvSpPr txBox="1"/>
          <p:nvPr/>
        </p:nvSpPr>
        <p:spPr>
          <a:xfrm>
            <a:off x="6766560" y="5411045"/>
            <a:ext cx="4572000" cy="457200"/>
          </a:xfrm>
          <a:prstGeom prst="rect">
            <a:avLst/>
          </a:prstGeom>
          <a:noFill/>
          <a:ln/>
        </p:spPr>
        <p:txBody>
          <a:bodyPr wrap="square" lIns="0" tIns="0" rIns="0" bIns="0" rtlCol="0" anchor="t"/>
          <a:lstStyle/>
          <a:p>
            <a:pPr indent="0" marL="0">
              <a:buNone/>
            </a:pPr>
            <a:r>
              <a:rPr lang="en-US" sz="1200" dirty="0">
                <a:solidFill>
                  <a:schemeClr val="tx2"/>
                </a:solidFill>
              </a:rPr>
              <a:t>The web interface: pick a batter, opposition, venue and innings.</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8138160" cy="822960"/>
          </a:xfrm>
          <a:prstGeom prst="rect">
            <a:avLst/>
          </a:prstGeom>
          <a:noFill/>
          <a:ln/>
        </p:spPr>
        <p:txBody>
          <a:bodyPr wrap="square" lIns="0" tIns="0" rIns="0" bIns="0" rtlCol="0" anchor="ctr"/>
          <a:lstStyle/>
          <a:p>
            <a:pPr algn="l" indent="0" marL="0">
              <a:buNone/>
            </a:pPr>
            <a:r>
              <a:rPr lang="en-US" sz="3200" b="1" dirty="0">
                <a:solidFill>
                  <a:schemeClr val="tx1"/>
                </a:solidFill>
              </a:rPr>
              <a:t>Conclusions and next steps</a:t>
            </a:r>
            <a:endParaRPr lang="en-US" sz="3200" dirty="0"/>
          </a:p>
        </p:txBody>
      </p:sp>
      <p:sp>
        <p:nvSpPr>
          <p:cNvPr id="4" name="Final stat 1"/>
          <p:cNvSpPr/>
          <p:nvPr/>
        </p:nvSpPr>
        <p:spPr>
          <a:xfrm>
            <a:off x="548640" y="1463040"/>
            <a:ext cx="3566160" cy="1600200"/>
          </a:xfrm>
          <a:prstGeom prst="roundRect">
            <a:avLst>
              <a:gd name="adj" fmla="val 5714"/>
            </a:avLst>
          </a:prstGeom>
          <a:solidFill>
            <a:schemeClr val="bg2"/>
          </a:solidFill>
          <a:ln w="9525">
            <a:solidFill>
              <a:schemeClr val="accent5"/>
            </a:solidFill>
            <a:prstDash val="solid"/>
          </a:ln>
        </p:spPr>
      </p:sp>
      <p:sp>
        <p:nvSpPr>
          <p:cNvPr id="5" name="Final value 1"/>
          <p:cNvSpPr txBox="1"/>
          <p:nvPr/>
        </p:nvSpPr>
        <p:spPr>
          <a:xfrm>
            <a:off x="777240" y="1572768"/>
            <a:ext cx="3108960" cy="73152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8.3%</a:t>
            </a:r>
            <a:endParaRPr lang="en-US" sz="4000" dirty="0"/>
          </a:p>
        </p:txBody>
      </p:sp>
      <p:sp>
        <p:nvSpPr>
          <p:cNvPr id="6" name="Final label 1"/>
          <p:cNvSpPr txBox="1"/>
          <p:nvPr/>
        </p:nvSpPr>
        <p:spPr>
          <a:xfrm>
            <a:off x="777240" y="2377440"/>
            <a:ext cx="3108960" cy="594360"/>
          </a:xfrm>
          <a:prstGeom prst="rect">
            <a:avLst/>
          </a:prstGeom>
          <a:noFill/>
          <a:ln/>
        </p:spPr>
        <p:txBody>
          <a:bodyPr wrap="square" lIns="0" tIns="0" rIns="0" bIns="0" rtlCol="0" anchor="t"/>
          <a:lstStyle/>
          <a:p>
            <a:pPr indent="0" marL="0">
              <a:buNone/>
            </a:pPr>
            <a:r>
              <a:rPr lang="en-US" sz="1400" dirty="0">
                <a:solidFill>
                  <a:schemeClr val="tx2"/>
                </a:solidFill>
              </a:rPr>
              <a:t>lower MAE than the mean baseline</a:t>
            </a:r>
            <a:endParaRPr lang="en-US" sz="1400" dirty="0"/>
          </a:p>
        </p:txBody>
      </p:sp>
      <p:sp>
        <p:nvSpPr>
          <p:cNvPr id="7" name="Final stat 2"/>
          <p:cNvSpPr/>
          <p:nvPr/>
        </p:nvSpPr>
        <p:spPr>
          <a:xfrm>
            <a:off x="4315968" y="1463040"/>
            <a:ext cx="3566160" cy="1600200"/>
          </a:xfrm>
          <a:prstGeom prst="roundRect">
            <a:avLst>
              <a:gd name="adj" fmla="val 5714"/>
            </a:avLst>
          </a:prstGeom>
          <a:solidFill>
            <a:schemeClr val="bg2"/>
          </a:solidFill>
          <a:ln w="9525">
            <a:solidFill>
              <a:schemeClr val="accent5"/>
            </a:solidFill>
            <a:prstDash val="solid"/>
          </a:ln>
        </p:spPr>
      </p:sp>
      <p:sp>
        <p:nvSpPr>
          <p:cNvPr id="8" name="Final value 2"/>
          <p:cNvSpPr txBox="1"/>
          <p:nvPr/>
        </p:nvSpPr>
        <p:spPr>
          <a:xfrm>
            <a:off x="4544568" y="1572768"/>
            <a:ext cx="3108960" cy="731520"/>
          </a:xfrm>
          <a:prstGeom prst="rect">
            <a:avLst/>
          </a:prstGeom>
          <a:noFill/>
          <a:ln/>
        </p:spPr>
        <p:txBody>
          <a:bodyPr wrap="square" lIns="0" tIns="0" rIns="0" bIns="0" rtlCol="0" anchor="ctr"/>
          <a:lstStyle/>
          <a:p>
            <a:pPr indent="0" marL="0">
              <a:buNone/>
            </a:pPr>
            <a:r>
              <a:rPr lang="en-US" sz="4000" b="1" dirty="0">
                <a:solidFill>
                  <a:schemeClr val="accent2"/>
                </a:solidFill>
                <a:latin typeface="+mj-lt" pitchFamily="34" charset="0"/>
                <a:ea typeface="+mj-lt" pitchFamily="34" charset="-122"/>
                <a:cs typeface="+mj-lt" pitchFamily="34" charset="-120"/>
              </a:rPr>
              <a:t>0.119</a:t>
            </a:r>
            <a:endParaRPr lang="en-US" sz="4000" dirty="0"/>
          </a:p>
        </p:txBody>
      </p:sp>
      <p:sp>
        <p:nvSpPr>
          <p:cNvPr id="9" name="Final label 2"/>
          <p:cNvSpPr txBox="1"/>
          <p:nvPr/>
        </p:nvSpPr>
        <p:spPr>
          <a:xfrm>
            <a:off x="4544568" y="2377440"/>
            <a:ext cx="3108960" cy="594360"/>
          </a:xfrm>
          <a:prstGeom prst="rect">
            <a:avLst/>
          </a:prstGeom>
          <a:noFill/>
          <a:ln/>
        </p:spPr>
        <p:txBody>
          <a:bodyPr wrap="square" lIns="0" tIns="0" rIns="0" bIns="0" rtlCol="0" anchor="t"/>
          <a:lstStyle/>
          <a:p>
            <a:pPr indent="0" marL="0">
              <a:buNone/>
            </a:pPr>
            <a:r>
              <a:rPr lang="en-US" sz="1400" dirty="0">
                <a:solidFill>
                  <a:schemeClr val="tx2"/>
                </a:solidFill>
              </a:rPr>
              <a:t>R² on 2022–23 matches: a modest, honest gain</a:t>
            </a:r>
            <a:endParaRPr lang="en-US" sz="1400" dirty="0"/>
          </a:p>
        </p:txBody>
      </p:sp>
      <p:sp>
        <p:nvSpPr>
          <p:cNvPr id="10" name="Final stat 3"/>
          <p:cNvSpPr/>
          <p:nvPr/>
        </p:nvSpPr>
        <p:spPr>
          <a:xfrm>
            <a:off x="8083296" y="1463040"/>
            <a:ext cx="3566160" cy="1600200"/>
          </a:xfrm>
          <a:prstGeom prst="roundRect">
            <a:avLst>
              <a:gd name="adj" fmla="val 5714"/>
            </a:avLst>
          </a:prstGeom>
          <a:solidFill>
            <a:schemeClr val="bg2"/>
          </a:solidFill>
          <a:ln w="9525">
            <a:solidFill>
              <a:schemeClr val="accent5"/>
            </a:solidFill>
            <a:prstDash val="solid"/>
          </a:ln>
        </p:spPr>
      </p:sp>
      <p:sp>
        <p:nvSpPr>
          <p:cNvPr id="11" name="Final value 3"/>
          <p:cNvSpPr txBox="1"/>
          <p:nvPr/>
        </p:nvSpPr>
        <p:spPr>
          <a:xfrm>
            <a:off x="8311896" y="1572768"/>
            <a:ext cx="3108960" cy="73152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34 / 101</a:t>
            </a:r>
            <a:endParaRPr lang="en-US" sz="4000" dirty="0"/>
          </a:p>
        </p:txBody>
      </p:sp>
      <p:sp>
        <p:nvSpPr>
          <p:cNvPr id="12" name="Final label 3"/>
          <p:cNvSpPr txBox="1"/>
          <p:nvPr/>
        </p:nvSpPr>
        <p:spPr>
          <a:xfrm>
            <a:off x="8311896" y="2377440"/>
            <a:ext cx="3108960" cy="594360"/>
          </a:xfrm>
          <a:prstGeom prst="rect">
            <a:avLst/>
          </a:prstGeom>
          <a:noFill/>
          <a:ln/>
        </p:spPr>
        <p:txBody>
          <a:bodyPr wrap="square" lIns="0" tIns="0" rIns="0" bIns="0" rtlCol="0" anchor="t"/>
          <a:lstStyle/>
          <a:p>
            <a:pPr indent="0" marL="0">
              <a:buNone/>
            </a:pPr>
            <a:r>
              <a:rPr lang="en-US" sz="1400" dirty="0">
                <a:solidFill>
                  <a:schemeClr val="tx2"/>
                </a:solidFill>
              </a:rPr>
              <a:t>inputs kept by Lasso with Ridge-level accuracy</a:t>
            </a:r>
            <a:endParaRPr lang="en-US" sz="1400" dirty="0"/>
          </a:p>
        </p:txBody>
      </p:sp>
      <p:sp>
        <p:nvSpPr>
          <p:cNvPr id="13" name="Limits card"/>
          <p:cNvSpPr/>
          <p:nvPr/>
        </p:nvSpPr>
        <p:spPr>
          <a:xfrm>
            <a:off x="548640" y="3291840"/>
            <a:ext cx="5440680" cy="2286000"/>
          </a:xfrm>
          <a:prstGeom prst="roundRect">
            <a:avLst>
              <a:gd name="adj" fmla="val 4000"/>
            </a:avLst>
          </a:prstGeom>
          <a:solidFill>
            <a:schemeClr val="bg2"/>
          </a:solidFill>
          <a:ln w="9525">
            <a:solidFill>
              <a:schemeClr val="accent5"/>
            </a:solidFill>
            <a:prstDash val="solid"/>
          </a:ln>
        </p:spPr>
      </p:sp>
      <p:sp>
        <p:nvSpPr>
          <p:cNvPr id="14" name="Limits head"/>
          <p:cNvSpPr txBox="1"/>
          <p:nvPr/>
        </p:nvSpPr>
        <p:spPr>
          <a:xfrm>
            <a:off x="777240" y="3429000"/>
            <a:ext cx="4937760" cy="36576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Limitations</a:t>
            </a:r>
            <a:endParaRPr lang="en-US" sz="2000" dirty="0"/>
          </a:p>
        </p:txBody>
      </p:sp>
      <p:sp>
        <p:nvSpPr>
          <p:cNvPr id="15" name="Limits list"/>
          <p:cNvSpPr txBox="1"/>
          <p:nvPr/>
        </p:nvSpPr>
        <p:spPr>
          <a:xfrm>
            <a:off x="777240" y="3977640"/>
            <a:ext cx="4983480" cy="18288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2"/>
                </a:solidFill>
              </a:rPr>
              <a:t>One innings is noisy, so R² stays near 0.12</a:t>
            </a:r>
            <a:endParaRPr lang="en-US" sz="1600" dirty="0"/>
          </a:p>
          <a:p>
            <a:pPr marL="203200" indent="-203200">
              <a:spcAft>
                <a:spcPts val="800"/>
              </a:spcAft>
              <a:buSzPct val="100000"/>
              <a:buChar char="•"/>
            </a:pPr>
            <a:r>
              <a:rPr lang="en-US" sz="1600" dirty="0">
                <a:solidFill>
                  <a:schemeClr val="tx2"/>
                </a:solidFill>
              </a:rPr>
              <a:t>Big scores are under-predicted</a:t>
            </a:r>
            <a:endParaRPr lang="en-US" sz="1600" dirty="0"/>
          </a:p>
          <a:p>
            <a:pPr marL="203200" indent="-203200">
              <a:spcAft>
                <a:spcPts val="800"/>
              </a:spcAft>
              <a:buSzPct val="100000"/>
              <a:buChar char="•"/>
            </a:pPr>
            <a:r>
              <a:rPr lang="en-US" sz="1600" dirty="0">
                <a:solidFill>
                  <a:schemeClr val="tx2"/>
                </a:solidFill>
              </a:rPr>
              <a:t>No bowler-level, pitch or toss features yet</a:t>
            </a:r>
            <a:endParaRPr lang="en-US" sz="1600" dirty="0"/>
          </a:p>
        </p:txBody>
      </p:sp>
      <p:sp>
        <p:nvSpPr>
          <p:cNvPr id="16" name="Next card"/>
          <p:cNvSpPr/>
          <p:nvPr/>
        </p:nvSpPr>
        <p:spPr>
          <a:xfrm>
            <a:off x="6199632" y="3291840"/>
            <a:ext cx="5440680" cy="2286000"/>
          </a:xfrm>
          <a:prstGeom prst="roundRect">
            <a:avLst>
              <a:gd name="adj" fmla="val 4000"/>
            </a:avLst>
          </a:prstGeom>
          <a:solidFill>
            <a:schemeClr val="bg2"/>
          </a:solidFill>
          <a:ln w="9525">
            <a:solidFill>
              <a:schemeClr val="accent5"/>
            </a:solidFill>
            <a:prstDash val="solid"/>
          </a:ln>
        </p:spPr>
      </p:sp>
      <p:sp>
        <p:nvSpPr>
          <p:cNvPr id="17" name="Next head"/>
          <p:cNvSpPr txBox="1"/>
          <p:nvPr/>
        </p:nvSpPr>
        <p:spPr>
          <a:xfrm>
            <a:off x="6428232" y="3429000"/>
            <a:ext cx="4937760" cy="36576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Next steps</a:t>
            </a:r>
            <a:endParaRPr lang="en-US" sz="2000" dirty="0"/>
          </a:p>
        </p:txBody>
      </p:sp>
      <p:sp>
        <p:nvSpPr>
          <p:cNvPr id="18" name="Next list"/>
          <p:cNvSpPr txBox="1"/>
          <p:nvPr/>
        </p:nvSpPr>
        <p:spPr>
          <a:xfrm>
            <a:off x="6428232" y="3977640"/>
            <a:ext cx="4983480" cy="18288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2"/>
                </a:solidFill>
              </a:rPr>
              <a:t>Add bowler, pitch and toss features</a:t>
            </a:r>
            <a:endParaRPr lang="en-US" sz="1600" dirty="0"/>
          </a:p>
          <a:p>
            <a:pPr marL="203200" indent="-203200">
              <a:spcAft>
                <a:spcPts val="800"/>
              </a:spcAft>
              <a:buSzPct val="100000"/>
              <a:buChar char="•"/>
            </a:pPr>
            <a:r>
              <a:rPr lang="en-US" sz="1600" dirty="0">
                <a:solidFill>
                  <a:schemeClr val="tx2"/>
                </a:solidFill>
              </a:rPr>
              <a:t>Compare with gradient-boosted trees</a:t>
            </a:r>
            <a:endParaRPr lang="en-US" sz="1600" dirty="0"/>
          </a:p>
          <a:p>
            <a:pPr marL="203200" indent="-203200">
              <a:spcAft>
                <a:spcPts val="800"/>
              </a:spcAft>
              <a:buSzPct val="100000"/>
              <a:buChar char="•"/>
            </a:pPr>
            <a:r>
              <a:rPr lang="en-US" sz="1600" dirty="0">
                <a:solidFill>
                  <a:schemeClr val="tx2"/>
                </a:solidFill>
              </a:rPr>
              <a:t>Predict a range, not one number</a:t>
            </a:r>
            <a:endParaRPr lang="en-US" sz="1600" dirty="0"/>
          </a:p>
          <a:p>
            <a:pPr marL="203200" indent="-203200">
              <a:spcAft>
                <a:spcPts val="800"/>
              </a:spcAft>
              <a:buSzPct val="100000"/>
              <a:buChar char="•"/>
            </a:pPr>
            <a:r>
              <a:rPr lang="en-US" sz="1600" dirty="0">
                <a:solidFill>
                  <a:schemeClr val="tx2"/>
                </a:solidFill>
              </a:rPr>
              <a:t>Automate seasonal retraining and drift checks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Night Pitch">
  <a:themeElements>
    <a:clrScheme name="Night Pitch">
      <a:dk1>
        <a:srgbClr val="E6ECE9"/>
      </a:dk1>
      <a:lt1>
        <a:srgbClr val="0C1114"/>
      </a:lt1>
      <a:dk2>
        <a:srgbClr val="AAB8B2"/>
      </a:dk2>
      <a:lt2>
        <a:srgbClr val="131A1E"/>
      </a:lt2>
      <a:accent1>
        <a:srgbClr val="4CC38A"/>
      </a:accent1>
      <a:accent2>
        <a:srgbClr val="E3A73B"/>
      </a:accent2>
      <a:accent3>
        <a:srgbClr val="C8453B"/>
      </a:accent3>
      <a:accent4>
        <a:srgbClr val="6B7A82"/>
      </a:accent4>
      <a:accent5>
        <a:srgbClr val="26323A"/>
      </a:accent5>
      <a:accent6>
        <a:srgbClr val="35444E"/>
      </a:accent6>
      <a:hlink>
        <a:srgbClr val="4CC38A"/>
      </a:hlink>
      <a:folHlink>
        <a:srgbClr val="AAB8B2"/>
      </a:folHlink>
    </a:clrScheme>
    <a:fontScheme name="Night Pit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Player Performance Prediction: the ML life cycle</dc:title>
  <dc:subject>PptxGenJS Presentation</dc:subject>
  <dc:creator>Team 1</dc:creator>
  <cp:lastModifiedBy>Team 1</cp:lastModifiedBy>
  <cp:revision>1</cp:revision>
  <dcterms:created xsi:type="dcterms:W3CDTF">2026-10-13T01:11:02Z</dcterms:created>
  <dcterms:modified xsi:type="dcterms:W3CDTF">2026-10-13T01:11:02Z</dcterms:modified>
</cp:coreProperties>
</file>
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ff8237eb3949c2" /><Relationship Type="http://schemas.openxmlformats.org/officeDocument/2006/relationships/extended-properties" Target="/docProps/app.xml" Id="Rc4f351000b1c4d3e" /><Relationship Type="http://schemas.openxmlformats.org/officeDocument/2006/relationships/officeDocument" Target="/ppt/presentation.xml" Id="R99070c2b761b45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fb578772ac44ab"/>
  </p:sldMasterIdLst>
  <p:notesMasterIdLst>
    <p:notesMasterId xmlns:r="http://schemas.openxmlformats.org/officeDocument/2006/relationships" r:id="R7a7e9c7e941e415d"/>
  </p:notesMasterIdLst>
  <p:sldIdLst>
    <p:sldId xmlns:r="http://schemas.openxmlformats.org/officeDocument/2006/relationships" id="256" r:id="R1c9f0ae408a348dc"/>
    <p:sldId xmlns:r="http://schemas.openxmlformats.org/officeDocument/2006/relationships" id="257" r:id="Rf0a7dbb5e6bf4e7d"/>
    <p:sldId xmlns:r="http://schemas.openxmlformats.org/officeDocument/2006/relationships" id="258" r:id="Rf7ef4346d8724ea5"/>
    <p:sldId xmlns:r="http://schemas.openxmlformats.org/officeDocument/2006/relationships" id="259" r:id="R611c821b60e24f81"/>
    <p:sldId xmlns:r="http://schemas.openxmlformats.org/officeDocument/2006/relationships" id="260" r:id="Rf1159d360b8f472e"/>
    <p:sldId xmlns:r="http://schemas.openxmlformats.org/officeDocument/2006/relationships" id="261" r:id="R2e8d9251e9874acf"/>
    <p:sldId xmlns:r="http://schemas.openxmlformats.org/officeDocument/2006/relationships" id="262" r:id="Re59a8f75c60e4280"/>
    <p:sldId xmlns:r="http://schemas.openxmlformats.org/officeDocument/2006/relationships" id="263" r:id="R785bd1459575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4a845210eb497d" /><Relationship Type="http://schemas.openxmlformats.org/officeDocument/2006/relationships/slideMaster" Target="/ppt/slideMasters/slideMaster1.xml" Id="R81fb578772ac44ab" /><Relationship Type="http://schemas.openxmlformats.org/officeDocument/2006/relationships/notesMaster" Target="/ppt/notesMasters/notesMaster1.xml" Id="R7a7e9c7e941e415d" /><Relationship Type="http://schemas.openxmlformats.org/officeDocument/2006/relationships/presProps" Target="/ppt/presProps.xml" Id="R2833ec592d41412e" /><Relationship Type="http://schemas.openxmlformats.org/officeDocument/2006/relationships/tableStyles" Target="/ppt/tableStyles.xml" Id="R66184adbd3a5499c" /><Relationship Type="http://schemas.openxmlformats.org/officeDocument/2006/relationships/slide" Target="/ppt/slides/slide1.xml" Id="R1c9f0ae408a348dc" /><Relationship Type="http://schemas.openxmlformats.org/officeDocument/2006/relationships/slide" Target="/ppt/slides/slide2.xml" Id="Rf0a7dbb5e6bf4e7d" /><Relationship Type="http://schemas.openxmlformats.org/officeDocument/2006/relationships/slide" Target="/ppt/slides/slide3.xml" Id="Rf7ef4346d8724ea5" /><Relationship Type="http://schemas.openxmlformats.org/officeDocument/2006/relationships/slide" Target="/ppt/slides/slide4.xml" Id="R611c821b60e24f81" /><Relationship Type="http://schemas.openxmlformats.org/officeDocument/2006/relationships/slide" Target="/ppt/slides/slide5.xml" Id="Rf1159d360b8f472e" /><Relationship Type="http://schemas.openxmlformats.org/officeDocument/2006/relationships/slide" Target="/ppt/slides/slide6.xml" Id="R2e8d9251e9874acf" /><Relationship Type="http://schemas.openxmlformats.org/officeDocument/2006/relationships/slide" Target="/ppt/slides/slide7.xml" Id="Re59a8f75c60e4280" /><Relationship Type="http://schemas.openxmlformats.org/officeDocument/2006/relationships/slide" Target="/ppt/slides/slide8.xml" Id="R785bd1459575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a946d8627e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f44da3093452f" /><Relationship Type="http://schemas.openxmlformats.org/officeDocument/2006/relationships/notesMaster" Target="/ppt/notesMasters/notesMaster1.xml" Id="Rebbc1525ac834e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3e8b6cec1d4b1a" /><Relationship Type="http://schemas.openxmlformats.org/officeDocument/2006/relationships/notesMaster" Target="/ppt/notesMasters/notesMaster1.xml" Id="Rbcac38c9af6c4f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03a4510aaf4ac9" /><Relationship Type="http://schemas.openxmlformats.org/officeDocument/2006/relationships/notesMaster" Target="/ppt/notesMasters/notesMaster1.xml" Id="R47c2e6817b2841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5653d358264419" /><Relationship Type="http://schemas.openxmlformats.org/officeDocument/2006/relationships/notesMaster" Target="/ppt/notesMasters/notesMaster1.xml" Id="R65af8b82147049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32504ab3164ca2" /><Relationship Type="http://schemas.openxmlformats.org/officeDocument/2006/relationships/notesMaster" Target="/ppt/notesMasters/notesMaster1.xml" Id="Rbdd6bad69812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744dca40024ac5" /><Relationship Type="http://schemas.openxmlformats.org/officeDocument/2006/relationships/notesMaster" Target="/ppt/notesMasters/notesMaster1.xml" Id="R71540e4e6f1e45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895fb9e4b94202" /><Relationship Type="http://schemas.openxmlformats.org/officeDocument/2006/relationships/notesMaster" Target="/ppt/notesMasters/notesMaster1.xml" Id="Raea5977447fd42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31fbac19384ff7" /><Relationship Type="http://schemas.openxmlformats.org/officeDocument/2006/relationships/notesMaster" Target="/ppt/notesMasters/notesMaster1.xml" Id="R652bbfb34390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details and proposed model names come from ML ABSTRACT.docx. The user selected match_data.csv, so the project now focuses on cricket batting innings runs. The completed scope ends at EDA. Model training has not started.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match_data.csv and the executed Cricket_Player_Performance_EDA.ipynb. Results: outputs/Cricket_Player_Performance_EDA/results/. Original download URL and licence were not provided.</a:t>
            </a:r>
          </a:p>
          <a:p xmlns:a="http://schemas.openxmlformats.org/drawingml/2006/main">
            <a:r>
              <a:t>The proposed future prediction is pre-innings runs using strictly earlier player history. No rating column exists in the supplied cricket data. Current innings exposure or scoring rate would leak information into a pre-innings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references: https://sklearn.org/stable/modules/generated/sklearn.linear_model.Ridge.html and https://scikit-learn.org/1.8/modules/generated/sklearn.linear_model.Lasso.html . Ridge uses an L2 penalty. Lasso uses an L1 penalty and can set coefficients to zero. Both require later validation. The current project does not fit either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match_data.csv and the executed Cricket_Player_Performance_EDA.ipynb. Results: outputs/Cricket_Player_Performance_EDA/results/. Original download URL and licence were not provided.</a:t>
            </a:r>
          </a:p>
          <a:p xmlns:a="http://schemas.openxmlformats.org/drawingml/2006/main">
            <a:r>
              <a:t>Raw shape: 243,817 rows and 23 columns, 1,024 distinct match IDs. Dates: 2008-04-18 through 2023-05-29. Sixteen source season labels. The format resembles Cricsheet Ashwin CSV, but this does not establish the origin of this particular file. Field reference: https://cricsheet.org/format/csv_ashwin/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match_data.csv and the executed Cricket_Player_Performance_EDA.ipynb. Results: outputs/Cricket_Player_Performance_EDA/results/. Original download URL and licence were not provided.</a:t>
            </a:r>
          </a:p>
          <a:p xmlns:a="http://schemas.openxmlformats.org/drawingml/2006/main">
            <a:r>
              <a:t>The lifecycle stages are iterative. Initial cleaning and EDA informed each other. The project has not performed chronological splitting, learned imputation, encoding, scaling, model fitting, tuning, evaluation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match_data.csv and the executed Cricket_Player_Performance_EDA.ipynb. Results: outputs/Cricket_Player_Performance_EDA/results/. Original download URL and licence were not provided.</a:t>
            </a:r>
          </a:p>
          <a:p xmlns:a="http://schemas.openxmlformats.org/drawingml/2006/main">
            <a:r>
              <a:t>Raw delivery rows are retained. Blank extra components become zero and reconcile exactly with total extras. Repeated ball labels are ambiguous: 24 additional repeated keys and 2 identical-looking additional rows. Some labels may have lost a trailing zero, so no automatic deletion occurs. Main innings retain 243,656 rows. Additional innings contain 161 rows. Aggregation produces 15,713 player innings for 641 player labels. Non-wide striker deliveries are an exposure proxy. Current-innings measures are descriptive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match_data.csv and the executed Cricket_Player_Performance_EDA.ipynb. Results: outputs/Cricket_Player_Performance_EDA/results/. Original download URL and licence were not provided.</a:t>
            </a:r>
          </a:p>
          <a:p xmlns:a="http://schemas.openxmlformats.org/drawingml/2006/main">
            <a:r>
              <a:t>Chart counts computed from results/batting_innings_eda.csv. Main innings only. Categories: ["0","1-9","10-19","20-49","50-99","100+"]; counts: [1669,5231,3067,4096,1563,87]. All 15,713 player innings included. Mean 19.42, median 12, zero-run share 10.6%, maximum 175. Pearson correlation between runs and current non-wide striker deliveries is 0.932. This is descriptive and not a valid pre-innings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match_data.csv and the executed Cricket_Player_Performance_EDA.ipynb. Results: outputs/Cricket_Player_Performance_EDA/results/. Original download URL and licence were not provided.</a:t>
            </a:r>
          </a:p>
          <a:p xmlns:a="http://schemas.openxmlformats.org/drawingml/2006/main">
            <a:r>
              <a:t>The completed project ends at EDA. The chosen target is innings runs rather than a provider rating. Prospective pre-innings models must use only information available before each innings, such as lagged player history. Full-history summaries and current innings statistics would leak the target. No model accuracy has been reported.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1006b914d4f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dcfd54d5fc4074" /><Relationship Type="http://schemas.openxmlformats.org/officeDocument/2006/relationships/slideLayout" Target="/ppt/slideLayouts/slideLayout1.xml" Id="R0b362f4003fb4b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362f4003fb4b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eb38ed534435d" /><Relationship Type="http://schemas.openxmlformats.org/officeDocument/2006/relationships/notesSlide" Target="/ppt/notesSlides/notesSlide1.xml" Id="R80b679f982c2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660a4efb6403d" /><Relationship Type="http://schemas.openxmlformats.org/officeDocument/2006/relationships/notesSlide" Target="/ppt/notesSlides/notesSlide2.xml" Id="Rcd1dc97f35bc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4693ac485492c" /><Relationship Type="http://schemas.openxmlformats.org/officeDocument/2006/relationships/notesSlide" Target="/ppt/notesSlides/notesSlide3.xml" Id="Rf816530dd7c24d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fde7b664442d7" /><Relationship Type="http://schemas.openxmlformats.org/officeDocument/2006/relationships/notesSlide" Target="/ppt/notesSlides/notesSlide4.xml" Id="R347898116b5f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b3a0c1fac4acf" /><Relationship Type="http://schemas.openxmlformats.org/officeDocument/2006/relationships/notesSlide" Target="/ppt/notesSlides/notesSlide5.xml" Id="R4d3ad9bdf2634c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5647f64ef42e1" /><Relationship Type="http://schemas.openxmlformats.org/officeDocument/2006/relationships/notesSlide" Target="/ppt/notesSlides/notesSlide6.xml" Id="Rb0a6a457bc9f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2d54ec7f948c7" /><Relationship Type="http://schemas.openxmlformats.org/officeDocument/2006/relationships/chart" Target="/ppt/slides/charts/chart1.xml" Id="R332b4910bfde4071" /><Relationship Type="http://schemas.openxmlformats.org/officeDocument/2006/relationships/notesSlide" Target="/ppt/notesSlides/notesSlide7.xml" Id="Rc378bd5165e843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bfb3cce564d02" /><Relationship Type="http://schemas.openxmlformats.org/officeDocument/2006/relationships/notesSlide" Target="/ppt/notesSlides/notesSlide8.xml" Id="R3ba5f9bedfe84e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Player innings</c:v>
          </c:tx>
          <c:spPr>
            <a:solidFill xmlns:a="http://schemas.openxmlformats.org/drawingml/2006/main">
              <a:srgbClr val="167B79"/>
            </a:solidFill>
          </c:spPr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1-9</c:v>
                </c:pt>
                <c:pt idx="2">
                  <c:v>10-19</c:v>
                </c:pt>
                <c:pt idx="3">
                  <c:v>20-49</c:v>
                </c:pt>
                <c:pt idx="4">
                  <c:v>50-99</c:v>
                </c:pt>
                <c:pt idx="5">
                  <c:v>100+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1669</c:v>
                </c:pt>
                <c:pt idx="1">
                  <c:v>5231</c:v>
                </c:pt>
                <c:pt idx="2">
                  <c:v>3067</c:v>
                </c:pt>
                <c:pt idx="3">
                  <c:v>4096</c:v>
                </c:pt>
                <c:pt idx="4">
                  <c:v>1563</c:v>
                </c:pt>
                <c:pt idx="5">
                  <c:v>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533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Runs in the innings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Player innings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5"/>
        </a:solidFill>
      </c:spPr>
    </c:plotArea>
    <c:plotVisOnly val="1"/>
  </c:chart>
  <c:spPr>
    <a:solidFill xmlns:a="http://schemas.openxmlformats.org/drawingml/2006/main">
      <a:srgbClr val="F7F8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3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2A84F-9B0C-45CF-80C6-AF15BE3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58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Cricket Player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0F678-F8EF-4DB8-A0A6-0E4553B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CE1D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CE1DA"/>
                </a:solidFill>
                <a:latin typeface="Arial"/>
                <a:ea typeface="Arial"/>
                <a:cs typeface="Arial"/>
              </a:rPr>
              <a:t>Using Ridge and Lasso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D5D4A-E072-4A8F-B69D-8D6BC76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progress through exploratory data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C8A2E-BA42-4F20-A7B7-35610C7D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 Jashwanth Reddy  (2520030236)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 Akshay  (2520030363)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3615-9C13-46FC-BF51-37578C7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1     Section 5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Guide: Rani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3A086-1CEC-4489-BD4D-C0F26E80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CE1D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CE1DA"/>
                </a:solidFill>
                <a:latin typeface="Arial"/>
                <a:ea typeface="Arial"/>
                <a:cs typeface="Arial"/>
              </a:rPr>
              <a:t>Machine Learning 25SC2107E     Academic year 2026–2027</a:t>
            </a:r>
          </a:p>
        </p:txBody>
      </p:sp>
    </p:spTree>
    <p:extLst>
      <p:ext uri="{BB962C8B-B14F-4D97-AF65-F5344CB8AC3E}">
        <p14:creationId xmlns:p14="http://schemas.microsoft.com/office/powerpoint/2010/main" val="1641235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EE581-6AE4-418C-A896-7CC7011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9BB98-486C-4255-83AD-F9078AFA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CBF1C-8365-49F9-AC87-A0A7E52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Batting performance varies across innings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FC617-04C7-4C4A-B932-64A0085E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A player’s career total combines scoring ability with the number of opportunities to bat. We need to study performance at the player-innings level.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E6E69-6FCF-4C49-AE56-99DD7591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33E1D-C2BC-43FC-8E96-B96567BE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38525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Understand the data and prepare for estimating runs in a player’s innings.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BCAC9-8F56-40DC-B0E5-985F567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FD93-1CEC-4579-819B-F9498D10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7197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Innings runs = total runs credited to the batter in that innings.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30A48-BC39-46C0-A16F-252A26E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F1A19-1F83-4411-A1EF-E887483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340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Cricket batting analysis through EDA. The dataset has no player rating.</a:t>
            </a:r>
          </a:p>
        </p:txBody>
      </p:sp>
    </p:spTree>
    <p:extLst>
      <p:ext uri="{BB962C8B-B14F-4D97-AF65-F5344CB8AC3E}">
        <p14:creationId xmlns:p14="http://schemas.microsoft.com/office/powerpoint/2010/main" val="433677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2CFEC-A174-4499-AF28-8B7E3C6E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Models we plan to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612F5-70DC-454E-B7D3-57F337F9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6BC68-0257-496F-80F2-4709A77E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Ridge Regression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91742-F6ED-4C20-81D4-F5A03EA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953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L2 regularization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Shrinks coefficient sizes.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Useful when input features</a:t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are strongly correlated.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D390E-6995-4C69-B0DB-AFC6B0F5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382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Lasso Regression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1598F-0001-4A95-8845-DCD34DF1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5095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L1 regularization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Can reduce some coefficients to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Helps identify a smaller set</a:t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of useful predictors.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9AE95-E616-4E55-9381-E165DB60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Later comparison: MAE, MSE and R² on a future test period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D7A23-209D-497F-A4BF-AB9BE96C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Current status: proposed models only. Training and evaluation are future work.</a:t>
            </a:r>
          </a:p>
        </p:txBody>
      </p:sp>
    </p:spTree>
    <p:extLst>
      <p:ext uri="{BB962C8B-B14F-4D97-AF65-F5344CB8AC3E}">
        <p14:creationId xmlns:p14="http://schemas.microsoft.com/office/powerpoint/2010/main" val="1915269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3F6D0-016A-42AC-B3A5-5F869C66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Choosing the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2EB5C-48B1-470D-9CB3-5C9D817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139F7-D9D3-4D89-AC66-883449B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match_data.csv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7632C-8930-46EB-960F-C0A53C11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243,817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83AF9-75B1-4E8C-9240-D880687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delivery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27793-E46C-41BA-92E1-F872E18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71725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1,024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84764-9CE8-4F53-B1F7-781FC805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matches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1731E-0597-4245-AB00-707373E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7172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2008–2023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55174-26ED-4958-BF2C-8DD51F8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16 source seasons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E78B6-8D15-4160-98EA-5D510742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Why it fits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9E90F-A4A7-4856-B8B3-1BFF4CFC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8096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Player names, batting runs and match context allow us to build player innings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EBE21-7E83-4882-8532-8A1E5F0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Key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DAFD1-0D18-4580-822E-E47FDD7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91100"/>
            <a:ext cx="8096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Match ID, season, date, teams, striker, bowler, runs, extras and dismissal events.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2EF03-AFB1-47FD-86FC-EC9C15BB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Source: user-supplied file. Original Kaggle link was not provided.</a:t>
            </a:r>
          </a:p>
        </p:txBody>
      </p:sp>
    </p:spTree>
    <p:extLst>
      <p:ext uri="{BB962C8B-B14F-4D97-AF65-F5344CB8AC3E}">
        <p14:creationId xmlns:p14="http://schemas.microsoft.com/office/powerpoint/2010/main" val="1417750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147CF-B87E-466D-B979-70C8808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Machine learning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E0311-BED3-4702-A218-1E10A700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A8331-2E2A-4026-BDE8-7FCD9D5E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Completed in this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C518C-567B-4CC2-9BFD-BA528D5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4154E-A0F1-40DF-A248-EFE6E795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47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Problem 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850C3-F2F0-4121-B3F9-32A1D82C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09825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Choose innings runs as the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7CD67-353D-44C0-B261-8BBF534F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7036E-89BB-4370-AA39-90611A2A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09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Data 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94A91-1572-41BF-9322-C2211224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71825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Preserve and identify the supplied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1A85B-4296-44C4-AF50-5A1CB126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8BEB3-9776-45A0-9DA2-E95E571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71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Data 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27436-4B10-478B-8A44-80C09EA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33825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Inspect fields, coverage and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EC533-8521-4AAC-9453-3F4EC350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0AC23-6658-41FC-8004-A3813559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33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Initial preparation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B6833-B1F8-4317-8E1A-CA1E5237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Clean fields and aggregate player innings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981F7-CEC4-4C8E-8524-1B587FA4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3A73A-26DE-4402-AA8E-E2BB979F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95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Exploratory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E19BD-B998-40FA-9B12-23190517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57825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Study distributions and relationships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228BE-6A19-4D03-8713-0CD732CA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906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66773"/>
                </a:solidFill>
                <a:latin typeface="Arial"/>
                <a:ea typeface="Arial"/>
                <a:cs typeface="Arial"/>
              </a:rPr>
              <a:t>Next 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178E1-12F0-48D0-84B1-3589BFF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43125"/>
            <a:ext cx="352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Build historical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Split data by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Train Ridge and Lasso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Evaluate predictions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34562-84EC-4BCE-A2B3-96A74192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743575"/>
            <a:ext cx="357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Current stopping point: EDA</a:t>
            </a:r>
          </a:p>
        </p:txBody>
      </p:sp>
    </p:spTree>
    <p:extLst>
      <p:ext uri="{BB962C8B-B14F-4D97-AF65-F5344CB8AC3E}">
        <p14:creationId xmlns:p14="http://schemas.microsoft.com/office/powerpoint/2010/main" val="1934975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DF6E9-E79C-4A60-9420-45E9284F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Data cleaning and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E0E4A-C06C-421B-AFD7-C35E30A0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C6FE5-ED98-41ED-B9FE-BF22708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Dates and season labels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242A1-C2A2-4D00-90A1-D02A0384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7160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Parse dates. Keep season labels and ball IDs as 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B2135-DD33-4BDC-9960-829902F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Missing extra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1B86F-9323-47F4-9CCB-9724F6C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2885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Fill extra-component blanks with zero and reconcile totals.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3302E-F3AA-4E46-A329-5B3C0D04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Ambiguous deliveries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29CDA-AD86-4EA2-8F22-1106782E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Preserve repeated labels and identical-looking rows for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9E3F3-B100-49A7-87DD-12B59C7B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Main innings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3BE0A-3003-4F0D-A8C0-775AAA9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335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Use innings 1 and 2. Keep 161 additional-innings rows separate.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7D8D4-EA0B-469C-A295-39CBB2D2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Player-level aggregation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7F031-5C58-4766-89E6-3A34A97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0060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Sum batter runs and retain valid zero scores. Extras belong to teams.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DC7EC-1754-4509-A62F-43C92180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Output: 15,713 player innings. Model encoding and scaling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694121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8A592-7EA5-43E2-9958-59BDD11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33CAC-4A45-4E86-9EBC-04B5893A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80850-9462-4111-BC57-92332BF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Player innings score distribution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" y="1924050"/>
          <a:ext xmlns:a="http://schemas.openxmlformats.org/drawingml/2006/main" cx="75819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2b4910bfde407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05F38-4875-41BE-9BC9-980EAC63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57375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19.42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30B8B-5EFC-4AD2-B309-1437E3A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38400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Mean runs per innings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B636-5CF0-4885-A064-219DF878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09925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80AE5-1FAC-45C4-B4A6-EDA77104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9095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Median runs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A89DF-E164-4F14-800D-9633A3E5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24375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10.6%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BB57C-6B38-4D91-B552-B96034C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1054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Zero-run innings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30D38-6043-43A9-AC62-E2160E1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Scores have a long upper tail. More batting opportunity is strongly associated with more runs.</a:t>
            </a:r>
          </a:p>
        </p:txBody>
      </p:sp>
    </p:spTree>
    <p:extLst>
      <p:ext uri="{BB962C8B-B14F-4D97-AF65-F5344CB8AC3E}">
        <p14:creationId xmlns:p14="http://schemas.microsoft.com/office/powerpoint/2010/main" val="1559182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F21D5-4C07-4FC2-8520-4D34B63C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344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37598-817A-484B-850C-2CCB7260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055EA-1A53-4EF1-9DD2-D1C5EAA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76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The dataset supports a cricket batting regression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A3E69-1D27-456E-9B49-46DC77D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620375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We completed data understanding, initial preparation and 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The player innings table preserves zero scores and separates extras from batting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The EDA shows skewed scores and a strong relationship between runs and batting opportunity.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5446A-5F33-441E-A84F-703C9078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B79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74830-66BA-4C9F-9B1A-2554636E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95900"/>
            <a:ext cx="8058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344"/>
                </a:solidFill>
                <a:latin typeface="Arial"/>
                <a:ea typeface="Arial"/>
                <a:cs typeface="Arial"/>
              </a:rPr>
              <a:t>Build features from earlier innings, then train and compare Ridge and Lasso using a chronological test set.</a:t>
            </a:r>
          </a:p>
        </p:txBody>
      </p:sp>
    </p:spTree>
    <p:extLst>
      <p:ext uri="{BB962C8B-B14F-4D97-AF65-F5344CB8AC3E}">
        <p14:creationId xmlns:p14="http://schemas.microsoft.com/office/powerpoint/2010/main" val="1953571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2026-09-18T00:58:16.5030000Z</dcterms:created>
  <dcterms:modified xsi:type="dcterms:W3CDTF">2026-09-18T00:58:16.5030000Z</dcterms:modified>
</coreProperties>
</file>